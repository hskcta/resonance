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9" r:id="rId6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16x9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9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7F154D-10FA-4A60-9E45-B9AE50786087}" v="87" dt="2026-03-01T16:14:13.3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24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6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2ADB926-07BE-4BB8-94F1-A8B31D8A0F2D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22117F-FB1D-4D93-8CCC-BF0DE2DC1D6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5A3BD07-4927-43E5-BC69-EAD561F9D8F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24C524-06F1-4D99-99F2-9C9DCA74FAC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D605956-45DE-41FE-8A28-9C709FCC73C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895F03A-6B39-4237-B1F5-397FC132846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4813" cy="3084513"/>
          </a:xfrm>
          <a:prstGeom prst="rect">
            <a:avLst/>
          </a:prstGeom>
          <a:ln w="0">
            <a:noFill/>
          </a:ln>
        </p:spPr>
      </p:sp>
      <p:sp>
        <p:nvSpPr>
          <p:cNvPr id="1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03F9194-151E-4606-9DA0-D424D5E609E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200"/>
          </a:xfrm>
          <a:prstGeom prst="rect">
            <a:avLst/>
          </a:prstGeom>
          <a:ln w="0">
            <a:noFill/>
          </a:ln>
        </p:spPr>
      </p:sp>
      <p:sp>
        <p:nvSpPr>
          <p:cNvPr id="1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2B72A63-AAF6-4067-9532-D6D079F3E51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0B5462B-088F-4100-89B3-7FF6F62FA66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B2206D-925C-48CA-96A6-5D7ED3285C0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855821-2BEA-4E2E-A6F7-68C30A14EBD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061B47B-F295-4FEB-8C0F-E464B42AEB0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8680" cy="205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1545F72B-9222-4BB4-A66F-468082FFC7D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8680" cy="205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9877048-8169-422E-AA5D-47BD1AB995B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8680" cy="205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8680" cy="205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8680" cy="205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D0172E1-4CB0-417B-AF82-934B44B972DE}" type="slidenum">
              <a:rPr lang="en-GB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8680" cy="205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26DA407-828B-4362-981E-235D78EA869D}" type="slidenum">
              <a:rPr lang="en-GB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8680" cy="205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8680" cy="205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kf.com/group/search-results?q=Online%20condition%20monitoring%20systems&amp;search_bar=Search%20Page&amp;searcher=library&amp;language=en&amp;locale=en&amp;en-language=English&amp;system=metric" TargetMode="External"/><Relationship Id="rId3" Type="http://schemas.openxmlformats.org/officeDocument/2006/relationships/hyperlink" Target="http://iso.org/standard/40962.html" TargetMode="External"/><Relationship Id="rId7" Type="http://schemas.openxmlformats.org/officeDocument/2006/relationships/hyperlink" Target="https://www.researchgate.net/publication/287466640_Vibration-based_Condition_Monitoring_Industrial_Aerospace_and_Automotive_Application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ieeexplore.ieee.org/abstract/document/8651897" TargetMode="External"/><Relationship Id="rId5" Type="http://schemas.openxmlformats.org/officeDocument/2006/relationships/hyperlink" Target="https://dl.acm.org/doi/abs/10.1145/2689746.2689747" TargetMode="External"/><Relationship Id="rId4" Type="http://schemas.openxmlformats.org/officeDocument/2006/relationships/hyperlink" Target="http://iso.org/standard/32051.html" TargetMode="External"/><Relationship Id="rId9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8680" cy="205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1868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" name="Google Shape;56;p13"/>
          <p:cNvPicPr/>
          <p:nvPr/>
        </p:nvPicPr>
        <p:blipFill>
          <a:blip r:embed="rId2"/>
          <a:stretch/>
        </p:blipFill>
        <p:spPr>
          <a:xfrm>
            <a:off x="0" y="0"/>
            <a:ext cx="9142200" cy="5141880"/>
          </a:xfrm>
          <a:prstGeom prst="rect">
            <a:avLst/>
          </a:prstGeom>
          <a:ln w="0">
            <a:noFill/>
          </a:ln>
        </p:spPr>
      </p:pic>
      <p:sp>
        <p:nvSpPr>
          <p:cNvPr id="30" name="Google Shape;57;p13"/>
          <p:cNvSpPr/>
          <p:nvPr/>
        </p:nvSpPr>
        <p:spPr>
          <a:xfrm>
            <a:off x="180000" y="3316320"/>
            <a:ext cx="2998080" cy="49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 marL="457200" defTabSz="914400">
              <a:lnSpc>
                <a:spcPct val="115000"/>
              </a:lnSpc>
              <a:tabLst>
                <a:tab pos="0" algn="l"/>
              </a:tabLst>
            </a:pPr>
            <a:r>
              <a:rPr lang="en-GB" sz="1800" b="1" strike="noStrike" spc="-1">
                <a:solidFill>
                  <a:schemeClr val="dk1"/>
                </a:solidFill>
                <a:latin typeface="Poppins"/>
                <a:ea typeface="Poppins"/>
              </a:rPr>
              <a:t>Team Details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Google Shape;58;p13"/>
          <p:cNvSpPr/>
          <p:nvPr/>
        </p:nvSpPr>
        <p:spPr>
          <a:xfrm>
            <a:off x="540720" y="3778200"/>
            <a:ext cx="8601480" cy="91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 marL="457200" indent="-317520" defTabSz="914400">
              <a:lnSpc>
                <a:spcPct val="115000"/>
              </a:lnSpc>
              <a:buClr>
                <a:srgbClr val="000000"/>
              </a:buClr>
              <a:buFont typeface="Poppins"/>
              <a:buChar char="➔"/>
            </a:pPr>
            <a:r>
              <a:rPr lang="en-GB" sz="1400" b="0" strike="noStrike" spc="-1">
                <a:solidFill>
                  <a:schemeClr val="dk1"/>
                </a:solidFill>
                <a:latin typeface="Poppins"/>
                <a:ea typeface="Poppins"/>
              </a:rPr>
              <a:t>Team name -DataNOtfOund 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 defTabSz="914400">
              <a:lnSpc>
                <a:spcPct val="115000"/>
              </a:lnSpc>
              <a:buClr>
                <a:srgbClr val="000000"/>
              </a:buClr>
              <a:buFont typeface="Poppins"/>
              <a:buChar char="➔"/>
            </a:pPr>
            <a:r>
              <a:rPr lang="en-GB" sz="1400" b="0" strike="noStrike" spc="-1">
                <a:solidFill>
                  <a:schemeClr val="dk1"/>
                </a:solidFill>
                <a:latin typeface="Poppins"/>
                <a:ea typeface="Poppins"/>
              </a:rPr>
              <a:t>Team leader name -Hitesh Khare 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17520" defTabSz="914400">
              <a:lnSpc>
                <a:spcPct val="115000"/>
              </a:lnSpc>
              <a:buClr>
                <a:srgbClr val="000000"/>
              </a:buClr>
              <a:buFont typeface="Poppins"/>
              <a:buChar char="➔"/>
            </a:pPr>
            <a:r>
              <a:rPr lang="en-GB" sz="1400" b="0" strike="noStrike" spc="-1">
                <a:solidFill>
                  <a:schemeClr val="dk1"/>
                </a:solidFill>
                <a:latin typeface="Poppins"/>
                <a:ea typeface="Poppins"/>
              </a:rPr>
              <a:t>Problem Statement -  AI for Smart Cities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44"/>
          <p:cNvSpPr/>
          <p:nvPr/>
        </p:nvSpPr>
        <p:spPr>
          <a:xfrm>
            <a:off x="70335" y="521235"/>
            <a:ext cx="6583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 dirty="0">
                <a:solidFill>
                  <a:srgbClr val="FFFFFF"/>
                </a:solidFill>
                <a:latin typeface="Calibri"/>
                <a:ea typeface="Calibri"/>
              </a:rPr>
              <a:t>Brief About the Idea  —  Resonance Fault Detection Platform</a:t>
            </a:r>
            <a:endParaRPr lang="en-US" sz="1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1"/>
          <p:cNvSpPr/>
          <p:nvPr/>
        </p:nvSpPr>
        <p:spPr>
          <a:xfrm>
            <a:off x="51615" y="746748"/>
            <a:ext cx="5120280" cy="3767040"/>
          </a:xfrm>
          <a:prstGeom prst="rect">
            <a:avLst/>
          </a:prstGeom>
          <a:solidFill>
            <a:srgbClr val="0A0B10"/>
          </a:solidFill>
          <a:ln w="762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46"/>
          <p:cNvSpPr/>
          <p:nvPr/>
        </p:nvSpPr>
        <p:spPr>
          <a:xfrm>
            <a:off x="51615" y="746748"/>
            <a:ext cx="5120280" cy="36360"/>
          </a:xfrm>
          <a:prstGeom prst="rect">
            <a:avLst/>
          </a:prstGeom>
          <a:solidFill>
            <a:srgbClr val="ED4E33"/>
          </a:solidFill>
          <a:ln w="127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71"/>
          <p:cNvSpPr/>
          <p:nvPr/>
        </p:nvSpPr>
        <p:spPr>
          <a:xfrm>
            <a:off x="51615" y="783468"/>
            <a:ext cx="5120280" cy="273960"/>
          </a:xfrm>
          <a:prstGeom prst="rect">
            <a:avLst/>
          </a:prstGeom>
          <a:solidFill>
            <a:srgbClr val="7A1E0A"/>
          </a:solidFill>
          <a:ln w="12700">
            <a:solidFill>
              <a:srgbClr val="7A1E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119"/>
          <p:cNvSpPr/>
          <p:nvPr/>
        </p:nvSpPr>
        <p:spPr>
          <a:xfrm>
            <a:off x="179775" y="810828"/>
            <a:ext cx="4937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49">
                <a:solidFill>
                  <a:srgbClr val="ED4E33"/>
                </a:solidFill>
                <a:latin typeface="Calibri"/>
                <a:ea typeface="Calibri"/>
              </a:rPr>
              <a:t>⚠  THE PROBLEM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75"/>
          <p:cNvSpPr/>
          <p:nvPr/>
        </p:nvSpPr>
        <p:spPr>
          <a:xfrm>
            <a:off x="51615" y="1057788"/>
            <a:ext cx="5120280" cy="1572480"/>
          </a:xfrm>
          <a:prstGeom prst="rect">
            <a:avLst/>
          </a:prstGeom>
          <a:solidFill>
            <a:srgbClr val="0E0C0B"/>
          </a:solidFill>
          <a:ln w="3810">
            <a:solidFill>
              <a:srgbClr val="1A121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121"/>
          <p:cNvSpPr/>
          <p:nvPr/>
        </p:nvSpPr>
        <p:spPr>
          <a:xfrm>
            <a:off x="216135" y="1130868"/>
            <a:ext cx="48643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200" b="1" strike="noStrike" spc="-1">
                <a:solidFill>
                  <a:srgbClr val="ED4E33"/>
                </a:solidFill>
                <a:latin typeface="Calibri"/>
                <a:ea typeface="Calibri"/>
              </a:rPr>
              <a:t>Machines Fail Silently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132"/>
          <p:cNvSpPr/>
          <p:nvPr/>
        </p:nvSpPr>
        <p:spPr>
          <a:xfrm>
            <a:off x="216135" y="1460268"/>
            <a:ext cx="48643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750" b="0" strike="noStrike" spc="-1">
                <a:solidFill>
                  <a:srgbClr val="6B7280"/>
                </a:solidFill>
                <a:latin typeface="Calibri"/>
                <a:ea typeface="Calibri"/>
              </a:rPr>
              <a:t>Bearing wear · misalignment · cavitation — detectable weeks before failure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36"/>
          <p:cNvSpPr/>
          <p:nvPr/>
        </p:nvSpPr>
        <p:spPr>
          <a:xfrm>
            <a:off x="216135" y="1661148"/>
            <a:ext cx="4864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900" b="0" strike="noStrike" spc="-1">
                <a:solidFill>
                  <a:srgbClr val="6B7280"/>
                </a:solidFill>
                <a:latin typeface="Calibri"/>
                <a:ea typeface="Calibri"/>
              </a:rPr>
              <a:t>💀 A single undetected bearing failure stops an entire production line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139"/>
          <p:cNvSpPr/>
          <p:nvPr/>
        </p:nvSpPr>
        <p:spPr>
          <a:xfrm>
            <a:off x="180135" y="1899108"/>
            <a:ext cx="4864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900" b="0" strike="noStrike" spc="-1">
                <a:solidFill>
                  <a:srgbClr val="6B7280"/>
                </a:solidFill>
                <a:latin typeface="Calibri"/>
                <a:ea typeface="Calibri"/>
              </a:rPr>
              <a:t> ⏱ Fault signatures appear weeks before catastrophic failure — undetected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140"/>
          <p:cNvSpPr/>
          <p:nvPr/>
        </p:nvSpPr>
        <p:spPr>
          <a:xfrm>
            <a:off x="216135" y="2136708"/>
            <a:ext cx="4864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900" b="0" strike="noStrike" spc="-1">
                <a:solidFill>
                  <a:srgbClr val="FCA5A5"/>
                </a:solidFill>
                <a:latin typeface="Calibri"/>
                <a:ea typeface="Calibri"/>
              </a:rPr>
              <a:t>🏭 85% of industrial mechanical downtime comes from rotating machinery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143"/>
          <p:cNvSpPr/>
          <p:nvPr/>
        </p:nvSpPr>
        <p:spPr>
          <a:xfrm>
            <a:off x="216135" y="2374668"/>
            <a:ext cx="4864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900" b="0" strike="noStrike" spc="-1">
                <a:solidFill>
                  <a:srgbClr val="FCA5A5"/>
                </a:solidFill>
                <a:latin typeface="Calibri"/>
                <a:ea typeface="Calibri"/>
              </a:rPr>
              <a:t>🚫 500,000+ Indian SME factories have zero predictive monitoring today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79"/>
          <p:cNvSpPr/>
          <p:nvPr/>
        </p:nvSpPr>
        <p:spPr>
          <a:xfrm>
            <a:off x="51615" y="2648988"/>
            <a:ext cx="5120280" cy="36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85"/>
          <p:cNvSpPr/>
          <p:nvPr/>
        </p:nvSpPr>
        <p:spPr>
          <a:xfrm>
            <a:off x="51615" y="2685348"/>
            <a:ext cx="5120280" cy="273960"/>
          </a:xfrm>
          <a:prstGeom prst="rect">
            <a:avLst/>
          </a:prstGeom>
          <a:solidFill>
            <a:srgbClr val="0A2015"/>
          </a:solidFill>
          <a:ln w="12700">
            <a:solidFill>
              <a:srgbClr val="0A201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55"/>
          <p:cNvSpPr/>
          <p:nvPr/>
        </p:nvSpPr>
        <p:spPr>
          <a:xfrm>
            <a:off x="179775" y="2712708"/>
            <a:ext cx="4937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49">
                <a:solidFill>
                  <a:srgbClr val="86EFAC"/>
                </a:solidFill>
                <a:latin typeface="Calibri"/>
                <a:ea typeface="Calibri"/>
              </a:rPr>
              <a:t>✓  THE SOLUTION 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87"/>
          <p:cNvSpPr/>
          <p:nvPr/>
        </p:nvSpPr>
        <p:spPr>
          <a:xfrm>
            <a:off x="51615" y="2959668"/>
            <a:ext cx="5120280" cy="1572480"/>
          </a:xfrm>
          <a:prstGeom prst="rect">
            <a:avLst/>
          </a:prstGeom>
          <a:solidFill>
            <a:srgbClr val="0B0E0B"/>
          </a:solidFill>
          <a:ln w="3810">
            <a:solidFill>
              <a:srgbClr val="121A1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58"/>
          <p:cNvSpPr/>
          <p:nvPr/>
        </p:nvSpPr>
        <p:spPr>
          <a:xfrm>
            <a:off x="216135" y="3032748"/>
            <a:ext cx="49557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200" b="1" strike="noStrike" spc="-1">
                <a:solidFill>
                  <a:srgbClr val="86EFAC"/>
                </a:solidFill>
                <a:latin typeface="Calibri"/>
                <a:ea typeface="Calibri"/>
              </a:rPr>
              <a:t>Resonance – Digital Stethoscope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159"/>
          <p:cNvSpPr/>
          <p:nvPr/>
        </p:nvSpPr>
        <p:spPr>
          <a:xfrm>
            <a:off x="216135" y="3362148"/>
            <a:ext cx="48643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750" b="0" strike="noStrike" spc="-1">
                <a:solidFill>
                  <a:srgbClr val="6B7280"/>
                </a:solidFill>
                <a:latin typeface="Calibri"/>
                <a:ea typeface="Calibri"/>
              </a:rPr>
              <a:t>Physics-first · Edge AI · Zero cloud · Any language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160"/>
          <p:cNvSpPr/>
          <p:nvPr/>
        </p:nvSpPr>
        <p:spPr>
          <a:xfrm>
            <a:off x="216135" y="3563388"/>
            <a:ext cx="4864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86EFAC"/>
                </a:solidFill>
                <a:latin typeface="Calibri"/>
                <a:ea typeface="Calibri"/>
              </a:rPr>
              <a:t>🎯 Low-cost piezo sensors + C++ DSP — physics-first detection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161"/>
          <p:cNvSpPr/>
          <p:nvPr/>
        </p:nvSpPr>
        <p:spPr>
          <a:xfrm>
            <a:off x="216135" y="3800988"/>
            <a:ext cx="4864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86EFAC"/>
                </a:solidFill>
                <a:latin typeface="Calibri"/>
                <a:ea typeface="Calibri"/>
              </a:rPr>
              <a:t>🧠 Convolutional autoencoder on AMD Ryzen AI NPU — 4.7ms inference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164"/>
          <p:cNvSpPr/>
          <p:nvPr/>
        </p:nvSpPr>
        <p:spPr>
          <a:xfrm>
            <a:off x="216135" y="4038588"/>
            <a:ext cx="4864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86EFAC"/>
                </a:solidFill>
                <a:latin typeface="Calibri"/>
                <a:ea typeface="Calibri"/>
              </a:rPr>
              <a:t>🌐 Ollama LLM alerts in any language — fully offline, no internet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167"/>
          <p:cNvSpPr/>
          <p:nvPr/>
        </p:nvSpPr>
        <p:spPr>
          <a:xfrm>
            <a:off x="216135" y="4276548"/>
            <a:ext cx="4864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86EFAC"/>
                </a:solidFill>
                <a:latin typeface="Calibri"/>
                <a:ea typeface="Calibri"/>
              </a:rPr>
              <a:t>🏭 Built for 500,000+ Indian SME factories incumbents cannot reach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89"/>
          <p:cNvSpPr/>
          <p:nvPr/>
        </p:nvSpPr>
        <p:spPr>
          <a:xfrm>
            <a:off x="5300415" y="746748"/>
            <a:ext cx="3748680" cy="3767040"/>
          </a:xfrm>
          <a:prstGeom prst="rect">
            <a:avLst/>
          </a:prstGeom>
          <a:solidFill>
            <a:srgbClr val="0A0B10"/>
          </a:solidFill>
          <a:ln w="762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93"/>
          <p:cNvSpPr/>
          <p:nvPr/>
        </p:nvSpPr>
        <p:spPr>
          <a:xfrm>
            <a:off x="5300415" y="746748"/>
            <a:ext cx="3748680" cy="36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96"/>
          <p:cNvSpPr/>
          <p:nvPr/>
        </p:nvSpPr>
        <p:spPr>
          <a:xfrm>
            <a:off x="5300415" y="783468"/>
            <a:ext cx="3748680" cy="273960"/>
          </a:xfrm>
          <a:prstGeom prst="rect">
            <a:avLst/>
          </a:prstGeom>
          <a:solidFill>
            <a:srgbClr val="0F1D42"/>
          </a:solidFill>
          <a:ln w="12700">
            <a:solidFill>
              <a:srgbClr val="0F1D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70"/>
          <p:cNvSpPr/>
          <p:nvPr/>
        </p:nvSpPr>
        <p:spPr>
          <a:xfrm>
            <a:off x="5428215" y="810828"/>
            <a:ext cx="35658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49">
                <a:solidFill>
                  <a:srgbClr val="93C5FD"/>
                </a:solidFill>
                <a:latin typeface="Calibri"/>
                <a:ea typeface="Calibri"/>
              </a:rPr>
              <a:t>SIGNAL PIPELINE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100"/>
          <p:cNvSpPr/>
          <p:nvPr/>
        </p:nvSpPr>
        <p:spPr>
          <a:xfrm>
            <a:off x="5382495" y="1130868"/>
            <a:ext cx="3584160" cy="658080"/>
          </a:xfrm>
          <a:prstGeom prst="rect">
            <a:avLst/>
          </a:prstGeom>
          <a:solidFill>
            <a:srgbClr val="0E1020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101"/>
          <p:cNvSpPr/>
          <p:nvPr/>
        </p:nvSpPr>
        <p:spPr>
          <a:xfrm>
            <a:off x="5382495" y="1130868"/>
            <a:ext cx="36360" cy="658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108"/>
          <p:cNvSpPr/>
          <p:nvPr/>
        </p:nvSpPr>
        <p:spPr>
          <a:xfrm>
            <a:off x="8308575" y="1185948"/>
            <a:ext cx="603000" cy="14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711"/>
          <p:cNvSpPr/>
          <p:nvPr/>
        </p:nvSpPr>
        <p:spPr>
          <a:xfrm>
            <a:off x="8308575" y="1185948"/>
            <a:ext cx="6030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1" strike="noStrike" spc="-1">
                <a:solidFill>
                  <a:srgbClr val="FFFFFF"/>
                </a:solidFill>
                <a:latin typeface="Calibri"/>
                <a:ea typeface="Calibri"/>
              </a:rPr>
              <a:t>PHYSICAL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712"/>
          <p:cNvSpPr/>
          <p:nvPr/>
        </p:nvSpPr>
        <p:spPr>
          <a:xfrm>
            <a:off x="5492295" y="1203948"/>
            <a:ext cx="27612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93C5FD"/>
                </a:solidFill>
                <a:latin typeface="Calibri"/>
                <a:ea typeface="Calibri"/>
              </a:rPr>
              <a:t>🎵  Piezo Sensor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713"/>
          <p:cNvSpPr/>
          <p:nvPr/>
        </p:nvSpPr>
        <p:spPr>
          <a:xfrm>
            <a:off x="5492295" y="1405188"/>
            <a:ext cx="34012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-1">
                <a:solidFill>
                  <a:srgbClr val="6B7280"/>
                </a:solidFill>
                <a:latin typeface="Calibri"/>
                <a:ea typeface="Calibri"/>
              </a:rPr>
              <a:t>35mm disc  ·  contact microphone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-1">
                <a:solidFill>
                  <a:srgbClr val="6B7280"/>
                </a:solidFill>
                <a:latin typeface="Calibri"/>
                <a:ea typeface="Calibri"/>
              </a:rPr>
              <a:t>1.2MΩ bias  ·  JFET buffer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112"/>
          <p:cNvSpPr/>
          <p:nvPr/>
        </p:nvSpPr>
        <p:spPr>
          <a:xfrm>
            <a:off x="7174575" y="1825668"/>
            <a:ext cx="360" cy="91440"/>
          </a:xfrm>
          <a:prstGeom prst="line">
            <a:avLst/>
          </a:prstGeom>
          <a:ln w="12700">
            <a:solidFill>
              <a:srgbClr val="6B72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113"/>
          <p:cNvSpPr/>
          <p:nvPr/>
        </p:nvSpPr>
        <p:spPr>
          <a:xfrm>
            <a:off x="7129215" y="1899108"/>
            <a:ext cx="91080" cy="543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115"/>
          <p:cNvSpPr/>
          <p:nvPr/>
        </p:nvSpPr>
        <p:spPr>
          <a:xfrm>
            <a:off x="5382495" y="1953828"/>
            <a:ext cx="3584160" cy="658080"/>
          </a:xfrm>
          <a:prstGeom prst="rect">
            <a:avLst/>
          </a:prstGeom>
          <a:solidFill>
            <a:srgbClr val="0E1020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122"/>
          <p:cNvSpPr/>
          <p:nvPr/>
        </p:nvSpPr>
        <p:spPr>
          <a:xfrm>
            <a:off x="5382495" y="1953828"/>
            <a:ext cx="36360" cy="658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124"/>
          <p:cNvSpPr/>
          <p:nvPr/>
        </p:nvSpPr>
        <p:spPr>
          <a:xfrm>
            <a:off x="8308575" y="2008908"/>
            <a:ext cx="603000" cy="14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714"/>
          <p:cNvSpPr/>
          <p:nvPr/>
        </p:nvSpPr>
        <p:spPr>
          <a:xfrm>
            <a:off x="8308575" y="2008908"/>
            <a:ext cx="6030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1" strike="noStrike" spc="-1">
                <a:solidFill>
                  <a:srgbClr val="FFFFFF"/>
                </a:solidFill>
                <a:latin typeface="Calibri"/>
                <a:ea typeface="Calibri"/>
              </a:rPr>
              <a:t>TIER 1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715"/>
          <p:cNvSpPr/>
          <p:nvPr/>
        </p:nvSpPr>
        <p:spPr>
          <a:xfrm>
            <a:off x="5492295" y="2026908"/>
            <a:ext cx="27612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93C5FD"/>
                </a:solidFill>
                <a:latin typeface="Calibri"/>
                <a:ea typeface="Calibri"/>
              </a:rPr>
              <a:t>⚙  DSP Engine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716"/>
          <p:cNvSpPr/>
          <p:nvPr/>
        </p:nvSpPr>
        <p:spPr>
          <a:xfrm>
            <a:off x="5492295" y="2228148"/>
            <a:ext cx="34012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-1">
                <a:solidFill>
                  <a:srgbClr val="6B7280"/>
                </a:solidFill>
                <a:latin typeface="Calibri"/>
                <a:ea typeface="Calibri"/>
              </a:rPr>
              <a:t>C++17  ·  PortAudio  ·  FFTW3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-1">
                <a:solidFill>
                  <a:srgbClr val="6B7280"/>
                </a:solidFill>
                <a:latin typeface="Calibri"/>
                <a:ea typeface="Calibri"/>
              </a:rPr>
              <a:t>44.1kHz  ·  IsolationFilter  ·  ZMQ PUB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133"/>
          <p:cNvSpPr/>
          <p:nvPr/>
        </p:nvSpPr>
        <p:spPr>
          <a:xfrm>
            <a:off x="7174575" y="2648628"/>
            <a:ext cx="360" cy="91440"/>
          </a:xfrm>
          <a:prstGeom prst="line">
            <a:avLst/>
          </a:prstGeom>
          <a:ln w="12700">
            <a:solidFill>
              <a:srgbClr val="6B72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180"/>
          <p:cNvSpPr/>
          <p:nvPr/>
        </p:nvSpPr>
        <p:spPr>
          <a:xfrm>
            <a:off x="7129215" y="2722068"/>
            <a:ext cx="91080" cy="543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565"/>
          <p:cNvSpPr/>
          <p:nvPr/>
        </p:nvSpPr>
        <p:spPr>
          <a:xfrm>
            <a:off x="5382495" y="2776788"/>
            <a:ext cx="3584160" cy="658080"/>
          </a:xfrm>
          <a:prstGeom prst="rect">
            <a:avLst/>
          </a:prstGeom>
          <a:solidFill>
            <a:srgbClr val="160604"/>
          </a:solidFill>
          <a:ln w="127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Shape 566"/>
          <p:cNvSpPr/>
          <p:nvPr/>
        </p:nvSpPr>
        <p:spPr>
          <a:xfrm>
            <a:off x="5382495" y="2776788"/>
            <a:ext cx="36360" cy="658080"/>
          </a:xfrm>
          <a:prstGeom prst="rect">
            <a:avLst/>
          </a:prstGeom>
          <a:solidFill>
            <a:srgbClr val="ED4E33"/>
          </a:solidFill>
          <a:ln w="127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567"/>
          <p:cNvSpPr/>
          <p:nvPr/>
        </p:nvSpPr>
        <p:spPr>
          <a:xfrm>
            <a:off x="8308575" y="2831868"/>
            <a:ext cx="603000" cy="145800"/>
          </a:xfrm>
          <a:prstGeom prst="rect">
            <a:avLst/>
          </a:prstGeom>
          <a:solidFill>
            <a:srgbClr val="ED4E33"/>
          </a:solidFill>
          <a:ln w="127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717"/>
          <p:cNvSpPr/>
          <p:nvPr/>
        </p:nvSpPr>
        <p:spPr>
          <a:xfrm>
            <a:off x="8308575" y="2831868"/>
            <a:ext cx="6030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1" strike="noStrike" spc="-1">
                <a:solidFill>
                  <a:srgbClr val="FFFFFF"/>
                </a:solidFill>
                <a:latin typeface="Calibri"/>
                <a:ea typeface="Calibri"/>
              </a:rPr>
              <a:t>TIER 2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718"/>
          <p:cNvSpPr/>
          <p:nvPr/>
        </p:nvSpPr>
        <p:spPr>
          <a:xfrm>
            <a:off x="5492295" y="2849868"/>
            <a:ext cx="27612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ED4E33"/>
                </a:solidFill>
                <a:latin typeface="Calibri"/>
                <a:ea typeface="Calibri"/>
              </a:rPr>
              <a:t>🧠  AMD Ryzen AI NPU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719"/>
          <p:cNvSpPr/>
          <p:nvPr/>
        </p:nvSpPr>
        <p:spPr>
          <a:xfrm>
            <a:off x="5492295" y="3051108"/>
            <a:ext cx="34012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-1">
                <a:solidFill>
                  <a:srgbClr val="6B7280"/>
                </a:solidFill>
                <a:latin typeface="Calibri"/>
                <a:ea typeface="Calibri"/>
              </a:rPr>
              <a:t>ConvAutoencoder  ·  ONNX  ·  Vitis AI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-1">
                <a:solidFill>
                  <a:srgbClr val="6B7280"/>
                </a:solidFill>
                <a:latin typeface="Calibri"/>
                <a:ea typeface="Calibri"/>
              </a:rPr>
              <a:t>50 TOPS  ·  ~4.7ms inference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Shape 568"/>
          <p:cNvSpPr/>
          <p:nvPr/>
        </p:nvSpPr>
        <p:spPr>
          <a:xfrm>
            <a:off x="7174575" y="3471588"/>
            <a:ext cx="360" cy="91440"/>
          </a:xfrm>
          <a:prstGeom prst="line">
            <a:avLst/>
          </a:prstGeom>
          <a:ln w="12700">
            <a:solidFill>
              <a:srgbClr val="6B72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569"/>
          <p:cNvSpPr/>
          <p:nvPr/>
        </p:nvSpPr>
        <p:spPr>
          <a:xfrm>
            <a:off x="7129215" y="3545028"/>
            <a:ext cx="91080" cy="543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570"/>
          <p:cNvSpPr/>
          <p:nvPr/>
        </p:nvSpPr>
        <p:spPr>
          <a:xfrm>
            <a:off x="5382495" y="3599748"/>
            <a:ext cx="3584160" cy="658080"/>
          </a:xfrm>
          <a:prstGeom prst="rect">
            <a:avLst/>
          </a:prstGeom>
          <a:solidFill>
            <a:srgbClr val="061510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571"/>
          <p:cNvSpPr/>
          <p:nvPr/>
        </p:nvSpPr>
        <p:spPr>
          <a:xfrm>
            <a:off x="5382495" y="3599748"/>
            <a:ext cx="36360" cy="658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572"/>
          <p:cNvSpPr/>
          <p:nvPr/>
        </p:nvSpPr>
        <p:spPr>
          <a:xfrm>
            <a:off x="8308575" y="3654828"/>
            <a:ext cx="603000" cy="14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720"/>
          <p:cNvSpPr/>
          <p:nvPr/>
        </p:nvSpPr>
        <p:spPr>
          <a:xfrm>
            <a:off x="8308575" y="3654828"/>
            <a:ext cx="6030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1" strike="noStrike" spc="-1">
                <a:solidFill>
                  <a:srgbClr val="FFFFFF"/>
                </a:solidFill>
                <a:latin typeface="Calibri"/>
                <a:ea typeface="Calibri"/>
              </a:rPr>
              <a:t>TIER 3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721"/>
          <p:cNvSpPr/>
          <p:nvPr/>
        </p:nvSpPr>
        <p:spPr>
          <a:xfrm>
            <a:off x="5492295" y="3672828"/>
            <a:ext cx="27612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86EFAC"/>
                </a:solidFill>
                <a:latin typeface="Calibri"/>
                <a:ea typeface="Calibri"/>
              </a:rPr>
              <a:t>🔔  Alert  +  Dashboard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722"/>
          <p:cNvSpPr/>
          <p:nvPr/>
        </p:nvSpPr>
        <p:spPr>
          <a:xfrm>
            <a:off x="5492295" y="3874068"/>
            <a:ext cx="34012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-1">
                <a:solidFill>
                  <a:srgbClr val="6B7280"/>
                </a:solidFill>
                <a:latin typeface="Calibri"/>
                <a:ea typeface="Calibri"/>
              </a:rPr>
              <a:t>Ollama LLM  ·  any language  ·  offline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-1">
                <a:solidFill>
                  <a:srgbClr val="6B7280"/>
                </a:solidFill>
                <a:latin typeface="Calibri"/>
                <a:ea typeface="Calibri"/>
              </a:rPr>
              <a:t>React dashboard  ·  ZMQ :5557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573"/>
          <p:cNvSpPr/>
          <p:nvPr/>
        </p:nvSpPr>
        <p:spPr>
          <a:xfrm>
            <a:off x="-21465" y="4569228"/>
            <a:ext cx="9143640" cy="4752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574"/>
          <p:cNvSpPr/>
          <p:nvPr/>
        </p:nvSpPr>
        <p:spPr>
          <a:xfrm>
            <a:off x="-21465" y="4568868"/>
            <a:ext cx="9144000" cy="360"/>
          </a:xfrm>
          <a:prstGeom prst="line">
            <a:avLst/>
          </a:prstGeom>
          <a:ln w="1524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723"/>
          <p:cNvSpPr/>
          <p:nvPr/>
        </p:nvSpPr>
        <p:spPr>
          <a:xfrm>
            <a:off x="-21465" y="4605588"/>
            <a:ext cx="1523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₹3,499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724"/>
          <p:cNvSpPr/>
          <p:nvPr/>
        </p:nvSpPr>
        <p:spPr>
          <a:xfrm>
            <a:off x="-21465" y="4843548"/>
            <a:ext cx="15235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49">
                <a:solidFill>
                  <a:srgbClr val="6B7280"/>
                </a:solidFill>
                <a:latin typeface="Calibri"/>
                <a:ea typeface="Calibri"/>
              </a:rPr>
              <a:t>PER SENSOR NODE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Shape 575"/>
          <p:cNvSpPr/>
          <p:nvPr/>
        </p:nvSpPr>
        <p:spPr>
          <a:xfrm>
            <a:off x="1502415" y="4614588"/>
            <a:ext cx="360" cy="365760"/>
          </a:xfrm>
          <a:prstGeom prst="line">
            <a:avLst/>
          </a:prstGeom>
          <a:ln w="508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725"/>
          <p:cNvSpPr/>
          <p:nvPr/>
        </p:nvSpPr>
        <p:spPr>
          <a:xfrm>
            <a:off x="1502415" y="4605588"/>
            <a:ext cx="1523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85%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726"/>
          <p:cNvSpPr/>
          <p:nvPr/>
        </p:nvSpPr>
        <p:spPr>
          <a:xfrm>
            <a:off x="1502415" y="4843548"/>
            <a:ext cx="15235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49">
                <a:solidFill>
                  <a:srgbClr val="6B7280"/>
                </a:solidFill>
                <a:latin typeface="Calibri"/>
                <a:ea typeface="Calibri"/>
              </a:rPr>
              <a:t>CHEAPER THAN SKF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576"/>
          <p:cNvSpPr/>
          <p:nvPr/>
        </p:nvSpPr>
        <p:spPr>
          <a:xfrm>
            <a:off x="3026295" y="4614588"/>
            <a:ext cx="360" cy="365760"/>
          </a:xfrm>
          <a:prstGeom prst="line">
            <a:avLst/>
          </a:prstGeom>
          <a:ln w="508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727"/>
          <p:cNvSpPr/>
          <p:nvPr/>
        </p:nvSpPr>
        <p:spPr>
          <a:xfrm>
            <a:off x="3026655" y="4605588"/>
            <a:ext cx="1523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4.7ms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728"/>
          <p:cNvSpPr/>
          <p:nvPr/>
        </p:nvSpPr>
        <p:spPr>
          <a:xfrm>
            <a:off x="3026655" y="4843548"/>
            <a:ext cx="15235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49">
                <a:solidFill>
                  <a:srgbClr val="6B7280"/>
                </a:solidFill>
                <a:latin typeface="Calibri"/>
                <a:ea typeface="Calibri"/>
              </a:rPr>
              <a:t>NPU INFERENCE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577"/>
          <p:cNvSpPr/>
          <p:nvPr/>
        </p:nvSpPr>
        <p:spPr>
          <a:xfrm>
            <a:off x="4550535" y="4614588"/>
            <a:ext cx="360" cy="365760"/>
          </a:xfrm>
          <a:prstGeom prst="line">
            <a:avLst/>
          </a:prstGeom>
          <a:ln w="508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729"/>
          <p:cNvSpPr/>
          <p:nvPr/>
        </p:nvSpPr>
        <p:spPr>
          <a:xfrm>
            <a:off x="4550535" y="4605588"/>
            <a:ext cx="1523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&lt;1 week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730"/>
          <p:cNvSpPr/>
          <p:nvPr/>
        </p:nvSpPr>
        <p:spPr>
          <a:xfrm>
            <a:off x="4550535" y="4843548"/>
            <a:ext cx="15235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49">
                <a:solidFill>
                  <a:srgbClr val="6B7280"/>
                </a:solidFill>
                <a:latin typeface="Calibri"/>
                <a:ea typeface="Calibri"/>
              </a:rPr>
              <a:t>DEPLOYMENT TIME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578"/>
          <p:cNvSpPr/>
          <p:nvPr/>
        </p:nvSpPr>
        <p:spPr>
          <a:xfrm>
            <a:off x="6074415" y="4614588"/>
            <a:ext cx="360" cy="365760"/>
          </a:xfrm>
          <a:prstGeom prst="line">
            <a:avLst/>
          </a:prstGeom>
          <a:ln w="508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731"/>
          <p:cNvSpPr/>
          <p:nvPr/>
        </p:nvSpPr>
        <p:spPr>
          <a:xfrm>
            <a:off x="6074415" y="4605588"/>
            <a:ext cx="1523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ZERO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732"/>
          <p:cNvSpPr/>
          <p:nvPr/>
        </p:nvSpPr>
        <p:spPr>
          <a:xfrm>
            <a:off x="6074415" y="4843548"/>
            <a:ext cx="15235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49">
                <a:solidFill>
                  <a:srgbClr val="6B7280"/>
                </a:solidFill>
                <a:latin typeface="Calibri"/>
                <a:ea typeface="Calibri"/>
              </a:rPr>
              <a:t>CLOUD DEPENDENCY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579"/>
          <p:cNvSpPr/>
          <p:nvPr/>
        </p:nvSpPr>
        <p:spPr>
          <a:xfrm>
            <a:off x="7598295" y="4614588"/>
            <a:ext cx="360" cy="365760"/>
          </a:xfrm>
          <a:prstGeom prst="line">
            <a:avLst/>
          </a:prstGeom>
          <a:ln w="508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733"/>
          <p:cNvSpPr/>
          <p:nvPr/>
        </p:nvSpPr>
        <p:spPr>
          <a:xfrm>
            <a:off x="7598655" y="4605588"/>
            <a:ext cx="1523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500,000+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734"/>
          <p:cNvSpPr/>
          <p:nvPr/>
        </p:nvSpPr>
        <p:spPr>
          <a:xfrm>
            <a:off x="7598655" y="4843548"/>
            <a:ext cx="15235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49">
                <a:solidFill>
                  <a:srgbClr val="6B7280"/>
                </a:solidFill>
                <a:latin typeface="Calibri"/>
                <a:ea typeface="Calibri"/>
              </a:rPr>
              <a:t>TARGET FACTORIES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580"/>
          <p:cNvSpPr/>
          <p:nvPr/>
        </p:nvSpPr>
        <p:spPr>
          <a:xfrm>
            <a:off x="0" y="5097960"/>
            <a:ext cx="9143640" cy="45360"/>
          </a:xfrm>
          <a:prstGeom prst="rect">
            <a:avLst/>
          </a:prstGeom>
          <a:solidFill>
            <a:srgbClr val="ED4E33"/>
          </a:solidFill>
          <a:ln w="127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" name="Google Shape;82;p 2">
            <a:extLst>
              <a:ext uri="{FF2B5EF4-FFF2-40B4-BE49-F238E27FC236}">
                <a16:creationId xmlns:a16="http://schemas.microsoft.com/office/drawing/2014/main" id="{779D9D14-E328-5177-20E6-BA078A463632}"/>
              </a:ext>
            </a:extLst>
          </p:cNvPr>
          <p:cNvPicPr/>
          <p:nvPr/>
        </p:nvPicPr>
        <p:blipFill>
          <a:blip r:embed="rId3"/>
          <a:srcRect b="89083"/>
          <a:stretch/>
        </p:blipFill>
        <p:spPr>
          <a:xfrm>
            <a:off x="0" y="0"/>
            <a:ext cx="9142200" cy="559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402"/>
          <p:cNvSpPr/>
          <p:nvPr/>
        </p:nvSpPr>
        <p:spPr>
          <a:xfrm>
            <a:off x="265680" y="607320"/>
            <a:ext cx="859428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A1A1A"/>
                </a:solidFill>
                <a:latin typeface="Calibri"/>
                <a:ea typeface="Calibri"/>
              </a:rPr>
              <a:t>Market Opportunity &amp; Differentiation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403"/>
          <p:cNvSpPr/>
          <p:nvPr/>
        </p:nvSpPr>
        <p:spPr>
          <a:xfrm>
            <a:off x="265680" y="881640"/>
            <a:ext cx="8594280" cy="1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43">
                <a:solidFill>
                  <a:srgbClr val="9CA3AF"/>
                </a:solidFill>
                <a:latin typeface="Courier New"/>
                <a:ea typeface="Courier New"/>
              </a:rPr>
              <a:t>Why Resonance exists — and why no existing solution can serve this market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340"/>
          <p:cNvSpPr/>
          <p:nvPr/>
        </p:nvSpPr>
        <p:spPr>
          <a:xfrm>
            <a:off x="265680" y="1101240"/>
            <a:ext cx="2742120" cy="748800"/>
          </a:xfrm>
          <a:prstGeom prst="rect">
            <a:avLst/>
          </a:prstGeom>
          <a:solidFill>
            <a:srgbClr val="2A2A2A"/>
          </a:solidFill>
          <a:ln w="19080">
            <a:solidFill>
              <a:srgbClr val="DC2626"/>
            </a:solidFill>
            <a:round/>
          </a:ln>
          <a:effectLst>
            <a:outerShdw blurRad="88920" dist="25455" dir="8100000" rotWithShape="0">
              <a:srgbClr val="000000">
                <a:alpha val="9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6" name="Shape 341"/>
          <p:cNvSpPr/>
          <p:nvPr/>
        </p:nvSpPr>
        <p:spPr>
          <a:xfrm>
            <a:off x="265680" y="1101240"/>
            <a:ext cx="49320" cy="748800"/>
          </a:xfrm>
          <a:prstGeom prst="rect">
            <a:avLst/>
          </a:prstGeom>
          <a:solidFill>
            <a:srgbClr val="DC2626"/>
          </a:solidFill>
          <a:ln w="126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7" name="Text 404"/>
          <p:cNvSpPr/>
          <p:nvPr/>
        </p:nvSpPr>
        <p:spPr>
          <a:xfrm>
            <a:off x="357120" y="1155960"/>
            <a:ext cx="2595960" cy="14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AAAAAA"/>
                </a:solidFill>
                <a:latin typeface="Courier New"/>
                <a:ea typeface="Courier New"/>
              </a:rPr>
              <a:t>Incumbents  ·  SKF · Emerson · Schaeffler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405"/>
          <p:cNvSpPr/>
          <p:nvPr/>
        </p:nvSpPr>
        <p:spPr>
          <a:xfrm>
            <a:off x="357120" y="1302120"/>
            <a:ext cx="259596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DC2626"/>
                </a:solidFill>
                <a:latin typeface="Calibri"/>
                <a:ea typeface="Calibri"/>
              </a:rPr>
              <a:t>₹15,000 – ₹80,000+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406"/>
          <p:cNvSpPr/>
          <p:nvPr/>
        </p:nvSpPr>
        <p:spPr>
          <a:xfrm>
            <a:off x="357120" y="1549080"/>
            <a:ext cx="2595960" cy="13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888888"/>
                </a:solidFill>
                <a:latin typeface="Courier New"/>
                <a:ea typeface="Courier New"/>
              </a:rPr>
              <a:t>/sensor  (industry deployment estimates)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407"/>
          <p:cNvSpPr/>
          <p:nvPr/>
        </p:nvSpPr>
        <p:spPr>
          <a:xfrm>
            <a:off x="357120" y="1677240"/>
            <a:ext cx="2595960" cy="12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666666"/>
                </a:solidFill>
                <a:latin typeface="Courier New"/>
                <a:ea typeface="Courier New"/>
              </a:rPr>
              <a:t>+ ₹5–20L/year software · mandatory cloud · 6–18 month deploy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342"/>
          <p:cNvSpPr/>
          <p:nvPr/>
        </p:nvSpPr>
        <p:spPr>
          <a:xfrm>
            <a:off x="3072960" y="1284120"/>
            <a:ext cx="383040" cy="383040"/>
          </a:xfrm>
          <a:prstGeom prst="ellipse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2" name="Text 408"/>
          <p:cNvSpPr/>
          <p:nvPr/>
        </p:nvSpPr>
        <p:spPr>
          <a:xfrm>
            <a:off x="3072960" y="1284120"/>
            <a:ext cx="383040" cy="38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Calibri"/>
              </a:rPr>
              <a:t>VS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343"/>
          <p:cNvSpPr/>
          <p:nvPr/>
        </p:nvSpPr>
        <p:spPr>
          <a:xfrm>
            <a:off x="3530160" y="1101240"/>
            <a:ext cx="2742120" cy="748800"/>
          </a:xfrm>
          <a:prstGeom prst="rect">
            <a:avLst/>
          </a:prstGeom>
          <a:solidFill>
            <a:srgbClr val="2A2A2A"/>
          </a:solidFill>
          <a:ln w="25560">
            <a:solidFill>
              <a:srgbClr val="ED4E33"/>
            </a:solidFill>
            <a:round/>
          </a:ln>
          <a:effectLst>
            <a:outerShdw blurRad="177840" dist="37674" dir="8100000" rotWithShape="0">
              <a:srgbClr val="000000">
                <a:alpha val="1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4" name="Shape 344"/>
          <p:cNvSpPr/>
          <p:nvPr/>
        </p:nvSpPr>
        <p:spPr>
          <a:xfrm>
            <a:off x="3530160" y="1101240"/>
            <a:ext cx="49320" cy="74880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5" name="Text 409"/>
          <p:cNvSpPr/>
          <p:nvPr/>
        </p:nvSpPr>
        <p:spPr>
          <a:xfrm>
            <a:off x="3621600" y="1155960"/>
            <a:ext cx="2595960" cy="14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AAAAAA"/>
                </a:solidFill>
                <a:latin typeface="Courier New"/>
                <a:ea typeface="Courier New"/>
              </a:rPr>
              <a:t>Resonance  ·  Built for SME India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410"/>
          <p:cNvSpPr/>
          <p:nvPr/>
        </p:nvSpPr>
        <p:spPr>
          <a:xfrm>
            <a:off x="3621600" y="1284120"/>
            <a:ext cx="259596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ED4E33"/>
                </a:solidFill>
                <a:latin typeface="Calibri"/>
                <a:ea typeface="Calibri"/>
              </a:rPr>
              <a:t>₹3,499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411"/>
          <p:cNvSpPr/>
          <p:nvPr/>
        </p:nvSpPr>
        <p:spPr>
          <a:xfrm>
            <a:off x="3621600" y="1549080"/>
            <a:ext cx="2595960" cy="13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BBBBBB"/>
                </a:solidFill>
                <a:latin typeface="Courier New"/>
                <a:ea typeface="Courier New"/>
              </a:rPr>
              <a:t>per sensor node  ·  plug-and-play 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412"/>
          <p:cNvSpPr/>
          <p:nvPr/>
        </p:nvSpPr>
        <p:spPr>
          <a:xfrm>
            <a:off x="3621600" y="1677240"/>
            <a:ext cx="2595960" cy="12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ED4E33"/>
                </a:solidFill>
                <a:latin typeface="Courier New"/>
                <a:ea typeface="Courier New"/>
              </a:rPr>
              <a:t>Installs in &lt;1 week  ·  Zero cloud dependency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345"/>
          <p:cNvSpPr/>
          <p:nvPr/>
        </p:nvSpPr>
        <p:spPr>
          <a:xfrm>
            <a:off x="6346440" y="1101240"/>
            <a:ext cx="2513520" cy="748800"/>
          </a:xfrm>
          <a:prstGeom prst="rect">
            <a:avLst/>
          </a:prstGeom>
          <a:solidFill>
            <a:srgbClr val="0D2B12"/>
          </a:solidFill>
          <a:ln w="19080">
            <a:solidFill>
              <a:srgbClr val="16A34A"/>
            </a:solidFill>
            <a:round/>
          </a:ln>
          <a:effectLst>
            <a:outerShdw blurRad="88920" dist="25455" dir="8100000" rotWithShape="0">
              <a:srgbClr val="000000">
                <a:alpha val="9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0" name="Text 413"/>
          <p:cNvSpPr/>
          <p:nvPr/>
        </p:nvSpPr>
        <p:spPr>
          <a:xfrm>
            <a:off x="6346440" y="1155960"/>
            <a:ext cx="2513520" cy="1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559966"/>
                </a:solidFill>
                <a:latin typeface="Courier New"/>
                <a:ea typeface="Courier New"/>
              </a:rPr>
              <a:t>Up to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414"/>
          <p:cNvSpPr/>
          <p:nvPr/>
        </p:nvSpPr>
        <p:spPr>
          <a:xfrm>
            <a:off x="6346440" y="1284120"/>
            <a:ext cx="2513520" cy="30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6A34A"/>
                </a:solidFill>
                <a:latin typeface="Courier New"/>
                <a:ea typeface="Courier New"/>
              </a:rPr>
              <a:t>85%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415"/>
          <p:cNvSpPr/>
          <p:nvPr/>
        </p:nvSpPr>
        <p:spPr>
          <a:xfrm>
            <a:off x="6346440" y="1604160"/>
            <a:ext cx="2513520" cy="14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559966"/>
                </a:solidFill>
                <a:latin typeface="Courier New"/>
                <a:ea typeface="Courier New"/>
              </a:rPr>
              <a:t>lower deployment cost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416"/>
          <p:cNvSpPr/>
          <p:nvPr/>
        </p:nvSpPr>
        <p:spPr>
          <a:xfrm>
            <a:off x="6346440" y="1704600"/>
            <a:ext cx="2513520" cy="12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3D7A50"/>
                </a:solidFill>
                <a:latin typeface="Courier New"/>
                <a:ea typeface="Courier New"/>
              </a:rPr>
              <a:t>vs. incumbent solutions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346"/>
          <p:cNvSpPr/>
          <p:nvPr/>
        </p:nvSpPr>
        <p:spPr>
          <a:xfrm>
            <a:off x="265680" y="1969920"/>
            <a:ext cx="8594280" cy="456120"/>
          </a:xfrm>
          <a:prstGeom prst="rect">
            <a:avLst/>
          </a:prstGeom>
          <a:solidFill>
            <a:srgbClr val="1A1A1A"/>
          </a:solidFill>
          <a:ln w="12600">
            <a:solidFill>
              <a:srgbClr val="1A1A1A"/>
            </a:solidFill>
            <a:round/>
          </a:ln>
          <a:effectLst>
            <a:outerShdw blurRad="88920" dist="25455" dir="8100000" rotWithShape="0">
              <a:srgbClr val="000000">
                <a:alpha val="9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5" name="Text 417"/>
          <p:cNvSpPr/>
          <p:nvPr/>
        </p:nvSpPr>
        <p:spPr>
          <a:xfrm>
            <a:off x="265680" y="2006280"/>
            <a:ext cx="1717920" cy="20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ED4E33"/>
                </a:solidFill>
                <a:latin typeface="Courier New"/>
                <a:ea typeface="Courier New"/>
              </a:rPr>
              <a:t>500,000+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418"/>
          <p:cNvSpPr/>
          <p:nvPr/>
        </p:nvSpPr>
        <p:spPr>
          <a:xfrm>
            <a:off x="302400" y="2225880"/>
            <a:ext cx="1644840" cy="1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777777"/>
                </a:solidFill>
                <a:latin typeface="Courier New"/>
                <a:ea typeface="Courier New"/>
              </a:rPr>
              <a:t>Indian SME factories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347"/>
          <p:cNvSpPr/>
          <p:nvPr/>
        </p:nvSpPr>
        <p:spPr>
          <a:xfrm>
            <a:off x="1984680" y="2043000"/>
            <a:ext cx="9720" cy="309960"/>
          </a:xfrm>
          <a:prstGeom prst="rect">
            <a:avLst/>
          </a:prstGeom>
          <a:solidFill>
            <a:srgbClr val="333333"/>
          </a:solidFill>
          <a:ln w="1260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8" name="Text 419"/>
          <p:cNvSpPr/>
          <p:nvPr/>
        </p:nvSpPr>
        <p:spPr>
          <a:xfrm>
            <a:off x="1984680" y="2006280"/>
            <a:ext cx="1717920" cy="20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DC2626"/>
                </a:solidFill>
                <a:latin typeface="Courier New"/>
                <a:ea typeface="Courier New"/>
              </a:rPr>
              <a:t>85%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420"/>
          <p:cNvSpPr/>
          <p:nvPr/>
        </p:nvSpPr>
        <p:spPr>
          <a:xfrm>
            <a:off x="2021400" y="2225880"/>
            <a:ext cx="1644840" cy="1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777777"/>
                </a:solidFill>
                <a:latin typeface="Courier New"/>
                <a:ea typeface="Courier New"/>
              </a:rPr>
              <a:t>downtime from rotating machinery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348"/>
          <p:cNvSpPr/>
          <p:nvPr/>
        </p:nvSpPr>
        <p:spPr>
          <a:xfrm>
            <a:off x="3703680" y="2043000"/>
            <a:ext cx="9720" cy="309960"/>
          </a:xfrm>
          <a:prstGeom prst="rect">
            <a:avLst/>
          </a:prstGeom>
          <a:solidFill>
            <a:srgbClr val="333333"/>
          </a:solidFill>
          <a:ln w="1260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1" name="Text 421"/>
          <p:cNvSpPr/>
          <p:nvPr/>
        </p:nvSpPr>
        <p:spPr>
          <a:xfrm>
            <a:off x="3703680" y="2006280"/>
            <a:ext cx="1717920" cy="20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2563EB"/>
                </a:solidFill>
                <a:latin typeface="Courier New"/>
                <a:ea typeface="Courier New"/>
              </a:rPr>
              <a:t>&lt;3%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422"/>
          <p:cNvSpPr/>
          <p:nvPr/>
        </p:nvSpPr>
        <p:spPr>
          <a:xfrm>
            <a:off x="3740400" y="2225880"/>
            <a:ext cx="1644840" cy="1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777777"/>
                </a:solidFill>
                <a:latin typeface="Courier New"/>
                <a:ea typeface="Courier New"/>
              </a:rPr>
              <a:t>currently using predictive maintenance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349"/>
          <p:cNvSpPr/>
          <p:nvPr/>
        </p:nvSpPr>
        <p:spPr>
          <a:xfrm>
            <a:off x="5423040" y="2043000"/>
            <a:ext cx="9720" cy="309960"/>
          </a:xfrm>
          <a:prstGeom prst="rect">
            <a:avLst/>
          </a:prstGeom>
          <a:solidFill>
            <a:srgbClr val="333333"/>
          </a:solidFill>
          <a:ln w="1260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4" name="Text 423"/>
          <p:cNvSpPr/>
          <p:nvPr/>
        </p:nvSpPr>
        <p:spPr>
          <a:xfrm>
            <a:off x="5423040" y="2006280"/>
            <a:ext cx="1717920" cy="20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6A34A"/>
                </a:solidFill>
                <a:latin typeface="Courier New"/>
                <a:ea typeface="Courier New"/>
              </a:rPr>
              <a:t>₹2,491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424"/>
          <p:cNvSpPr/>
          <p:nvPr/>
        </p:nvSpPr>
        <p:spPr>
          <a:xfrm>
            <a:off x="5459400" y="2225880"/>
            <a:ext cx="1644840" cy="1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700" b="0" strike="noStrike" spc="-1">
                <a:solidFill>
                  <a:srgbClr val="777777"/>
                </a:solidFill>
                <a:latin typeface="Courier New"/>
                <a:ea typeface="Courier New"/>
              </a:rPr>
              <a:t>Per sensor node (Tier 1 BOM cost)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350"/>
          <p:cNvSpPr/>
          <p:nvPr/>
        </p:nvSpPr>
        <p:spPr>
          <a:xfrm>
            <a:off x="7142040" y="2043000"/>
            <a:ext cx="9720" cy="309960"/>
          </a:xfrm>
          <a:prstGeom prst="rect">
            <a:avLst/>
          </a:prstGeom>
          <a:solidFill>
            <a:srgbClr val="333333"/>
          </a:solidFill>
          <a:ln w="1260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7" name="Text 425"/>
          <p:cNvSpPr/>
          <p:nvPr/>
        </p:nvSpPr>
        <p:spPr>
          <a:xfrm>
            <a:off x="7142040" y="2006280"/>
            <a:ext cx="1717920" cy="20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7C3AED"/>
                </a:solidFill>
                <a:latin typeface="Courier New"/>
                <a:ea typeface="Courier New"/>
              </a:rPr>
              <a:t>Air-gapped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426"/>
          <p:cNvSpPr/>
          <p:nvPr/>
        </p:nvSpPr>
        <p:spPr>
          <a:xfrm>
            <a:off x="7178400" y="2225880"/>
            <a:ext cx="1644840" cy="1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777777"/>
                </a:solidFill>
                <a:latin typeface="Courier New"/>
                <a:ea typeface="Courier New"/>
              </a:rPr>
              <a:t>zero cloud · factory intranet only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351"/>
          <p:cNvSpPr/>
          <p:nvPr/>
        </p:nvSpPr>
        <p:spPr>
          <a:xfrm>
            <a:off x="265680" y="2545920"/>
            <a:ext cx="2742120" cy="1516680"/>
          </a:xfrm>
          <a:prstGeom prst="rect">
            <a:avLst/>
          </a:prstGeom>
          <a:solidFill>
            <a:srgbClr val="EFF6FF"/>
          </a:solidFill>
          <a:ln w="19080">
            <a:solidFill>
              <a:srgbClr val="2563EB"/>
            </a:solidFill>
            <a:round/>
          </a:ln>
          <a:effectLst>
            <a:outerShdw blurRad="88920" dist="25455" dir="8100000" rotWithShape="0">
              <a:srgbClr val="000000">
                <a:alpha val="9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0" name="Shape 352"/>
          <p:cNvSpPr/>
          <p:nvPr/>
        </p:nvSpPr>
        <p:spPr>
          <a:xfrm>
            <a:off x="265680" y="2545920"/>
            <a:ext cx="2742120" cy="39960"/>
          </a:xfrm>
          <a:prstGeom prst="rect">
            <a:avLst/>
          </a:prstGeom>
          <a:solidFill>
            <a:srgbClr val="2563EB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1" name="Text 427"/>
          <p:cNvSpPr/>
          <p:nvPr/>
        </p:nvSpPr>
        <p:spPr>
          <a:xfrm>
            <a:off x="375480" y="2619000"/>
            <a:ext cx="2522520" cy="12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111">
                <a:solidFill>
                  <a:srgbClr val="2563EB"/>
                </a:solidFill>
                <a:latin typeface="Courier New"/>
                <a:ea typeface="Courier New"/>
              </a:rPr>
              <a:t>WHAT IT TARGETS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428"/>
          <p:cNvSpPr/>
          <p:nvPr/>
        </p:nvSpPr>
        <p:spPr>
          <a:xfrm>
            <a:off x="375480" y="2765160"/>
            <a:ext cx="252252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A1A1A"/>
                </a:solidFill>
                <a:latin typeface="Calibri"/>
                <a:ea typeface="Calibri"/>
              </a:rPr>
              <a:t>⚙  Critical Rotating Machinery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353"/>
          <p:cNvSpPr/>
          <p:nvPr/>
        </p:nvSpPr>
        <p:spPr>
          <a:xfrm>
            <a:off x="375480" y="3021480"/>
            <a:ext cx="2522520" cy="9720"/>
          </a:xfrm>
          <a:prstGeom prst="rect">
            <a:avLst/>
          </a:prstGeom>
          <a:solidFill>
            <a:srgbClr val="2563EB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4" name="Text 429"/>
          <p:cNvSpPr/>
          <p:nvPr/>
        </p:nvSpPr>
        <p:spPr>
          <a:xfrm>
            <a:off x="375480" y="3078336"/>
            <a:ext cx="2522520" cy="20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2563EB"/>
                </a:solidFill>
                <a:latin typeface="Courier New"/>
                <a:ea typeface="Courier New"/>
              </a:rPr>
              <a:t>Compressors  ·  Pumps  ·  Motors  ·  Bearings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430"/>
          <p:cNvSpPr/>
          <p:nvPr/>
        </p:nvSpPr>
        <p:spPr>
          <a:xfrm>
            <a:off x="375480" y="3277440"/>
            <a:ext cx="2522520" cy="71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A single undetected failure stops entire production lines. Rotating machinery accounts for 85% of all industrial mechanical downtime.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354"/>
          <p:cNvSpPr/>
          <p:nvPr/>
        </p:nvSpPr>
        <p:spPr>
          <a:xfrm>
            <a:off x="3169080" y="2545920"/>
            <a:ext cx="2742120" cy="1516680"/>
          </a:xfrm>
          <a:prstGeom prst="rect">
            <a:avLst/>
          </a:prstGeom>
          <a:solidFill>
            <a:srgbClr val="F5F3FF"/>
          </a:solidFill>
          <a:ln w="19080">
            <a:solidFill>
              <a:srgbClr val="7C3AED"/>
            </a:solidFill>
            <a:round/>
          </a:ln>
          <a:effectLst>
            <a:outerShdw blurRad="88920" dist="25455" dir="8100000" rotWithShape="0">
              <a:srgbClr val="000000">
                <a:alpha val="9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7" name="Shape 355"/>
          <p:cNvSpPr/>
          <p:nvPr/>
        </p:nvSpPr>
        <p:spPr>
          <a:xfrm>
            <a:off x="3169080" y="2545920"/>
            <a:ext cx="2742120" cy="39960"/>
          </a:xfrm>
          <a:prstGeom prst="rect">
            <a:avLst/>
          </a:prstGeom>
          <a:solidFill>
            <a:srgbClr val="7C3AED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8" name="Text 431"/>
          <p:cNvSpPr/>
          <p:nvPr/>
        </p:nvSpPr>
        <p:spPr>
          <a:xfrm>
            <a:off x="3278520" y="2619000"/>
            <a:ext cx="2522520" cy="12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111">
                <a:solidFill>
                  <a:srgbClr val="7C3AED"/>
                </a:solidFill>
                <a:latin typeface="Courier New"/>
                <a:ea typeface="Courier New"/>
              </a:rPr>
              <a:t>HOW IT DETECTS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432"/>
          <p:cNvSpPr/>
          <p:nvPr/>
        </p:nvSpPr>
        <p:spPr>
          <a:xfrm>
            <a:off x="3278520" y="2765160"/>
            <a:ext cx="252252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A1A1A"/>
                </a:solidFill>
                <a:latin typeface="Calibri"/>
                <a:ea typeface="Calibri"/>
              </a:rPr>
              <a:t>📊  Physics-First Fault Detection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356"/>
          <p:cNvSpPr/>
          <p:nvPr/>
        </p:nvSpPr>
        <p:spPr>
          <a:xfrm>
            <a:off x="3278520" y="3021480"/>
            <a:ext cx="2522520" cy="9720"/>
          </a:xfrm>
          <a:prstGeom prst="rect">
            <a:avLst/>
          </a:prstGeom>
          <a:solidFill>
            <a:srgbClr val="7C3AED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1" name="Text 433"/>
          <p:cNvSpPr/>
          <p:nvPr/>
        </p:nvSpPr>
        <p:spPr>
          <a:xfrm>
            <a:off x="3278520" y="3063588"/>
            <a:ext cx="2522520" cy="20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 dirty="0">
                <a:solidFill>
                  <a:srgbClr val="7C3AED"/>
                </a:solidFill>
                <a:latin typeface="Courier New"/>
                <a:ea typeface="Courier New"/>
              </a:rPr>
              <a:t>Bearing wear  ·  Misalignment  ·  Imbalance  ·  Looseness</a:t>
            </a:r>
            <a:endParaRPr lang="en-US" sz="8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434"/>
          <p:cNvSpPr/>
          <p:nvPr/>
        </p:nvSpPr>
        <p:spPr>
          <a:xfrm>
            <a:off x="3278520" y="3277440"/>
            <a:ext cx="2522520" cy="71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Spectral signatures from FFTW3 FFT — ISO 10816 / ISO 13373 compliant. No black-box AI — physics validates every alert.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357"/>
          <p:cNvSpPr/>
          <p:nvPr/>
        </p:nvSpPr>
        <p:spPr>
          <a:xfrm>
            <a:off x="6072120" y="2545920"/>
            <a:ext cx="2742120" cy="1516680"/>
          </a:xfrm>
          <a:prstGeom prst="rect">
            <a:avLst/>
          </a:prstGeom>
          <a:solidFill>
            <a:srgbClr val="F0FDF4"/>
          </a:solidFill>
          <a:ln w="19080">
            <a:solidFill>
              <a:srgbClr val="16A34A"/>
            </a:solidFill>
            <a:round/>
          </a:ln>
          <a:effectLst>
            <a:outerShdw blurRad="88920" dist="25455" dir="8100000" rotWithShape="0">
              <a:srgbClr val="000000">
                <a:alpha val="9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4" name="Shape 358"/>
          <p:cNvSpPr/>
          <p:nvPr/>
        </p:nvSpPr>
        <p:spPr>
          <a:xfrm>
            <a:off x="6072120" y="2545920"/>
            <a:ext cx="2742120" cy="39960"/>
          </a:xfrm>
          <a:prstGeom prst="rect">
            <a:avLst/>
          </a:prstGeom>
          <a:solidFill>
            <a:srgbClr val="16A34A"/>
          </a:solidFill>
          <a:ln w="126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5" name="Text 435"/>
          <p:cNvSpPr/>
          <p:nvPr/>
        </p:nvSpPr>
        <p:spPr>
          <a:xfrm>
            <a:off x="6181920" y="2619000"/>
            <a:ext cx="2522520" cy="12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111">
                <a:solidFill>
                  <a:srgbClr val="16A34A"/>
                </a:solidFill>
                <a:latin typeface="Courier New"/>
                <a:ea typeface="Courier New"/>
              </a:rPr>
              <a:t>WHY NOW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436"/>
          <p:cNvSpPr/>
          <p:nvPr/>
        </p:nvSpPr>
        <p:spPr>
          <a:xfrm>
            <a:off x="6181920" y="2765160"/>
            <a:ext cx="252252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A1A1A"/>
                </a:solidFill>
                <a:latin typeface="Calibri"/>
                <a:ea typeface="Calibri"/>
              </a:rPr>
              <a:t>🛡  The Unserved 97% of Market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359"/>
          <p:cNvSpPr/>
          <p:nvPr/>
        </p:nvSpPr>
        <p:spPr>
          <a:xfrm>
            <a:off x="6181920" y="3021480"/>
            <a:ext cx="2522520" cy="9720"/>
          </a:xfrm>
          <a:prstGeom prst="rect">
            <a:avLst/>
          </a:prstGeom>
          <a:solidFill>
            <a:srgbClr val="16A34A"/>
          </a:solidFill>
          <a:ln w="126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68" name="Text 437"/>
          <p:cNvSpPr/>
          <p:nvPr/>
        </p:nvSpPr>
        <p:spPr>
          <a:xfrm>
            <a:off x="6181920" y="3073420"/>
            <a:ext cx="2522520" cy="20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16A34A"/>
                </a:solidFill>
                <a:latin typeface="Courier New"/>
                <a:ea typeface="Courier New"/>
              </a:rPr>
              <a:t>SME India  ·  &lt;3% adoption today  ·  Zero cloud needed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438"/>
          <p:cNvSpPr/>
          <p:nvPr/>
        </p:nvSpPr>
        <p:spPr>
          <a:xfrm>
            <a:off x="6181920" y="3277440"/>
            <a:ext cx="2522520" cy="71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Incumbents target enterprise plants. 500,000+ SME factories remain completely unserved. Resonance is designed specifically for them.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360"/>
          <p:cNvSpPr/>
          <p:nvPr/>
        </p:nvSpPr>
        <p:spPr>
          <a:xfrm>
            <a:off x="-8640" y="4155120"/>
            <a:ext cx="9142920" cy="602280"/>
          </a:xfrm>
          <a:prstGeom prst="rect">
            <a:avLst/>
          </a:prstGeom>
          <a:solidFill>
            <a:srgbClr val="1A1A1A"/>
          </a:solidFill>
          <a:ln w="12600">
            <a:solidFill>
              <a:srgbClr val="1A1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1" name="Shape 361"/>
          <p:cNvSpPr/>
          <p:nvPr/>
        </p:nvSpPr>
        <p:spPr>
          <a:xfrm>
            <a:off x="265680" y="4264920"/>
            <a:ext cx="44640" cy="38304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72" name="Text 439"/>
          <p:cNvSpPr/>
          <p:nvPr/>
        </p:nvSpPr>
        <p:spPr>
          <a:xfrm>
            <a:off x="393840" y="4173480"/>
            <a:ext cx="254880" cy="32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333333"/>
                </a:solidFill>
                <a:latin typeface="Georgia"/>
                <a:ea typeface="Georgia"/>
              </a:rPr>
              <a:t>"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440"/>
          <p:cNvSpPr/>
          <p:nvPr/>
        </p:nvSpPr>
        <p:spPr>
          <a:xfrm>
            <a:off x="649800" y="422820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CCCCCC"/>
                </a:solidFill>
                <a:latin typeface="Calibri"/>
                <a:ea typeface="Calibri"/>
              </a:rPr>
              <a:t>First </a:t>
            </a: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Calibri"/>
              </a:rPr>
              <a:t>offline, physics-first vibration intelligence system</a:t>
            </a:r>
            <a:r>
              <a:rPr lang="en-US" sz="1000" b="0" strike="noStrike" spc="-1">
                <a:solidFill>
                  <a:srgbClr val="CCCCCC"/>
                </a:solidFill>
                <a:latin typeface="Calibri"/>
                <a:ea typeface="Calibri"/>
              </a:rPr>
              <a:t> built natively for </a:t>
            </a:r>
            <a:r>
              <a:rPr lang="en-US" sz="1000" b="1" strike="noStrike" spc="-1">
                <a:solidFill>
                  <a:srgbClr val="ED4E33"/>
                </a:solidFill>
                <a:latin typeface="Calibri"/>
                <a:ea typeface="Calibri"/>
              </a:rPr>
              <a:t>AMD edge AI</a:t>
            </a:r>
            <a:r>
              <a:rPr lang="en-US" sz="1000" b="0" strike="noStrike" spc="-1">
                <a:solidFill>
                  <a:srgbClr val="CCCCCC"/>
                </a:solidFill>
                <a:latin typeface="Calibri"/>
                <a:ea typeface="Calibri"/>
              </a:rPr>
              <a:t> — designed for </a:t>
            </a: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Calibri"/>
              </a:rPr>
              <a:t>500,000+ Indian SME factories</a:t>
            </a:r>
            <a:r>
              <a:rPr lang="en-US" sz="1000" b="0" strike="noStrike" spc="-1">
                <a:solidFill>
                  <a:srgbClr val="CCCCCC"/>
                </a:solidFill>
                <a:latin typeface="Calibri"/>
                <a:ea typeface="Calibri"/>
              </a:rPr>
              <a:t> ignored by existing solutions.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441"/>
          <p:cNvSpPr/>
          <p:nvPr/>
        </p:nvSpPr>
        <p:spPr>
          <a:xfrm>
            <a:off x="265680" y="4795200"/>
            <a:ext cx="8594280" cy="12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-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/>
                <a:ea typeface="Courier New"/>
              </a:rPr>
              <a:t>* Based on industry deployment ranges; varies by configuration and region.</a:t>
            </a:r>
            <a:endParaRPr lang="en-US" sz="650" b="0" strike="noStrike" spc="-1" dirty="0">
              <a:solidFill>
                <a:schemeClr val="tx1">
                  <a:lumMod val="85000"/>
                  <a:lumOff val="15000"/>
                </a:schemeClr>
              </a:solidFill>
              <a:latin typeface="Arial"/>
            </a:endParaRPr>
          </a:p>
        </p:txBody>
      </p:sp>
      <p:sp>
        <p:nvSpPr>
          <p:cNvPr id="175" name="Shape 362"/>
          <p:cNvSpPr/>
          <p:nvPr/>
        </p:nvSpPr>
        <p:spPr>
          <a:xfrm>
            <a:off x="-12960" y="5093640"/>
            <a:ext cx="9142920" cy="4464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176" name="Google Shape;82;p 2"/>
          <p:cNvPicPr/>
          <p:nvPr/>
        </p:nvPicPr>
        <p:blipFill>
          <a:blip r:embed="rId3"/>
          <a:srcRect b="89083"/>
          <a:stretch/>
        </p:blipFill>
        <p:spPr>
          <a:xfrm>
            <a:off x="0" y="0"/>
            <a:ext cx="9142200" cy="559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81"/>
          <p:cNvSpPr/>
          <p:nvPr/>
        </p:nvSpPr>
        <p:spPr>
          <a:xfrm>
            <a:off x="255960" y="646092"/>
            <a:ext cx="8686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620" b="1" strike="noStrike" spc="-1">
                <a:solidFill>
                  <a:schemeClr val="dk1"/>
                </a:solidFill>
                <a:latin typeface="Poppins"/>
                <a:ea typeface="Poppins"/>
              </a:rPr>
              <a:t>List of features offered by</a:t>
            </a:r>
            <a:r>
              <a:rPr lang="en-US" sz="1450" b="1" strike="noStrike" spc="-1">
                <a:solidFill>
                  <a:srgbClr val="1A1A1A"/>
                </a:solidFill>
                <a:latin typeface="Calibri"/>
                <a:ea typeface="Calibri"/>
              </a:rPr>
              <a:t> Resonance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82"/>
          <p:cNvSpPr/>
          <p:nvPr/>
        </p:nvSpPr>
        <p:spPr>
          <a:xfrm>
            <a:off x="255960" y="902052"/>
            <a:ext cx="86864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38">
                <a:solidFill>
                  <a:srgbClr val="6B7280"/>
                </a:solidFill>
                <a:latin typeface="Courier New"/>
                <a:ea typeface="Courier New"/>
              </a:rPr>
              <a:t>Real system  ·  Real data  ·  Running on AMD Ryzen AI XDNA NPU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583"/>
          <p:cNvSpPr/>
          <p:nvPr/>
        </p:nvSpPr>
        <p:spPr>
          <a:xfrm>
            <a:off x="50400" y="1062252"/>
            <a:ext cx="5207040" cy="3465360"/>
          </a:xfrm>
          <a:prstGeom prst="rect">
            <a:avLst/>
          </a:prstGeom>
          <a:solidFill>
            <a:srgbClr val="ED4E33"/>
          </a:solidFill>
          <a:ln w="127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4" name="Image 2" descr="preencoded.png"/>
          <p:cNvPicPr/>
          <p:nvPr/>
        </p:nvPicPr>
        <p:blipFill>
          <a:blip r:embed="rId3"/>
          <a:stretch/>
        </p:blipFill>
        <p:spPr>
          <a:xfrm>
            <a:off x="109080" y="1084932"/>
            <a:ext cx="5127840" cy="3419640"/>
          </a:xfrm>
          <a:prstGeom prst="rect">
            <a:avLst/>
          </a:prstGeom>
          <a:ln w="0">
            <a:noFill/>
          </a:ln>
        </p:spPr>
      </p:pic>
      <p:sp>
        <p:nvSpPr>
          <p:cNvPr id="185" name="Shape 584"/>
          <p:cNvSpPr/>
          <p:nvPr/>
        </p:nvSpPr>
        <p:spPr>
          <a:xfrm>
            <a:off x="109080" y="4285332"/>
            <a:ext cx="5120280" cy="219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735"/>
          <p:cNvSpPr/>
          <p:nvPr/>
        </p:nvSpPr>
        <p:spPr>
          <a:xfrm>
            <a:off x="164520" y="4294692"/>
            <a:ext cx="493740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49">
                <a:solidFill>
                  <a:srgbClr val="ED4E33"/>
                </a:solidFill>
                <a:latin typeface="Courier New"/>
                <a:ea typeface="Courier New"/>
              </a:rPr>
              <a:t>LIVE PROTOTYPE  ·  Resonance Dashboard v1.0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586"/>
          <p:cNvSpPr/>
          <p:nvPr/>
        </p:nvSpPr>
        <p:spPr>
          <a:xfrm>
            <a:off x="5321880" y="1084932"/>
            <a:ext cx="3748680" cy="81000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round/>
          </a:ln>
          <a:effectLst>
            <a:outerShdw blurRad="88920" dist="25455" dir="8100000" algn="bl" rotWithShape="0">
              <a:srgbClr val="000000">
                <a:alpha val="9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587"/>
          <p:cNvSpPr/>
          <p:nvPr/>
        </p:nvSpPr>
        <p:spPr>
          <a:xfrm>
            <a:off x="5321880" y="1084932"/>
            <a:ext cx="45360" cy="810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737"/>
          <p:cNvSpPr/>
          <p:nvPr/>
        </p:nvSpPr>
        <p:spPr>
          <a:xfrm>
            <a:off x="5431680" y="1149012"/>
            <a:ext cx="2998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A1A1A"/>
                </a:solidFill>
                <a:latin typeface="Calibri"/>
                <a:ea typeface="Calibri"/>
              </a:rPr>
              <a:t>⚙  Signal Processing  ·  Physics-First DSP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588"/>
          <p:cNvSpPr/>
          <p:nvPr/>
        </p:nvSpPr>
        <p:spPr>
          <a:xfrm>
            <a:off x="5431680" y="1404972"/>
            <a:ext cx="2925720" cy="10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738"/>
          <p:cNvSpPr/>
          <p:nvPr/>
        </p:nvSpPr>
        <p:spPr>
          <a:xfrm>
            <a:off x="5431680" y="1423332"/>
            <a:ext cx="29988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222222"/>
                </a:solidFill>
                <a:latin typeface="Calibri"/>
                <a:ea typeface="Calibri"/>
              </a:rPr>
              <a:t>High-pass 100Hz + Low-pass 12kHz  ·  C++17 IsolationFilter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739"/>
          <p:cNvSpPr/>
          <p:nvPr/>
        </p:nvSpPr>
        <p:spPr>
          <a:xfrm>
            <a:off x="5431680" y="1624572"/>
            <a:ext cx="29988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2048-pt FFT  ·  75% overlap  ·  1024×64 log-magnitude spectrogram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589"/>
          <p:cNvSpPr/>
          <p:nvPr/>
        </p:nvSpPr>
        <p:spPr>
          <a:xfrm>
            <a:off x="8467200" y="1362132"/>
            <a:ext cx="511560" cy="255600"/>
          </a:xfrm>
          <a:prstGeom prst="rect">
            <a:avLst/>
          </a:prstGeom>
          <a:solidFill>
            <a:srgbClr val="1A1A1A"/>
          </a:solidFill>
          <a:ln w="1905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740"/>
          <p:cNvSpPr/>
          <p:nvPr/>
        </p:nvSpPr>
        <p:spPr>
          <a:xfrm>
            <a:off x="8467200" y="1362132"/>
            <a:ext cx="511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2563EB"/>
                </a:solidFill>
                <a:latin typeface="Courier New"/>
                <a:ea typeface="Courier New"/>
              </a:rPr>
              <a:t>TIER 1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590"/>
          <p:cNvSpPr/>
          <p:nvPr/>
        </p:nvSpPr>
        <p:spPr>
          <a:xfrm>
            <a:off x="5321880" y="1954692"/>
            <a:ext cx="3748680" cy="810000"/>
          </a:xfrm>
          <a:prstGeom prst="rect">
            <a:avLst/>
          </a:prstGeom>
          <a:solidFill>
            <a:srgbClr val="FEF3C7"/>
          </a:solidFill>
          <a:ln w="19050">
            <a:solidFill>
              <a:srgbClr val="B45309"/>
            </a:solidFill>
            <a:round/>
          </a:ln>
          <a:effectLst>
            <a:outerShdw blurRad="88920" dist="25455" dir="8100000" algn="bl" rotWithShape="0">
              <a:srgbClr val="000000">
                <a:alpha val="9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591"/>
          <p:cNvSpPr/>
          <p:nvPr/>
        </p:nvSpPr>
        <p:spPr>
          <a:xfrm>
            <a:off x="5321880" y="1954692"/>
            <a:ext cx="45360" cy="810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741"/>
          <p:cNvSpPr/>
          <p:nvPr/>
        </p:nvSpPr>
        <p:spPr>
          <a:xfrm>
            <a:off x="5431680" y="1982772"/>
            <a:ext cx="2998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A1A1A"/>
                </a:solidFill>
                <a:latin typeface="Calibri"/>
                <a:ea typeface="Calibri"/>
              </a:rPr>
              <a:t>⚡  Deterministic Safety Gate  ·  Hardware Alarm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592"/>
          <p:cNvSpPr/>
          <p:nvPr/>
        </p:nvSpPr>
        <p:spPr>
          <a:xfrm>
            <a:off x="5431680" y="2238732"/>
            <a:ext cx="2925720" cy="104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742"/>
          <p:cNvSpPr/>
          <p:nvPr/>
        </p:nvSpPr>
        <p:spPr>
          <a:xfrm>
            <a:off x="5431680" y="2293092"/>
            <a:ext cx="29988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222222"/>
                </a:solidFill>
                <a:latin typeface="Calibri"/>
                <a:ea typeface="Calibri"/>
              </a:rPr>
              <a:t>RMS threshold check — fires independently of AI, cannot be bypassed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743"/>
          <p:cNvSpPr/>
          <p:nvPr/>
        </p:nvSpPr>
        <p:spPr>
          <a:xfrm>
            <a:off x="5431680" y="2494332"/>
            <a:ext cx="29988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Sub-100ms end-to-end  ·  &lt;1ms gate response  ·  ISO 10816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593"/>
          <p:cNvSpPr/>
          <p:nvPr/>
        </p:nvSpPr>
        <p:spPr>
          <a:xfrm>
            <a:off x="8467200" y="2231892"/>
            <a:ext cx="511560" cy="255600"/>
          </a:xfrm>
          <a:prstGeom prst="rect">
            <a:avLst/>
          </a:prstGeom>
          <a:solidFill>
            <a:srgbClr val="1A1A1A"/>
          </a:solidFill>
          <a:ln w="19050">
            <a:solidFill>
              <a:srgbClr val="B4530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744"/>
          <p:cNvSpPr/>
          <p:nvPr/>
        </p:nvSpPr>
        <p:spPr>
          <a:xfrm>
            <a:off x="8467200" y="2231892"/>
            <a:ext cx="511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B45309"/>
                </a:solidFill>
                <a:latin typeface="Courier New"/>
                <a:ea typeface="Courier New"/>
              </a:rPr>
              <a:t>&lt;1ms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594"/>
          <p:cNvSpPr/>
          <p:nvPr/>
        </p:nvSpPr>
        <p:spPr>
          <a:xfrm>
            <a:off x="5321880" y="2824812"/>
            <a:ext cx="3748680" cy="810000"/>
          </a:xfrm>
          <a:prstGeom prst="rect">
            <a:avLst/>
          </a:prstGeom>
          <a:solidFill>
            <a:srgbClr val="FFF7F5"/>
          </a:solidFill>
          <a:ln w="19050">
            <a:solidFill>
              <a:srgbClr val="ED4E33"/>
            </a:solidFill>
            <a:round/>
          </a:ln>
          <a:effectLst>
            <a:outerShdw blurRad="177840" dist="37674" dir="8100000" algn="bl" rotWithShape="0">
              <a:srgbClr val="000000">
                <a:alpha val="1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595"/>
          <p:cNvSpPr/>
          <p:nvPr/>
        </p:nvSpPr>
        <p:spPr>
          <a:xfrm>
            <a:off x="5321880" y="2824812"/>
            <a:ext cx="54360" cy="810000"/>
          </a:xfrm>
          <a:prstGeom prst="rect">
            <a:avLst/>
          </a:prstGeom>
          <a:solidFill>
            <a:srgbClr val="ED4E33"/>
          </a:solidFill>
          <a:ln w="127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745"/>
          <p:cNvSpPr/>
          <p:nvPr/>
        </p:nvSpPr>
        <p:spPr>
          <a:xfrm>
            <a:off x="5431680" y="2888532"/>
            <a:ext cx="2998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A1A1A"/>
                </a:solidFill>
                <a:latin typeface="Calibri"/>
                <a:ea typeface="Calibri"/>
              </a:rPr>
              <a:t>🧠  AI Fault Detection  ·  ConvAutoencoder on AMD NPU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596"/>
          <p:cNvSpPr/>
          <p:nvPr/>
        </p:nvSpPr>
        <p:spPr>
          <a:xfrm>
            <a:off x="5431680" y="3144852"/>
            <a:ext cx="2925720" cy="10440"/>
          </a:xfrm>
          <a:prstGeom prst="rect">
            <a:avLst/>
          </a:prstGeom>
          <a:solidFill>
            <a:srgbClr val="ED4E33"/>
          </a:solidFill>
          <a:ln w="127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746"/>
          <p:cNvSpPr/>
          <p:nvPr/>
        </p:nvSpPr>
        <p:spPr>
          <a:xfrm>
            <a:off x="5431680" y="3162852"/>
            <a:ext cx="29988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222222"/>
                </a:solidFill>
                <a:latin typeface="Calibri"/>
                <a:ea typeface="Calibri"/>
              </a:rPr>
              <a:t>Trained exclusively on healthy data  ·  MSE &gt; 0.180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747"/>
          <p:cNvSpPr/>
          <p:nvPr/>
        </p:nvSpPr>
        <p:spPr>
          <a:xfrm>
            <a:off x="5431680" y="3364092"/>
            <a:ext cx="29988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Bearing wear  ·  misalignment  ·  imbalance  ·  looseness  ·  4.7ms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597"/>
          <p:cNvSpPr/>
          <p:nvPr/>
        </p:nvSpPr>
        <p:spPr>
          <a:xfrm>
            <a:off x="8467200" y="3101652"/>
            <a:ext cx="511560" cy="255600"/>
          </a:xfrm>
          <a:prstGeom prst="rect">
            <a:avLst/>
          </a:prstGeom>
          <a:solidFill>
            <a:srgbClr val="1A1A1A"/>
          </a:solidFill>
          <a:ln w="1905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748"/>
          <p:cNvSpPr/>
          <p:nvPr/>
        </p:nvSpPr>
        <p:spPr>
          <a:xfrm>
            <a:off x="8467200" y="3101652"/>
            <a:ext cx="511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ED4E33"/>
                </a:solidFill>
                <a:latin typeface="Courier New"/>
                <a:ea typeface="Courier New"/>
              </a:rPr>
              <a:t>TIER 2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598"/>
          <p:cNvSpPr/>
          <p:nvPr/>
        </p:nvSpPr>
        <p:spPr>
          <a:xfrm>
            <a:off x="5321880" y="3694572"/>
            <a:ext cx="3748680" cy="81000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round/>
          </a:ln>
          <a:effectLst>
            <a:outerShdw blurRad="88920" dist="25455" dir="8100000" algn="bl" rotWithShape="0">
              <a:srgbClr val="000000">
                <a:alpha val="9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599"/>
          <p:cNvSpPr/>
          <p:nvPr/>
        </p:nvSpPr>
        <p:spPr>
          <a:xfrm>
            <a:off x="5321880" y="3694572"/>
            <a:ext cx="45360" cy="810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749"/>
          <p:cNvSpPr/>
          <p:nvPr/>
        </p:nvSpPr>
        <p:spPr>
          <a:xfrm>
            <a:off x="5431680" y="3758652"/>
            <a:ext cx="2998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A1A1A"/>
                </a:solidFill>
                <a:latin typeface="Calibri"/>
                <a:ea typeface="Calibri"/>
              </a:rPr>
              <a:t>🌐  Human Interface  ·  Multilingual LLM Alerts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600"/>
          <p:cNvSpPr/>
          <p:nvPr/>
        </p:nvSpPr>
        <p:spPr>
          <a:xfrm>
            <a:off x="5431680" y="4014612"/>
            <a:ext cx="2925720" cy="10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750"/>
          <p:cNvSpPr/>
          <p:nvPr/>
        </p:nvSpPr>
        <p:spPr>
          <a:xfrm>
            <a:off x="5431680" y="4032972"/>
            <a:ext cx="29988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222222"/>
                </a:solidFill>
                <a:latin typeface="Calibri"/>
                <a:ea typeface="Calibri"/>
              </a:rPr>
              <a:t>Ollama local LLM  ·  English · Hindi · Marathi · offline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751"/>
          <p:cNvSpPr/>
          <p:nvPr/>
        </p:nvSpPr>
        <p:spPr>
          <a:xfrm>
            <a:off x="5431680" y="4233852"/>
            <a:ext cx="29988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Live waterfall spectrogram  ·  1× 2× 3× harmonic analysis  ·  React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601"/>
          <p:cNvSpPr/>
          <p:nvPr/>
        </p:nvSpPr>
        <p:spPr>
          <a:xfrm>
            <a:off x="8467200" y="3971772"/>
            <a:ext cx="511560" cy="255600"/>
          </a:xfrm>
          <a:prstGeom prst="rect">
            <a:avLst/>
          </a:prstGeom>
          <a:solidFill>
            <a:srgbClr val="1A1A1A"/>
          </a:solidFill>
          <a:ln w="1905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752"/>
          <p:cNvSpPr/>
          <p:nvPr/>
        </p:nvSpPr>
        <p:spPr>
          <a:xfrm>
            <a:off x="8467200" y="3971772"/>
            <a:ext cx="511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16A34A"/>
                </a:solidFill>
                <a:latin typeface="Courier New"/>
                <a:ea typeface="Courier New"/>
              </a:rPr>
              <a:t>TIER 3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602"/>
          <p:cNvSpPr/>
          <p:nvPr/>
        </p:nvSpPr>
        <p:spPr>
          <a:xfrm>
            <a:off x="0" y="4541292"/>
            <a:ext cx="9143640" cy="4201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753"/>
          <p:cNvSpPr/>
          <p:nvPr/>
        </p:nvSpPr>
        <p:spPr>
          <a:xfrm>
            <a:off x="0" y="4569012"/>
            <a:ext cx="1523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D4E33"/>
                </a:solidFill>
                <a:latin typeface="Courier New"/>
                <a:ea typeface="Courier New"/>
              </a:rPr>
              <a:t>&lt;100ms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754"/>
          <p:cNvSpPr/>
          <p:nvPr/>
        </p:nvSpPr>
        <p:spPr>
          <a:xfrm>
            <a:off x="18360" y="4806612"/>
            <a:ext cx="148716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666666"/>
                </a:solidFill>
                <a:latin typeface="Courier New"/>
                <a:ea typeface="Courier New"/>
              </a:rPr>
              <a:t>SENSOR→ALERT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603"/>
          <p:cNvSpPr/>
          <p:nvPr/>
        </p:nvSpPr>
        <p:spPr>
          <a:xfrm>
            <a:off x="1523880" y="4605372"/>
            <a:ext cx="10440" cy="29232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755"/>
          <p:cNvSpPr/>
          <p:nvPr/>
        </p:nvSpPr>
        <p:spPr>
          <a:xfrm>
            <a:off x="1523880" y="4569012"/>
            <a:ext cx="1523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563EB"/>
                </a:solidFill>
                <a:latin typeface="Courier New"/>
                <a:ea typeface="Courier New"/>
              </a:rPr>
              <a:t>2048-pt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756"/>
          <p:cNvSpPr/>
          <p:nvPr/>
        </p:nvSpPr>
        <p:spPr>
          <a:xfrm>
            <a:off x="1542240" y="4806612"/>
            <a:ext cx="148716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666666"/>
                </a:solidFill>
                <a:latin typeface="Courier New"/>
                <a:ea typeface="Courier New"/>
              </a:rPr>
              <a:t>FFT SIZE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604"/>
          <p:cNvSpPr/>
          <p:nvPr/>
        </p:nvSpPr>
        <p:spPr>
          <a:xfrm>
            <a:off x="3048120" y="4605372"/>
            <a:ext cx="10440" cy="29232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757"/>
          <p:cNvSpPr/>
          <p:nvPr/>
        </p:nvSpPr>
        <p:spPr>
          <a:xfrm>
            <a:off x="3048120" y="4569012"/>
            <a:ext cx="1523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D4E33"/>
                </a:solidFill>
                <a:latin typeface="Courier New"/>
                <a:ea typeface="Courier New"/>
              </a:rPr>
              <a:t>4.7ms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758"/>
          <p:cNvSpPr/>
          <p:nvPr/>
        </p:nvSpPr>
        <p:spPr>
          <a:xfrm>
            <a:off x="3066120" y="4806612"/>
            <a:ext cx="148716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666666"/>
                </a:solidFill>
                <a:latin typeface="Courier New"/>
                <a:ea typeface="Courier New"/>
              </a:rPr>
              <a:t>NPU INFERENCE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605"/>
          <p:cNvSpPr/>
          <p:nvPr/>
        </p:nvSpPr>
        <p:spPr>
          <a:xfrm>
            <a:off x="4572000" y="4605372"/>
            <a:ext cx="10440" cy="29232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759"/>
          <p:cNvSpPr/>
          <p:nvPr/>
        </p:nvSpPr>
        <p:spPr>
          <a:xfrm>
            <a:off x="4572000" y="4569012"/>
            <a:ext cx="1523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16A34A"/>
                </a:solidFill>
                <a:latin typeface="Courier New"/>
                <a:ea typeface="Courier New"/>
              </a:rPr>
              <a:t>Any Language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760"/>
          <p:cNvSpPr/>
          <p:nvPr/>
        </p:nvSpPr>
        <p:spPr>
          <a:xfrm>
            <a:off x="4590360" y="4806612"/>
            <a:ext cx="148716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666666"/>
                </a:solidFill>
                <a:latin typeface="Courier New"/>
                <a:ea typeface="Courier New"/>
              </a:rPr>
              <a:t>LLM ALERTS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606"/>
          <p:cNvSpPr/>
          <p:nvPr/>
        </p:nvSpPr>
        <p:spPr>
          <a:xfrm>
            <a:off x="6095880" y="4605372"/>
            <a:ext cx="10440" cy="29232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761"/>
          <p:cNvSpPr/>
          <p:nvPr/>
        </p:nvSpPr>
        <p:spPr>
          <a:xfrm>
            <a:off x="6095880" y="4569012"/>
            <a:ext cx="1523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16A34A"/>
                </a:solidFill>
                <a:latin typeface="Courier New"/>
                <a:ea typeface="Courier New"/>
              </a:rPr>
              <a:t>ZERO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762"/>
          <p:cNvSpPr/>
          <p:nvPr/>
        </p:nvSpPr>
        <p:spPr>
          <a:xfrm>
            <a:off x="6114240" y="4806612"/>
            <a:ext cx="148716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666666"/>
                </a:solidFill>
                <a:latin typeface="Courier New"/>
                <a:ea typeface="Courier New"/>
              </a:rPr>
              <a:t>CLOUD DEP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607"/>
          <p:cNvSpPr/>
          <p:nvPr/>
        </p:nvSpPr>
        <p:spPr>
          <a:xfrm>
            <a:off x="7620120" y="4605372"/>
            <a:ext cx="10440" cy="29232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763"/>
          <p:cNvSpPr/>
          <p:nvPr/>
        </p:nvSpPr>
        <p:spPr>
          <a:xfrm>
            <a:off x="7620120" y="4569012"/>
            <a:ext cx="15235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ED4E33"/>
                </a:solidFill>
                <a:latin typeface="Courier New"/>
                <a:ea typeface="Courier New"/>
              </a:rPr>
              <a:t>50 TOPS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764"/>
          <p:cNvSpPr/>
          <p:nvPr/>
        </p:nvSpPr>
        <p:spPr>
          <a:xfrm>
            <a:off x="7638120" y="4806612"/>
            <a:ext cx="148716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666666"/>
                </a:solidFill>
                <a:latin typeface="Courier New"/>
                <a:ea typeface="Courier New"/>
              </a:rPr>
              <a:t>AMD XDNA NPU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608"/>
          <p:cNvSpPr/>
          <p:nvPr/>
        </p:nvSpPr>
        <p:spPr>
          <a:xfrm>
            <a:off x="0" y="5090922"/>
            <a:ext cx="9143640" cy="45360"/>
          </a:xfrm>
          <a:prstGeom prst="rect">
            <a:avLst/>
          </a:prstGeom>
          <a:solidFill>
            <a:srgbClr val="ED4E33"/>
          </a:solidFill>
          <a:ln w="127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" name="Google Shape;82;p 2">
            <a:extLst>
              <a:ext uri="{FF2B5EF4-FFF2-40B4-BE49-F238E27FC236}">
                <a16:creationId xmlns:a16="http://schemas.microsoft.com/office/drawing/2014/main" id="{089D1104-EE99-16A4-7D15-B3E184AB8B50}"/>
              </a:ext>
            </a:extLst>
          </p:cNvPr>
          <p:cNvPicPr/>
          <p:nvPr/>
        </p:nvPicPr>
        <p:blipFill>
          <a:blip r:embed="rId4"/>
          <a:srcRect b="89083"/>
          <a:stretch/>
        </p:blipFill>
        <p:spPr>
          <a:xfrm>
            <a:off x="0" y="0"/>
            <a:ext cx="9142200" cy="559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82;p 2">
            <a:extLst>
              <a:ext uri="{FF2B5EF4-FFF2-40B4-BE49-F238E27FC236}">
                <a16:creationId xmlns:a16="http://schemas.microsoft.com/office/drawing/2014/main" id="{7EB8972E-F89F-6C4D-98F2-15BF4745EED8}"/>
              </a:ext>
            </a:extLst>
          </p:cNvPr>
          <p:cNvPicPr/>
          <p:nvPr/>
        </p:nvPicPr>
        <p:blipFill>
          <a:blip r:embed="rId3"/>
          <a:srcRect b="89083"/>
          <a:stretch/>
        </p:blipFill>
        <p:spPr>
          <a:xfrm>
            <a:off x="0" y="14394"/>
            <a:ext cx="9142920" cy="560520"/>
          </a:xfrm>
          <a:prstGeom prst="rect">
            <a:avLst/>
          </a:prstGeom>
          <a:ln w="0">
            <a:noFill/>
          </a:ln>
        </p:spPr>
      </p:pic>
      <p:sp>
        <p:nvSpPr>
          <p:cNvPr id="466" name="Text 4">
            <a:extLst>
              <a:ext uri="{FF2B5EF4-FFF2-40B4-BE49-F238E27FC236}">
                <a16:creationId xmlns:a16="http://schemas.microsoft.com/office/drawing/2014/main" id="{9A5A5335-A3B8-B6E3-CBF0-B41942B5E326}"/>
              </a:ext>
            </a:extLst>
          </p:cNvPr>
          <p:cNvSpPr/>
          <p:nvPr/>
        </p:nvSpPr>
        <p:spPr>
          <a:xfrm>
            <a:off x="45540" y="541066"/>
            <a:ext cx="65833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>
                <a:solidFill>
                  <a:srgbClr val="FFFFFF"/>
                </a:solidFill>
                <a:latin typeface="Calibri"/>
                <a:ea typeface="Calibri"/>
              </a:rPr>
              <a:t>Process Flow Diagram  —  Resonance Fault Detection Pipeline</a:t>
            </a:r>
            <a:endParaRPr lang="en-US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Shape 6">
            <a:extLst>
              <a:ext uri="{FF2B5EF4-FFF2-40B4-BE49-F238E27FC236}">
                <a16:creationId xmlns:a16="http://schemas.microsoft.com/office/drawing/2014/main" id="{894C7564-11D1-85F8-1E3F-6D87F7E7FA96}"/>
              </a:ext>
            </a:extLst>
          </p:cNvPr>
          <p:cNvSpPr/>
          <p:nvPr/>
        </p:nvSpPr>
        <p:spPr>
          <a:xfrm>
            <a:off x="73080" y="758326"/>
            <a:ext cx="9070920" cy="3492720"/>
          </a:xfrm>
          <a:prstGeom prst="rect">
            <a:avLst/>
          </a:prstGeom>
          <a:solidFill>
            <a:srgbClr val="07080F"/>
          </a:solidFill>
          <a:ln w="1016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Shape 7">
            <a:extLst>
              <a:ext uri="{FF2B5EF4-FFF2-40B4-BE49-F238E27FC236}">
                <a16:creationId xmlns:a16="http://schemas.microsoft.com/office/drawing/2014/main" id="{317876A8-31BA-A417-F69F-5727A0C6D136}"/>
              </a:ext>
            </a:extLst>
          </p:cNvPr>
          <p:cNvSpPr/>
          <p:nvPr/>
        </p:nvSpPr>
        <p:spPr>
          <a:xfrm>
            <a:off x="749880" y="758326"/>
            <a:ext cx="8339040" cy="548280"/>
          </a:xfrm>
          <a:prstGeom prst="rect">
            <a:avLst/>
          </a:prstGeom>
          <a:solidFill>
            <a:srgbClr val="0A0B12"/>
          </a:solidFill>
          <a:ln w="381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Shape 8">
            <a:extLst>
              <a:ext uri="{FF2B5EF4-FFF2-40B4-BE49-F238E27FC236}">
                <a16:creationId xmlns:a16="http://schemas.microsoft.com/office/drawing/2014/main" id="{37D673E6-2583-DF93-E74B-02CC11C88B77}"/>
              </a:ext>
            </a:extLst>
          </p:cNvPr>
          <p:cNvSpPr/>
          <p:nvPr/>
        </p:nvSpPr>
        <p:spPr>
          <a:xfrm>
            <a:off x="767040" y="1306966"/>
            <a:ext cx="8339040" cy="1078560"/>
          </a:xfrm>
          <a:prstGeom prst="rect">
            <a:avLst/>
          </a:prstGeom>
          <a:solidFill>
            <a:srgbClr val="0C1228"/>
          </a:solidFill>
          <a:ln w="381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Shape 9">
            <a:extLst>
              <a:ext uri="{FF2B5EF4-FFF2-40B4-BE49-F238E27FC236}">
                <a16:creationId xmlns:a16="http://schemas.microsoft.com/office/drawing/2014/main" id="{6755B36C-4AB5-3033-6928-B333219924F5}"/>
              </a:ext>
            </a:extLst>
          </p:cNvPr>
          <p:cNvSpPr/>
          <p:nvPr/>
        </p:nvSpPr>
        <p:spPr>
          <a:xfrm>
            <a:off x="749880" y="2550406"/>
            <a:ext cx="8339040" cy="1078560"/>
          </a:xfrm>
          <a:prstGeom prst="rect">
            <a:avLst/>
          </a:prstGeom>
          <a:solidFill>
            <a:srgbClr val="110604"/>
          </a:solidFill>
          <a:ln w="381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Shape 10">
            <a:extLst>
              <a:ext uri="{FF2B5EF4-FFF2-40B4-BE49-F238E27FC236}">
                <a16:creationId xmlns:a16="http://schemas.microsoft.com/office/drawing/2014/main" id="{DA2875B0-EE8D-EB28-051E-9D23F0BC7A52}"/>
              </a:ext>
            </a:extLst>
          </p:cNvPr>
          <p:cNvSpPr/>
          <p:nvPr/>
        </p:nvSpPr>
        <p:spPr>
          <a:xfrm>
            <a:off x="749880" y="3794206"/>
            <a:ext cx="8339040" cy="456840"/>
          </a:xfrm>
          <a:prstGeom prst="rect">
            <a:avLst/>
          </a:prstGeom>
          <a:solidFill>
            <a:srgbClr val="060E14"/>
          </a:solidFill>
          <a:ln w="381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Shape 11">
            <a:extLst>
              <a:ext uri="{FF2B5EF4-FFF2-40B4-BE49-F238E27FC236}">
                <a16:creationId xmlns:a16="http://schemas.microsoft.com/office/drawing/2014/main" id="{93F5C16E-E01B-6C0F-0ABD-21060830E591}"/>
              </a:ext>
            </a:extLst>
          </p:cNvPr>
          <p:cNvSpPr/>
          <p:nvPr/>
        </p:nvSpPr>
        <p:spPr>
          <a:xfrm>
            <a:off x="73080" y="758326"/>
            <a:ext cx="676440" cy="548280"/>
          </a:xfrm>
          <a:prstGeom prst="rect">
            <a:avLst/>
          </a:prstGeom>
          <a:solidFill>
            <a:srgbClr val="0A0B10"/>
          </a:solidFill>
          <a:ln w="381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Shape 12">
            <a:extLst>
              <a:ext uri="{FF2B5EF4-FFF2-40B4-BE49-F238E27FC236}">
                <a16:creationId xmlns:a16="http://schemas.microsoft.com/office/drawing/2014/main" id="{E8A6E763-EA9D-A497-1907-922C4BFCCBAD}"/>
              </a:ext>
            </a:extLst>
          </p:cNvPr>
          <p:cNvSpPr/>
          <p:nvPr/>
        </p:nvSpPr>
        <p:spPr>
          <a:xfrm>
            <a:off x="283320" y="868126"/>
            <a:ext cx="255600" cy="255600"/>
          </a:xfrm>
          <a:prstGeom prst="ellipse">
            <a:avLst/>
          </a:prstGeom>
          <a:solidFill>
            <a:srgbClr val="1E2235"/>
          </a:solidFill>
          <a:ln w="19050">
            <a:solidFill>
              <a:srgbClr val="4B556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Text 13">
            <a:extLst>
              <a:ext uri="{FF2B5EF4-FFF2-40B4-BE49-F238E27FC236}">
                <a16:creationId xmlns:a16="http://schemas.microsoft.com/office/drawing/2014/main" id="{2EAEBD36-4ECC-3CB3-8CE7-6696F349CC6E}"/>
              </a:ext>
            </a:extLst>
          </p:cNvPr>
          <p:cNvSpPr/>
          <p:nvPr/>
        </p:nvSpPr>
        <p:spPr>
          <a:xfrm>
            <a:off x="283320" y="868126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9CA3AF"/>
                </a:solidFill>
                <a:latin typeface="Calibri"/>
                <a:ea typeface="Calibri"/>
              </a:rPr>
              <a:t>⚙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 14">
            <a:extLst>
              <a:ext uri="{FF2B5EF4-FFF2-40B4-BE49-F238E27FC236}">
                <a16:creationId xmlns:a16="http://schemas.microsoft.com/office/drawing/2014/main" id="{5DEE340A-4246-3B90-9846-FE305E3988C9}"/>
              </a:ext>
            </a:extLst>
          </p:cNvPr>
          <p:cNvSpPr/>
          <p:nvPr/>
        </p:nvSpPr>
        <p:spPr>
          <a:xfrm>
            <a:off x="109800" y="1142446"/>
            <a:ext cx="62136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29">
                <a:solidFill>
                  <a:srgbClr val="9CA3AF"/>
                </a:solidFill>
                <a:latin typeface="Calibri"/>
                <a:ea typeface="Calibri"/>
              </a:rPr>
              <a:t>MACHINE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Text 15">
            <a:extLst>
              <a:ext uri="{FF2B5EF4-FFF2-40B4-BE49-F238E27FC236}">
                <a16:creationId xmlns:a16="http://schemas.microsoft.com/office/drawing/2014/main" id="{1CDF31FA-2105-3A60-45A0-3E37406F6E3B}"/>
              </a:ext>
            </a:extLst>
          </p:cNvPr>
          <p:cNvSpPr/>
          <p:nvPr/>
        </p:nvSpPr>
        <p:spPr>
          <a:xfrm>
            <a:off x="109800" y="1270246"/>
            <a:ext cx="6213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-1">
                <a:solidFill>
                  <a:srgbClr val="6B7280"/>
                </a:solidFill>
                <a:latin typeface="Calibri"/>
                <a:ea typeface="Calibri"/>
              </a:rPr>
              <a:t>Physical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Shape 16">
            <a:extLst>
              <a:ext uri="{FF2B5EF4-FFF2-40B4-BE49-F238E27FC236}">
                <a16:creationId xmlns:a16="http://schemas.microsoft.com/office/drawing/2014/main" id="{6CB95C2F-0929-2325-84BB-4A79F9937C3A}"/>
              </a:ext>
            </a:extLst>
          </p:cNvPr>
          <p:cNvSpPr/>
          <p:nvPr/>
        </p:nvSpPr>
        <p:spPr>
          <a:xfrm>
            <a:off x="73080" y="1306966"/>
            <a:ext cx="676440" cy="1078560"/>
          </a:xfrm>
          <a:prstGeom prst="rect">
            <a:avLst/>
          </a:prstGeom>
          <a:solidFill>
            <a:srgbClr val="0A0B10"/>
          </a:solidFill>
          <a:ln w="381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Shape 17">
            <a:extLst>
              <a:ext uri="{FF2B5EF4-FFF2-40B4-BE49-F238E27FC236}">
                <a16:creationId xmlns:a16="http://schemas.microsoft.com/office/drawing/2014/main" id="{AC8017AF-219C-7A7C-1A77-E732BE15CB64}"/>
              </a:ext>
            </a:extLst>
          </p:cNvPr>
          <p:cNvSpPr/>
          <p:nvPr/>
        </p:nvSpPr>
        <p:spPr>
          <a:xfrm>
            <a:off x="283320" y="1681726"/>
            <a:ext cx="255600" cy="255600"/>
          </a:xfrm>
          <a:prstGeom prst="ellipse">
            <a:avLst/>
          </a:prstGeom>
          <a:solidFill>
            <a:srgbClr val="0F1D42"/>
          </a:solidFill>
          <a:ln w="1905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Text 18">
            <a:extLst>
              <a:ext uri="{FF2B5EF4-FFF2-40B4-BE49-F238E27FC236}">
                <a16:creationId xmlns:a16="http://schemas.microsoft.com/office/drawing/2014/main" id="{AE9BBD10-77D3-17F9-1E69-B09CF06A479A}"/>
              </a:ext>
            </a:extLst>
          </p:cNvPr>
          <p:cNvSpPr/>
          <p:nvPr/>
        </p:nvSpPr>
        <p:spPr>
          <a:xfrm>
            <a:off x="283320" y="1681726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93C5FD"/>
                </a:solidFill>
                <a:latin typeface="Calibri"/>
                <a:ea typeface="Calibri"/>
              </a:rPr>
              <a:t>A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Text 19">
            <a:extLst>
              <a:ext uri="{FF2B5EF4-FFF2-40B4-BE49-F238E27FC236}">
                <a16:creationId xmlns:a16="http://schemas.microsoft.com/office/drawing/2014/main" id="{B087626C-05D5-1C44-525D-5A50E3C30C4E}"/>
              </a:ext>
            </a:extLst>
          </p:cNvPr>
          <p:cNvSpPr/>
          <p:nvPr/>
        </p:nvSpPr>
        <p:spPr>
          <a:xfrm>
            <a:off x="109800" y="1956046"/>
            <a:ext cx="62136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29">
                <a:solidFill>
                  <a:srgbClr val="93C5FD"/>
                </a:solidFill>
                <a:latin typeface="Calibri"/>
                <a:ea typeface="Calibri"/>
              </a:rPr>
              <a:t>NODE A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 20">
            <a:extLst>
              <a:ext uri="{FF2B5EF4-FFF2-40B4-BE49-F238E27FC236}">
                <a16:creationId xmlns:a16="http://schemas.microsoft.com/office/drawing/2014/main" id="{DAD0AAD9-0A96-77BA-2508-7FFF64EE6C49}"/>
              </a:ext>
            </a:extLst>
          </p:cNvPr>
          <p:cNvSpPr/>
          <p:nvPr/>
        </p:nvSpPr>
        <p:spPr>
          <a:xfrm>
            <a:off x="109800" y="2084206"/>
            <a:ext cx="6213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-1">
                <a:solidFill>
                  <a:srgbClr val="6B7280"/>
                </a:solidFill>
                <a:latin typeface="Calibri"/>
                <a:ea typeface="Calibri"/>
              </a:rPr>
              <a:t>C++ DSP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-1">
                <a:solidFill>
                  <a:srgbClr val="6B7280"/>
                </a:solidFill>
                <a:latin typeface="Calibri"/>
                <a:ea typeface="Calibri"/>
              </a:rPr>
              <a:t>Pi Zero 2W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Shape 21">
            <a:extLst>
              <a:ext uri="{FF2B5EF4-FFF2-40B4-BE49-F238E27FC236}">
                <a16:creationId xmlns:a16="http://schemas.microsoft.com/office/drawing/2014/main" id="{D79B2BF1-E3DA-3D03-30D3-12F38E0DFA52}"/>
              </a:ext>
            </a:extLst>
          </p:cNvPr>
          <p:cNvSpPr/>
          <p:nvPr/>
        </p:nvSpPr>
        <p:spPr>
          <a:xfrm>
            <a:off x="73080" y="2550406"/>
            <a:ext cx="676440" cy="1078560"/>
          </a:xfrm>
          <a:prstGeom prst="rect">
            <a:avLst/>
          </a:prstGeom>
          <a:solidFill>
            <a:srgbClr val="0A0B10"/>
          </a:solidFill>
          <a:ln w="381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Shape 22">
            <a:extLst>
              <a:ext uri="{FF2B5EF4-FFF2-40B4-BE49-F238E27FC236}">
                <a16:creationId xmlns:a16="http://schemas.microsoft.com/office/drawing/2014/main" id="{B2033AB6-1455-2F91-FF79-57EC45812FB6}"/>
              </a:ext>
            </a:extLst>
          </p:cNvPr>
          <p:cNvSpPr/>
          <p:nvPr/>
        </p:nvSpPr>
        <p:spPr>
          <a:xfrm>
            <a:off x="283320" y="2925526"/>
            <a:ext cx="255600" cy="255600"/>
          </a:xfrm>
          <a:prstGeom prst="ellipse">
            <a:avLst/>
          </a:prstGeom>
          <a:solidFill>
            <a:srgbClr val="7A1E0A"/>
          </a:solidFill>
          <a:ln w="1905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Text 23">
            <a:extLst>
              <a:ext uri="{FF2B5EF4-FFF2-40B4-BE49-F238E27FC236}">
                <a16:creationId xmlns:a16="http://schemas.microsoft.com/office/drawing/2014/main" id="{2FB28F30-56AF-1693-9D8F-855B7CDD2D8B}"/>
              </a:ext>
            </a:extLst>
          </p:cNvPr>
          <p:cNvSpPr/>
          <p:nvPr/>
        </p:nvSpPr>
        <p:spPr>
          <a:xfrm>
            <a:off x="283320" y="2925526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ED4E33"/>
                </a:solidFill>
                <a:latin typeface="Calibri"/>
                <a:ea typeface="Calibri"/>
              </a:rPr>
              <a:t>B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Text 24">
            <a:extLst>
              <a:ext uri="{FF2B5EF4-FFF2-40B4-BE49-F238E27FC236}">
                <a16:creationId xmlns:a16="http://schemas.microsoft.com/office/drawing/2014/main" id="{FF83A893-3457-6990-8596-CC0608F2EF00}"/>
              </a:ext>
            </a:extLst>
          </p:cNvPr>
          <p:cNvSpPr/>
          <p:nvPr/>
        </p:nvSpPr>
        <p:spPr>
          <a:xfrm>
            <a:off x="109800" y="3199846"/>
            <a:ext cx="62136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29">
                <a:solidFill>
                  <a:srgbClr val="ED4E33"/>
                </a:solidFill>
                <a:latin typeface="Calibri"/>
                <a:ea typeface="Calibri"/>
              </a:rPr>
              <a:t>NODE B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Text 25">
            <a:extLst>
              <a:ext uri="{FF2B5EF4-FFF2-40B4-BE49-F238E27FC236}">
                <a16:creationId xmlns:a16="http://schemas.microsoft.com/office/drawing/2014/main" id="{C9E4731F-42EB-92C2-BC1F-8B68386A2D2E}"/>
              </a:ext>
            </a:extLst>
          </p:cNvPr>
          <p:cNvSpPr/>
          <p:nvPr/>
        </p:nvSpPr>
        <p:spPr>
          <a:xfrm>
            <a:off x="109800" y="3327646"/>
            <a:ext cx="6213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-1">
                <a:solidFill>
                  <a:srgbClr val="6B7280"/>
                </a:solidFill>
                <a:latin typeface="Calibri"/>
                <a:ea typeface="Calibri"/>
              </a:rPr>
              <a:t>AMD NPU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-1">
                <a:solidFill>
                  <a:srgbClr val="6B7280"/>
                </a:solidFill>
                <a:latin typeface="Calibri"/>
                <a:ea typeface="Calibri"/>
              </a:rPr>
              <a:t>Python AI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Shape 26">
            <a:extLst>
              <a:ext uri="{FF2B5EF4-FFF2-40B4-BE49-F238E27FC236}">
                <a16:creationId xmlns:a16="http://schemas.microsoft.com/office/drawing/2014/main" id="{60F445A2-4D35-EC1A-8108-C9C19DDD2D8F}"/>
              </a:ext>
            </a:extLst>
          </p:cNvPr>
          <p:cNvSpPr/>
          <p:nvPr/>
        </p:nvSpPr>
        <p:spPr>
          <a:xfrm>
            <a:off x="73080" y="3794206"/>
            <a:ext cx="676440" cy="456840"/>
          </a:xfrm>
          <a:prstGeom prst="rect">
            <a:avLst/>
          </a:prstGeom>
          <a:solidFill>
            <a:srgbClr val="0A0B10"/>
          </a:solidFill>
          <a:ln w="381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Shape 27">
            <a:extLst>
              <a:ext uri="{FF2B5EF4-FFF2-40B4-BE49-F238E27FC236}">
                <a16:creationId xmlns:a16="http://schemas.microsoft.com/office/drawing/2014/main" id="{316D474C-DFE1-3244-54B3-08A3355B6F3C}"/>
              </a:ext>
            </a:extLst>
          </p:cNvPr>
          <p:cNvSpPr/>
          <p:nvPr/>
        </p:nvSpPr>
        <p:spPr>
          <a:xfrm>
            <a:off x="283320" y="3857926"/>
            <a:ext cx="255600" cy="255600"/>
          </a:xfrm>
          <a:prstGeom prst="ellipse">
            <a:avLst/>
          </a:prstGeom>
          <a:solidFill>
            <a:srgbClr val="061520"/>
          </a:solidFill>
          <a:ln w="1905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Text 28">
            <a:extLst>
              <a:ext uri="{FF2B5EF4-FFF2-40B4-BE49-F238E27FC236}">
                <a16:creationId xmlns:a16="http://schemas.microsoft.com/office/drawing/2014/main" id="{14B2E585-9902-FC01-3B9F-E4AFF2752FD2}"/>
              </a:ext>
            </a:extLst>
          </p:cNvPr>
          <p:cNvSpPr/>
          <p:nvPr/>
        </p:nvSpPr>
        <p:spPr>
          <a:xfrm>
            <a:off x="283320" y="3857926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7DD3FC"/>
                </a:solidFill>
                <a:latin typeface="Calibri"/>
                <a:ea typeface="Calibri"/>
              </a:rPr>
              <a:t>C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Text 29">
            <a:extLst>
              <a:ext uri="{FF2B5EF4-FFF2-40B4-BE49-F238E27FC236}">
                <a16:creationId xmlns:a16="http://schemas.microsoft.com/office/drawing/2014/main" id="{AAB7E98A-34B8-21DC-EA52-11B381B8703F}"/>
              </a:ext>
            </a:extLst>
          </p:cNvPr>
          <p:cNvSpPr/>
          <p:nvPr/>
        </p:nvSpPr>
        <p:spPr>
          <a:xfrm>
            <a:off x="109800" y="4132246"/>
            <a:ext cx="62136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29">
                <a:solidFill>
                  <a:srgbClr val="7DD3FC"/>
                </a:solidFill>
                <a:latin typeface="Calibri"/>
                <a:ea typeface="Calibri"/>
              </a:rPr>
              <a:t>NODE C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Text 30">
            <a:extLst>
              <a:ext uri="{FF2B5EF4-FFF2-40B4-BE49-F238E27FC236}">
                <a16:creationId xmlns:a16="http://schemas.microsoft.com/office/drawing/2014/main" id="{515515E2-AAC7-FBB8-8FAC-4AC3824C049B}"/>
              </a:ext>
            </a:extLst>
          </p:cNvPr>
          <p:cNvSpPr/>
          <p:nvPr/>
        </p:nvSpPr>
        <p:spPr>
          <a:xfrm>
            <a:off x="109800" y="4260406"/>
            <a:ext cx="6213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-1">
                <a:solidFill>
                  <a:srgbClr val="6B7280"/>
                </a:solidFill>
                <a:latin typeface="Calibri"/>
                <a:ea typeface="Calibri"/>
              </a:rPr>
              <a:t>Engineer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Shape 31">
            <a:extLst>
              <a:ext uri="{FF2B5EF4-FFF2-40B4-BE49-F238E27FC236}">
                <a16:creationId xmlns:a16="http://schemas.microsoft.com/office/drawing/2014/main" id="{F59E25A4-B758-E543-4763-DEBC82982671}"/>
              </a:ext>
            </a:extLst>
          </p:cNvPr>
          <p:cNvSpPr/>
          <p:nvPr/>
        </p:nvSpPr>
        <p:spPr>
          <a:xfrm>
            <a:off x="941760" y="831406"/>
            <a:ext cx="1005480" cy="402120"/>
          </a:xfrm>
          <a:prstGeom prst="roundRect">
            <a:avLst>
              <a:gd name="adj" fmla="val 22727"/>
            </a:avLst>
          </a:prstGeom>
          <a:solidFill>
            <a:srgbClr val="0A2015"/>
          </a:solidFill>
          <a:ln w="1905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Text 32">
            <a:extLst>
              <a:ext uri="{FF2B5EF4-FFF2-40B4-BE49-F238E27FC236}">
                <a16:creationId xmlns:a16="http://schemas.microsoft.com/office/drawing/2014/main" id="{C9FBDFAA-9D30-FDCB-B33D-67746CD8E101}"/>
              </a:ext>
            </a:extLst>
          </p:cNvPr>
          <p:cNvSpPr/>
          <p:nvPr/>
        </p:nvSpPr>
        <p:spPr>
          <a:xfrm>
            <a:off x="996840" y="877126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86EFAC"/>
                </a:solidFill>
                <a:latin typeface="Calibri"/>
                <a:ea typeface="Calibri"/>
              </a:rPr>
              <a:t>START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Text 33">
            <a:extLst>
              <a:ext uri="{FF2B5EF4-FFF2-40B4-BE49-F238E27FC236}">
                <a16:creationId xmlns:a16="http://schemas.microsoft.com/office/drawing/2014/main" id="{F7627A05-D545-6D6D-B443-870180B8CF07}"/>
              </a:ext>
            </a:extLst>
          </p:cNvPr>
          <p:cNvSpPr/>
          <p:nvPr/>
        </p:nvSpPr>
        <p:spPr>
          <a:xfrm>
            <a:off x="996840" y="1051006"/>
            <a:ext cx="9140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4ADE80"/>
                </a:solidFill>
                <a:latin typeface="Calibri"/>
                <a:ea typeface="Calibri"/>
              </a:rPr>
              <a:t>Machine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4ADE80"/>
                </a:solidFill>
                <a:latin typeface="Calibri"/>
                <a:ea typeface="Calibri"/>
              </a:rPr>
              <a:t>running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Shape 34">
            <a:extLst>
              <a:ext uri="{FF2B5EF4-FFF2-40B4-BE49-F238E27FC236}">
                <a16:creationId xmlns:a16="http://schemas.microsoft.com/office/drawing/2014/main" id="{B5F14D51-7A21-6A1E-EE88-C7148F2EE45C}"/>
              </a:ext>
            </a:extLst>
          </p:cNvPr>
          <p:cNvSpPr/>
          <p:nvPr/>
        </p:nvSpPr>
        <p:spPr>
          <a:xfrm>
            <a:off x="1947600" y="1032286"/>
            <a:ext cx="1773720" cy="360"/>
          </a:xfrm>
          <a:prstGeom prst="line">
            <a:avLst/>
          </a:prstGeom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Shape 35">
            <a:extLst>
              <a:ext uri="{FF2B5EF4-FFF2-40B4-BE49-F238E27FC236}">
                <a16:creationId xmlns:a16="http://schemas.microsoft.com/office/drawing/2014/main" id="{CD3E417B-0A09-61F8-F68C-1F43391E630E}"/>
              </a:ext>
            </a:extLst>
          </p:cNvPr>
          <p:cNvSpPr/>
          <p:nvPr/>
        </p:nvSpPr>
        <p:spPr>
          <a:xfrm>
            <a:off x="3657600" y="986926"/>
            <a:ext cx="63720" cy="91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Shape 36">
            <a:extLst>
              <a:ext uri="{FF2B5EF4-FFF2-40B4-BE49-F238E27FC236}">
                <a16:creationId xmlns:a16="http://schemas.microsoft.com/office/drawing/2014/main" id="{2087AD8C-7303-DCF8-A969-B8E01F9635E0}"/>
              </a:ext>
            </a:extLst>
          </p:cNvPr>
          <p:cNvSpPr/>
          <p:nvPr/>
        </p:nvSpPr>
        <p:spPr>
          <a:xfrm>
            <a:off x="3721680" y="831406"/>
            <a:ext cx="1005480" cy="402120"/>
          </a:xfrm>
          <a:prstGeom prst="rect">
            <a:avLst/>
          </a:prstGeom>
          <a:solidFill>
            <a:srgbClr val="0F1D42"/>
          </a:solidFill>
          <a:ln w="101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Text 37">
            <a:extLst>
              <a:ext uri="{FF2B5EF4-FFF2-40B4-BE49-F238E27FC236}">
                <a16:creationId xmlns:a16="http://schemas.microsoft.com/office/drawing/2014/main" id="{88B36F06-CC40-0B61-BE41-9E42A9520E92}"/>
              </a:ext>
            </a:extLst>
          </p:cNvPr>
          <p:cNvSpPr/>
          <p:nvPr/>
        </p:nvSpPr>
        <p:spPr>
          <a:xfrm>
            <a:off x="3794760" y="895486"/>
            <a:ext cx="8773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93C5FD"/>
                </a:solidFill>
                <a:latin typeface="Calibri"/>
                <a:ea typeface="Calibri"/>
              </a:rPr>
              <a:t>Vibration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Text 38">
            <a:extLst>
              <a:ext uri="{FF2B5EF4-FFF2-40B4-BE49-F238E27FC236}">
                <a16:creationId xmlns:a16="http://schemas.microsoft.com/office/drawing/2014/main" id="{A8D85D28-3194-4443-D339-A80E89D9E75E}"/>
              </a:ext>
            </a:extLst>
          </p:cNvPr>
          <p:cNvSpPr/>
          <p:nvPr/>
        </p:nvSpPr>
        <p:spPr>
          <a:xfrm>
            <a:off x="3794760" y="1069006"/>
            <a:ext cx="877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Bearing motion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→ piezo deflects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Shape 39">
            <a:extLst>
              <a:ext uri="{FF2B5EF4-FFF2-40B4-BE49-F238E27FC236}">
                <a16:creationId xmlns:a16="http://schemas.microsoft.com/office/drawing/2014/main" id="{428E2090-7F6A-9A1A-F3C8-B891F9A1E65B}"/>
              </a:ext>
            </a:extLst>
          </p:cNvPr>
          <p:cNvSpPr/>
          <p:nvPr/>
        </p:nvSpPr>
        <p:spPr>
          <a:xfrm>
            <a:off x="4739150" y="1032286"/>
            <a:ext cx="309604" cy="360"/>
          </a:xfrm>
          <a:prstGeom prst="line">
            <a:avLst/>
          </a:prstGeom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Shape 40">
            <a:extLst>
              <a:ext uri="{FF2B5EF4-FFF2-40B4-BE49-F238E27FC236}">
                <a16:creationId xmlns:a16="http://schemas.microsoft.com/office/drawing/2014/main" id="{251113AC-F062-C408-E40A-770107FB2D0B}"/>
              </a:ext>
            </a:extLst>
          </p:cNvPr>
          <p:cNvSpPr/>
          <p:nvPr/>
        </p:nvSpPr>
        <p:spPr>
          <a:xfrm>
            <a:off x="5058522" y="986926"/>
            <a:ext cx="63720" cy="91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Shape 41">
            <a:extLst>
              <a:ext uri="{FF2B5EF4-FFF2-40B4-BE49-F238E27FC236}">
                <a16:creationId xmlns:a16="http://schemas.microsoft.com/office/drawing/2014/main" id="{5742CFA2-0E67-FAE2-49ED-57E9D413184C}"/>
              </a:ext>
            </a:extLst>
          </p:cNvPr>
          <p:cNvSpPr/>
          <p:nvPr/>
        </p:nvSpPr>
        <p:spPr>
          <a:xfrm>
            <a:off x="5111640" y="831406"/>
            <a:ext cx="1005480" cy="402120"/>
          </a:xfrm>
          <a:prstGeom prst="rect">
            <a:avLst/>
          </a:prstGeom>
          <a:solidFill>
            <a:srgbClr val="0F1D42"/>
          </a:solidFill>
          <a:ln w="101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Text 42">
            <a:extLst>
              <a:ext uri="{FF2B5EF4-FFF2-40B4-BE49-F238E27FC236}">
                <a16:creationId xmlns:a16="http://schemas.microsoft.com/office/drawing/2014/main" id="{E4DBED8E-E0EE-1AF7-9FBB-BC5CD667E915}"/>
              </a:ext>
            </a:extLst>
          </p:cNvPr>
          <p:cNvSpPr/>
          <p:nvPr/>
        </p:nvSpPr>
        <p:spPr>
          <a:xfrm>
            <a:off x="5184720" y="895486"/>
            <a:ext cx="8773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93C5FD"/>
                </a:solidFill>
                <a:latin typeface="Calibri"/>
                <a:ea typeface="Calibri"/>
              </a:rPr>
              <a:t>Piezo ADC Capture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Text 43">
            <a:extLst>
              <a:ext uri="{FF2B5EF4-FFF2-40B4-BE49-F238E27FC236}">
                <a16:creationId xmlns:a16="http://schemas.microsoft.com/office/drawing/2014/main" id="{9D683061-7DC0-2E86-7063-C4EBBA61A75F}"/>
              </a:ext>
            </a:extLst>
          </p:cNvPr>
          <p:cNvSpPr/>
          <p:nvPr/>
        </p:nvSpPr>
        <p:spPr>
          <a:xfrm>
            <a:off x="5184720" y="1069006"/>
            <a:ext cx="877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35mm disc · 1.2MΩ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Logitech USB dongle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Shape 44">
            <a:extLst>
              <a:ext uri="{FF2B5EF4-FFF2-40B4-BE49-F238E27FC236}">
                <a16:creationId xmlns:a16="http://schemas.microsoft.com/office/drawing/2014/main" id="{6234CF07-239C-7C7C-CF99-751A177116FE}"/>
              </a:ext>
            </a:extLst>
          </p:cNvPr>
          <p:cNvSpPr/>
          <p:nvPr/>
        </p:nvSpPr>
        <p:spPr>
          <a:xfrm>
            <a:off x="6107025" y="1032286"/>
            <a:ext cx="309604" cy="360"/>
          </a:xfrm>
          <a:prstGeom prst="line">
            <a:avLst/>
          </a:prstGeom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Shape 45">
            <a:extLst>
              <a:ext uri="{FF2B5EF4-FFF2-40B4-BE49-F238E27FC236}">
                <a16:creationId xmlns:a16="http://schemas.microsoft.com/office/drawing/2014/main" id="{D20A5F72-52B6-91EE-24FF-721520027FDF}"/>
              </a:ext>
            </a:extLst>
          </p:cNvPr>
          <p:cNvSpPr/>
          <p:nvPr/>
        </p:nvSpPr>
        <p:spPr>
          <a:xfrm>
            <a:off x="6417557" y="986926"/>
            <a:ext cx="63720" cy="91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Shape 46">
            <a:extLst>
              <a:ext uri="{FF2B5EF4-FFF2-40B4-BE49-F238E27FC236}">
                <a16:creationId xmlns:a16="http://schemas.microsoft.com/office/drawing/2014/main" id="{1E9CAEDD-5EE4-F833-DF1F-2C746B9E4624}"/>
              </a:ext>
            </a:extLst>
          </p:cNvPr>
          <p:cNvSpPr/>
          <p:nvPr/>
        </p:nvSpPr>
        <p:spPr>
          <a:xfrm>
            <a:off x="6501240" y="831406"/>
            <a:ext cx="1005480" cy="402120"/>
          </a:xfrm>
          <a:prstGeom prst="rect">
            <a:avLst/>
          </a:prstGeom>
          <a:solidFill>
            <a:srgbClr val="0F1D42"/>
          </a:solidFill>
          <a:ln w="101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" name="Text 47">
            <a:extLst>
              <a:ext uri="{FF2B5EF4-FFF2-40B4-BE49-F238E27FC236}">
                <a16:creationId xmlns:a16="http://schemas.microsoft.com/office/drawing/2014/main" id="{4A66A58B-E599-0E8D-7E31-3ED64F07FA6C}"/>
              </a:ext>
            </a:extLst>
          </p:cNvPr>
          <p:cNvSpPr/>
          <p:nvPr/>
        </p:nvSpPr>
        <p:spPr>
          <a:xfrm>
            <a:off x="6574680" y="895486"/>
            <a:ext cx="8773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93C5FD"/>
                </a:solidFill>
                <a:latin typeface="Calibri"/>
                <a:ea typeface="Calibri"/>
              </a:rPr>
              <a:t>PortAudio Stream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Text 48">
            <a:extLst>
              <a:ext uri="{FF2B5EF4-FFF2-40B4-BE49-F238E27FC236}">
                <a16:creationId xmlns:a16="http://schemas.microsoft.com/office/drawing/2014/main" id="{3FB63E51-C92B-ACC4-EDA4-CD62753C00BB}"/>
              </a:ext>
            </a:extLst>
          </p:cNvPr>
          <p:cNvSpPr/>
          <p:nvPr/>
        </p:nvSpPr>
        <p:spPr>
          <a:xfrm>
            <a:off x="6574680" y="1069006"/>
            <a:ext cx="877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44.1kHz · 16-bit PCM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Continuous buffer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Shape 49">
            <a:extLst>
              <a:ext uri="{FF2B5EF4-FFF2-40B4-BE49-F238E27FC236}">
                <a16:creationId xmlns:a16="http://schemas.microsoft.com/office/drawing/2014/main" id="{61C36D1A-BCCA-A59B-19E2-FDC847DC03C4}"/>
              </a:ext>
            </a:extLst>
          </p:cNvPr>
          <p:cNvSpPr/>
          <p:nvPr/>
        </p:nvSpPr>
        <p:spPr>
          <a:xfrm>
            <a:off x="2331720" y="831406"/>
            <a:ext cx="1005480" cy="402120"/>
          </a:xfrm>
          <a:prstGeom prst="roundRect">
            <a:avLst>
              <a:gd name="adj" fmla="val 18182"/>
            </a:avLst>
          </a:prstGeom>
          <a:solidFill>
            <a:srgbClr val="2D0A0A"/>
          </a:solidFill>
          <a:ln w="254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 50">
            <a:extLst>
              <a:ext uri="{FF2B5EF4-FFF2-40B4-BE49-F238E27FC236}">
                <a16:creationId xmlns:a16="http://schemas.microsoft.com/office/drawing/2014/main" id="{1A31376F-F4C6-2051-0DC2-F010A60A604D}"/>
              </a:ext>
            </a:extLst>
          </p:cNvPr>
          <p:cNvSpPr/>
          <p:nvPr/>
        </p:nvSpPr>
        <p:spPr>
          <a:xfrm>
            <a:off x="2368440" y="877126"/>
            <a:ext cx="932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-1">
                <a:solidFill>
                  <a:srgbClr val="FCA5A5"/>
                </a:solidFill>
                <a:latin typeface="Calibri"/>
                <a:ea typeface="Calibri"/>
              </a:rPr>
              <a:t>⚡  HARDWARE ALARM</a:t>
            </a:r>
            <a:endParaRPr lang="en-US" sz="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Text 51">
            <a:extLst>
              <a:ext uri="{FF2B5EF4-FFF2-40B4-BE49-F238E27FC236}">
                <a16:creationId xmlns:a16="http://schemas.microsoft.com/office/drawing/2014/main" id="{0E6C27C6-B16F-03FA-FB92-74F4A0860ED5}"/>
              </a:ext>
            </a:extLst>
          </p:cNvPr>
          <p:cNvSpPr/>
          <p:nvPr/>
        </p:nvSpPr>
        <p:spPr>
          <a:xfrm>
            <a:off x="2368440" y="1041646"/>
            <a:ext cx="932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FCA5A5"/>
                </a:solidFill>
                <a:latin typeface="Calibri"/>
                <a:ea typeface="Calibri"/>
              </a:rPr>
              <a:t>Immediate · &lt;1ms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FCA5A5"/>
                </a:solidFill>
                <a:latin typeface="Calibri"/>
                <a:ea typeface="Calibri"/>
              </a:rPr>
              <a:t>Bypasses AI entirely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" name="Text 52">
            <a:extLst>
              <a:ext uri="{FF2B5EF4-FFF2-40B4-BE49-F238E27FC236}">
                <a16:creationId xmlns:a16="http://schemas.microsoft.com/office/drawing/2014/main" id="{89B05DAA-3252-FCB2-C71D-74B755D3B76C}"/>
              </a:ext>
            </a:extLst>
          </p:cNvPr>
          <p:cNvSpPr/>
          <p:nvPr/>
        </p:nvSpPr>
        <p:spPr>
          <a:xfrm>
            <a:off x="7891200" y="831406"/>
            <a:ext cx="10054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i="1" strike="noStrike" spc="-1">
                <a:solidFill>
                  <a:srgbClr val="16A34A"/>
                </a:solidFill>
                <a:latin typeface="Calibri"/>
                <a:ea typeface="Calibri"/>
              </a:rPr>
              <a:t>↺  continuous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i="1" strike="noStrike" spc="-1">
                <a:solidFill>
                  <a:srgbClr val="16A34A"/>
                </a:solidFill>
                <a:latin typeface="Calibri"/>
                <a:ea typeface="Calibri"/>
              </a:rPr>
              <a:t>monitoring loop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Shape 53">
            <a:extLst>
              <a:ext uri="{FF2B5EF4-FFF2-40B4-BE49-F238E27FC236}">
                <a16:creationId xmlns:a16="http://schemas.microsoft.com/office/drawing/2014/main" id="{88965017-6EB6-8000-9DB1-59BD4A323713}"/>
              </a:ext>
            </a:extLst>
          </p:cNvPr>
          <p:cNvSpPr/>
          <p:nvPr/>
        </p:nvSpPr>
        <p:spPr>
          <a:xfrm>
            <a:off x="941760" y="1553926"/>
            <a:ext cx="1005480" cy="585000"/>
          </a:xfrm>
          <a:prstGeom prst="rect">
            <a:avLst/>
          </a:prstGeom>
          <a:solidFill>
            <a:srgbClr val="0F1D42"/>
          </a:solidFill>
          <a:ln w="101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Text 54">
            <a:extLst>
              <a:ext uri="{FF2B5EF4-FFF2-40B4-BE49-F238E27FC236}">
                <a16:creationId xmlns:a16="http://schemas.microsoft.com/office/drawing/2014/main" id="{1E570577-64B3-5065-2C0B-3E5C116149A3}"/>
              </a:ext>
            </a:extLst>
          </p:cNvPr>
          <p:cNvSpPr/>
          <p:nvPr/>
        </p:nvSpPr>
        <p:spPr>
          <a:xfrm>
            <a:off x="1014840" y="1617646"/>
            <a:ext cx="8773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93C5FD"/>
                </a:solidFill>
                <a:latin typeface="Calibri"/>
                <a:ea typeface="Calibri"/>
              </a:rPr>
              <a:t>Isolation Filter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Text 55">
            <a:extLst>
              <a:ext uri="{FF2B5EF4-FFF2-40B4-BE49-F238E27FC236}">
                <a16:creationId xmlns:a16="http://schemas.microsoft.com/office/drawing/2014/main" id="{C8532444-BC25-2EFD-077D-26EE00ACCDDD}"/>
              </a:ext>
            </a:extLst>
          </p:cNvPr>
          <p:cNvSpPr/>
          <p:nvPr/>
        </p:nvSpPr>
        <p:spPr>
          <a:xfrm>
            <a:off x="1014840" y="1791526"/>
            <a:ext cx="877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High-pass 100Hz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Low-pass 12kHz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Remove noise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Shape 56">
            <a:extLst>
              <a:ext uri="{FF2B5EF4-FFF2-40B4-BE49-F238E27FC236}">
                <a16:creationId xmlns:a16="http://schemas.microsoft.com/office/drawing/2014/main" id="{0A6FBF79-BCEA-CD7B-1EAB-45432E09C69A}"/>
              </a:ext>
            </a:extLst>
          </p:cNvPr>
          <p:cNvSpPr/>
          <p:nvPr/>
        </p:nvSpPr>
        <p:spPr>
          <a:xfrm>
            <a:off x="1947600" y="1846246"/>
            <a:ext cx="649080" cy="360"/>
          </a:xfrm>
          <a:prstGeom prst="line">
            <a:avLst/>
          </a:prstGeom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Shape 57">
            <a:extLst>
              <a:ext uri="{FF2B5EF4-FFF2-40B4-BE49-F238E27FC236}">
                <a16:creationId xmlns:a16="http://schemas.microsoft.com/office/drawing/2014/main" id="{8F79F3FF-5BF9-BC67-F527-BB6148C1101C}"/>
              </a:ext>
            </a:extLst>
          </p:cNvPr>
          <p:cNvSpPr/>
          <p:nvPr/>
        </p:nvSpPr>
        <p:spPr>
          <a:xfrm>
            <a:off x="2532960" y="1800526"/>
            <a:ext cx="63720" cy="91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Shape 58">
            <a:extLst>
              <a:ext uri="{FF2B5EF4-FFF2-40B4-BE49-F238E27FC236}">
                <a16:creationId xmlns:a16="http://schemas.microsoft.com/office/drawing/2014/main" id="{0E5E9728-A23B-01E4-B119-63B6D0F2723C}"/>
              </a:ext>
            </a:extLst>
          </p:cNvPr>
          <p:cNvSpPr/>
          <p:nvPr/>
        </p:nvSpPr>
        <p:spPr>
          <a:xfrm rot="2700000">
            <a:off x="2597040" y="1608286"/>
            <a:ext cx="475200" cy="475200"/>
          </a:xfrm>
          <a:prstGeom prst="rect">
            <a:avLst/>
          </a:prstGeom>
          <a:solidFill>
            <a:srgbClr val="1C1005"/>
          </a:solidFill>
          <a:ln w="2286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Text 59">
            <a:extLst>
              <a:ext uri="{FF2B5EF4-FFF2-40B4-BE49-F238E27FC236}">
                <a16:creationId xmlns:a16="http://schemas.microsoft.com/office/drawing/2014/main" id="{90571823-61D1-F91D-FDCC-7563639FABC3}"/>
              </a:ext>
            </a:extLst>
          </p:cNvPr>
          <p:cNvSpPr/>
          <p:nvPr/>
        </p:nvSpPr>
        <p:spPr>
          <a:xfrm>
            <a:off x="2633400" y="1691086"/>
            <a:ext cx="420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-1">
                <a:solidFill>
                  <a:srgbClr val="FFFFFF"/>
                </a:solidFill>
                <a:latin typeface="Calibri"/>
                <a:ea typeface="Calibri"/>
              </a:rPr>
              <a:t>RMS &gt;</a:t>
            </a:r>
            <a:endParaRPr lang="en-US" sz="7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-1">
                <a:solidFill>
                  <a:srgbClr val="FFFFFF"/>
                </a:solidFill>
                <a:latin typeface="Calibri"/>
                <a:ea typeface="Calibri"/>
              </a:rPr>
              <a:t>thresh?</a:t>
            </a:r>
            <a:endParaRPr lang="en-US" sz="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Shape 60">
            <a:extLst>
              <a:ext uri="{FF2B5EF4-FFF2-40B4-BE49-F238E27FC236}">
                <a16:creationId xmlns:a16="http://schemas.microsoft.com/office/drawing/2014/main" id="{983D6FCB-27C3-14B6-EEDC-C003184CCECC}"/>
              </a:ext>
            </a:extLst>
          </p:cNvPr>
          <p:cNvSpPr/>
          <p:nvPr/>
        </p:nvSpPr>
        <p:spPr>
          <a:xfrm>
            <a:off x="2834762" y="1300209"/>
            <a:ext cx="116" cy="232920"/>
          </a:xfrm>
          <a:prstGeom prst="line">
            <a:avLst/>
          </a:prstGeom>
          <a:ln w="1524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Shape 61">
            <a:extLst>
              <a:ext uri="{FF2B5EF4-FFF2-40B4-BE49-F238E27FC236}">
                <a16:creationId xmlns:a16="http://schemas.microsoft.com/office/drawing/2014/main" id="{88FB57C2-BACB-25CE-86AC-0FC56999AC9A}"/>
              </a:ext>
            </a:extLst>
          </p:cNvPr>
          <p:cNvSpPr/>
          <p:nvPr/>
        </p:nvSpPr>
        <p:spPr>
          <a:xfrm>
            <a:off x="2788920" y="1224526"/>
            <a:ext cx="91080" cy="91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Text 62">
            <a:extLst>
              <a:ext uri="{FF2B5EF4-FFF2-40B4-BE49-F238E27FC236}">
                <a16:creationId xmlns:a16="http://schemas.microsoft.com/office/drawing/2014/main" id="{0EFA2D7A-F0C7-8905-BA91-CCB4D5461CC7}"/>
              </a:ext>
            </a:extLst>
          </p:cNvPr>
          <p:cNvSpPr/>
          <p:nvPr/>
        </p:nvSpPr>
        <p:spPr>
          <a:xfrm>
            <a:off x="2880360" y="1361686"/>
            <a:ext cx="29232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DC2626"/>
                </a:solidFill>
                <a:latin typeface="Calibri"/>
                <a:ea typeface="Calibri"/>
              </a:rPr>
              <a:t>YES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Shape 63">
            <a:extLst>
              <a:ext uri="{FF2B5EF4-FFF2-40B4-BE49-F238E27FC236}">
                <a16:creationId xmlns:a16="http://schemas.microsoft.com/office/drawing/2014/main" id="{C0EE61F2-41B0-53C1-46E5-95D1E6B27082}"/>
              </a:ext>
            </a:extLst>
          </p:cNvPr>
          <p:cNvSpPr/>
          <p:nvPr/>
        </p:nvSpPr>
        <p:spPr>
          <a:xfrm>
            <a:off x="3152948" y="1841989"/>
            <a:ext cx="487664" cy="41"/>
          </a:xfrm>
          <a:prstGeom prst="line">
            <a:avLst/>
          </a:prstGeom>
          <a:ln w="1524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Shape 64">
            <a:extLst>
              <a:ext uri="{FF2B5EF4-FFF2-40B4-BE49-F238E27FC236}">
                <a16:creationId xmlns:a16="http://schemas.microsoft.com/office/drawing/2014/main" id="{1B3E7185-C8C3-F7AD-74C0-A5E1B988CDDD}"/>
              </a:ext>
            </a:extLst>
          </p:cNvPr>
          <p:cNvSpPr/>
          <p:nvPr/>
        </p:nvSpPr>
        <p:spPr>
          <a:xfrm>
            <a:off x="3657600" y="1800526"/>
            <a:ext cx="63720" cy="91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Text 65">
            <a:extLst>
              <a:ext uri="{FF2B5EF4-FFF2-40B4-BE49-F238E27FC236}">
                <a16:creationId xmlns:a16="http://schemas.microsoft.com/office/drawing/2014/main" id="{3DC936E2-FDD5-DAD3-C02C-7C6BC4C1A3AB}"/>
              </a:ext>
            </a:extLst>
          </p:cNvPr>
          <p:cNvSpPr/>
          <p:nvPr/>
        </p:nvSpPr>
        <p:spPr>
          <a:xfrm>
            <a:off x="3153130" y="1718446"/>
            <a:ext cx="25560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D97706"/>
                </a:solidFill>
                <a:latin typeface="Calibri"/>
                <a:ea typeface="Calibri"/>
              </a:rPr>
              <a:t>NO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Shape 66">
            <a:extLst>
              <a:ext uri="{FF2B5EF4-FFF2-40B4-BE49-F238E27FC236}">
                <a16:creationId xmlns:a16="http://schemas.microsoft.com/office/drawing/2014/main" id="{CA6FCE09-6E0F-6055-5B9F-AEEB0C3055C3}"/>
              </a:ext>
            </a:extLst>
          </p:cNvPr>
          <p:cNvSpPr/>
          <p:nvPr/>
        </p:nvSpPr>
        <p:spPr>
          <a:xfrm>
            <a:off x="3721680" y="1553926"/>
            <a:ext cx="1005480" cy="585000"/>
          </a:xfrm>
          <a:prstGeom prst="rect">
            <a:avLst/>
          </a:prstGeom>
          <a:solidFill>
            <a:srgbClr val="0F1D42"/>
          </a:solidFill>
          <a:ln w="101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Text 67">
            <a:extLst>
              <a:ext uri="{FF2B5EF4-FFF2-40B4-BE49-F238E27FC236}">
                <a16:creationId xmlns:a16="http://schemas.microsoft.com/office/drawing/2014/main" id="{3D467F5E-CDEA-CF14-6869-A023DF575D09}"/>
              </a:ext>
            </a:extLst>
          </p:cNvPr>
          <p:cNvSpPr/>
          <p:nvPr/>
        </p:nvSpPr>
        <p:spPr>
          <a:xfrm>
            <a:off x="3794760" y="1617646"/>
            <a:ext cx="8773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93C5FD"/>
                </a:solidFill>
                <a:latin typeface="Calibri"/>
                <a:ea typeface="Calibri"/>
              </a:rPr>
              <a:t>FFTW3  ·  FFT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Text 68">
            <a:extLst>
              <a:ext uri="{FF2B5EF4-FFF2-40B4-BE49-F238E27FC236}">
                <a16:creationId xmlns:a16="http://schemas.microsoft.com/office/drawing/2014/main" id="{4D1AF660-7C2A-DBC4-97FA-AE3BDC461BEF}"/>
              </a:ext>
            </a:extLst>
          </p:cNvPr>
          <p:cNvSpPr/>
          <p:nvPr/>
        </p:nvSpPr>
        <p:spPr>
          <a:xfrm>
            <a:off x="3794760" y="1791526"/>
            <a:ext cx="877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2048-point FFT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75% overlap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512-sample hop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Text 69">
            <a:extLst>
              <a:ext uri="{FF2B5EF4-FFF2-40B4-BE49-F238E27FC236}">
                <a16:creationId xmlns:a16="http://schemas.microsoft.com/office/drawing/2014/main" id="{C8E9CAE4-0D1D-95D3-475F-1EF9A01B3752}"/>
              </a:ext>
            </a:extLst>
          </p:cNvPr>
          <p:cNvSpPr/>
          <p:nvPr/>
        </p:nvSpPr>
        <p:spPr>
          <a:xfrm>
            <a:off x="4374315" y="1974820"/>
            <a:ext cx="8773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i="1" strike="noStrike" spc="-1" dirty="0">
                <a:solidFill>
                  <a:srgbClr val="ED4E33"/>
                </a:solidFill>
                <a:latin typeface="Calibri"/>
                <a:ea typeface="Calibri"/>
              </a:rPr>
              <a:t>~23ms</a:t>
            </a:r>
            <a:endParaRPr lang="en-US" sz="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Shape 70">
            <a:extLst>
              <a:ext uri="{FF2B5EF4-FFF2-40B4-BE49-F238E27FC236}">
                <a16:creationId xmlns:a16="http://schemas.microsoft.com/office/drawing/2014/main" id="{B6A10F9D-FE82-5D2B-6D82-B67D66993AAA}"/>
              </a:ext>
            </a:extLst>
          </p:cNvPr>
          <p:cNvSpPr/>
          <p:nvPr/>
        </p:nvSpPr>
        <p:spPr>
          <a:xfrm>
            <a:off x="4720376" y="1841080"/>
            <a:ext cx="309604" cy="360"/>
          </a:xfrm>
          <a:prstGeom prst="line">
            <a:avLst/>
          </a:prstGeom>
          <a:ln w="1524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Shape 71">
            <a:extLst>
              <a:ext uri="{FF2B5EF4-FFF2-40B4-BE49-F238E27FC236}">
                <a16:creationId xmlns:a16="http://schemas.microsoft.com/office/drawing/2014/main" id="{2000AA11-31A5-7502-3C57-B7B6A58B5A63}"/>
              </a:ext>
            </a:extLst>
          </p:cNvPr>
          <p:cNvSpPr/>
          <p:nvPr/>
        </p:nvSpPr>
        <p:spPr>
          <a:xfrm>
            <a:off x="5038740" y="1800526"/>
            <a:ext cx="63720" cy="91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Shape 72">
            <a:extLst>
              <a:ext uri="{FF2B5EF4-FFF2-40B4-BE49-F238E27FC236}">
                <a16:creationId xmlns:a16="http://schemas.microsoft.com/office/drawing/2014/main" id="{1FD7AFEC-5450-920C-C9EB-33F9DAA3BBB0}"/>
              </a:ext>
            </a:extLst>
          </p:cNvPr>
          <p:cNvSpPr/>
          <p:nvPr/>
        </p:nvSpPr>
        <p:spPr>
          <a:xfrm>
            <a:off x="5111640" y="1553926"/>
            <a:ext cx="1005480" cy="585000"/>
          </a:xfrm>
          <a:prstGeom prst="rect">
            <a:avLst/>
          </a:prstGeom>
          <a:solidFill>
            <a:srgbClr val="140E28"/>
          </a:solidFill>
          <a:ln w="1016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Text 73">
            <a:extLst>
              <a:ext uri="{FF2B5EF4-FFF2-40B4-BE49-F238E27FC236}">
                <a16:creationId xmlns:a16="http://schemas.microsoft.com/office/drawing/2014/main" id="{E38C9130-D1C2-E7FF-E07F-2F8F6C7B8AF2}"/>
              </a:ext>
            </a:extLst>
          </p:cNvPr>
          <p:cNvSpPr/>
          <p:nvPr/>
        </p:nvSpPr>
        <p:spPr>
          <a:xfrm>
            <a:off x="5184720" y="1617646"/>
            <a:ext cx="8773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C4B5FD"/>
                </a:solidFill>
                <a:latin typeface="Calibri"/>
                <a:ea typeface="Calibri"/>
              </a:rPr>
              <a:t>Spectrogram Ring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Text 74">
            <a:extLst>
              <a:ext uri="{FF2B5EF4-FFF2-40B4-BE49-F238E27FC236}">
                <a16:creationId xmlns:a16="http://schemas.microsoft.com/office/drawing/2014/main" id="{C00979A5-BB3C-FF95-1AC7-8A662D25180B}"/>
              </a:ext>
            </a:extLst>
          </p:cNvPr>
          <p:cNvSpPr/>
          <p:nvPr/>
        </p:nvSpPr>
        <p:spPr>
          <a:xfrm>
            <a:off x="5184720" y="1791526"/>
            <a:ext cx="877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Accumulate 64 frames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Log-magnitude scale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→ 1024×64 tensor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Shape 75">
            <a:extLst>
              <a:ext uri="{FF2B5EF4-FFF2-40B4-BE49-F238E27FC236}">
                <a16:creationId xmlns:a16="http://schemas.microsoft.com/office/drawing/2014/main" id="{D2628D88-A9E1-CAD9-DC80-DDEB24E0FDE3}"/>
              </a:ext>
            </a:extLst>
          </p:cNvPr>
          <p:cNvSpPr/>
          <p:nvPr/>
        </p:nvSpPr>
        <p:spPr>
          <a:xfrm>
            <a:off x="6095962" y="1846246"/>
            <a:ext cx="340564" cy="360"/>
          </a:xfrm>
          <a:prstGeom prst="line">
            <a:avLst/>
          </a:prstGeom>
          <a:ln w="1524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Shape 76">
            <a:extLst>
              <a:ext uri="{FF2B5EF4-FFF2-40B4-BE49-F238E27FC236}">
                <a16:creationId xmlns:a16="http://schemas.microsoft.com/office/drawing/2014/main" id="{7B2FF586-7C40-40DA-A433-94D0EF40A998}"/>
              </a:ext>
            </a:extLst>
          </p:cNvPr>
          <p:cNvSpPr/>
          <p:nvPr/>
        </p:nvSpPr>
        <p:spPr>
          <a:xfrm>
            <a:off x="6435229" y="1800526"/>
            <a:ext cx="63720" cy="91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Shape 77">
            <a:extLst>
              <a:ext uri="{FF2B5EF4-FFF2-40B4-BE49-F238E27FC236}">
                <a16:creationId xmlns:a16="http://schemas.microsoft.com/office/drawing/2014/main" id="{61FDBD7B-84C3-00F3-F741-3565C6D3123A}"/>
              </a:ext>
            </a:extLst>
          </p:cNvPr>
          <p:cNvSpPr/>
          <p:nvPr/>
        </p:nvSpPr>
        <p:spPr>
          <a:xfrm>
            <a:off x="6501240" y="1553926"/>
            <a:ext cx="1005480" cy="585000"/>
          </a:xfrm>
          <a:prstGeom prst="rect">
            <a:avLst/>
          </a:prstGeom>
          <a:solidFill>
            <a:srgbClr val="1C1005"/>
          </a:solidFill>
          <a:ln w="1016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Text 78">
            <a:extLst>
              <a:ext uri="{FF2B5EF4-FFF2-40B4-BE49-F238E27FC236}">
                <a16:creationId xmlns:a16="http://schemas.microsoft.com/office/drawing/2014/main" id="{BC4E8D1B-5E28-70B2-7EC1-5C98388B899C}"/>
              </a:ext>
            </a:extLst>
          </p:cNvPr>
          <p:cNvSpPr/>
          <p:nvPr/>
        </p:nvSpPr>
        <p:spPr>
          <a:xfrm>
            <a:off x="6574680" y="1617646"/>
            <a:ext cx="8773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FCD34D"/>
                </a:solidFill>
                <a:latin typeface="Calibri"/>
                <a:ea typeface="Calibri"/>
              </a:rPr>
              <a:t>ZMQ PUB  :5555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Text 79">
            <a:extLst>
              <a:ext uri="{FF2B5EF4-FFF2-40B4-BE49-F238E27FC236}">
                <a16:creationId xmlns:a16="http://schemas.microsoft.com/office/drawing/2014/main" id="{D723C378-C08F-39D2-98FF-31242865850E}"/>
              </a:ext>
            </a:extLst>
          </p:cNvPr>
          <p:cNvSpPr/>
          <p:nvPr/>
        </p:nvSpPr>
        <p:spPr>
          <a:xfrm>
            <a:off x="6574680" y="1791526"/>
            <a:ext cx="877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Frame 0: JSON header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{rms,bins,frames,ts}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Frame 1: float32 tensor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Shape 80">
            <a:extLst>
              <a:ext uri="{FF2B5EF4-FFF2-40B4-BE49-F238E27FC236}">
                <a16:creationId xmlns:a16="http://schemas.microsoft.com/office/drawing/2014/main" id="{EFD5698D-D2C4-E2C5-A7F5-479BA0A50B9B}"/>
              </a:ext>
            </a:extLst>
          </p:cNvPr>
          <p:cNvSpPr/>
          <p:nvPr/>
        </p:nvSpPr>
        <p:spPr>
          <a:xfrm>
            <a:off x="7891200" y="1553926"/>
            <a:ext cx="1005480" cy="585000"/>
          </a:xfrm>
          <a:prstGeom prst="roundRect">
            <a:avLst>
              <a:gd name="adj" fmla="val 12500"/>
            </a:avLst>
          </a:prstGeom>
          <a:solidFill>
            <a:srgbClr val="0A2015"/>
          </a:solidFill>
          <a:ln w="2286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Text 81">
            <a:extLst>
              <a:ext uri="{FF2B5EF4-FFF2-40B4-BE49-F238E27FC236}">
                <a16:creationId xmlns:a16="http://schemas.microsoft.com/office/drawing/2014/main" id="{71B65886-11B7-6EDE-866F-9869F4B26C28}"/>
              </a:ext>
            </a:extLst>
          </p:cNvPr>
          <p:cNvSpPr/>
          <p:nvPr/>
        </p:nvSpPr>
        <p:spPr>
          <a:xfrm>
            <a:off x="7927920" y="1617646"/>
            <a:ext cx="9324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86EFAC"/>
                </a:solidFill>
                <a:latin typeface="Calibri"/>
                <a:ea typeface="Calibri"/>
              </a:rPr>
              <a:t>✓  NORMAL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Text 82">
            <a:extLst>
              <a:ext uri="{FF2B5EF4-FFF2-40B4-BE49-F238E27FC236}">
                <a16:creationId xmlns:a16="http://schemas.microsoft.com/office/drawing/2014/main" id="{8B57D997-8966-746F-F589-FF83CD737F01}"/>
              </a:ext>
            </a:extLst>
          </p:cNvPr>
          <p:cNvSpPr/>
          <p:nvPr/>
        </p:nvSpPr>
        <p:spPr>
          <a:xfrm>
            <a:off x="7927920" y="1800526"/>
            <a:ext cx="93240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86EFAC"/>
                </a:solidFill>
                <a:latin typeface="Calibri"/>
                <a:ea typeface="Calibri"/>
              </a:rPr>
              <a:t>No fault detected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86EFAC"/>
                </a:solidFill>
                <a:latin typeface="Calibri"/>
                <a:ea typeface="Calibri"/>
              </a:rPr>
              <a:t>Loop back to start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86EFAC"/>
                </a:solidFill>
                <a:latin typeface="Calibri"/>
                <a:ea typeface="Calibri"/>
              </a:rPr>
              <a:t>keep monitoring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Shape 83">
            <a:extLst>
              <a:ext uri="{FF2B5EF4-FFF2-40B4-BE49-F238E27FC236}">
                <a16:creationId xmlns:a16="http://schemas.microsoft.com/office/drawing/2014/main" id="{25AC6BE7-AAE2-83C3-B76D-1F99CC6490CB}"/>
              </a:ext>
            </a:extLst>
          </p:cNvPr>
          <p:cNvSpPr/>
          <p:nvPr/>
        </p:nvSpPr>
        <p:spPr>
          <a:xfrm>
            <a:off x="73080" y="2385886"/>
            <a:ext cx="9033840" cy="164160"/>
          </a:xfrm>
          <a:prstGeom prst="rect">
            <a:avLst/>
          </a:prstGeom>
          <a:solidFill>
            <a:srgbClr val="0A0A0A"/>
          </a:solidFill>
          <a:ln w="5080">
            <a:solidFill>
              <a:srgbClr val="7A1E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Shape 84">
            <a:extLst>
              <a:ext uri="{FF2B5EF4-FFF2-40B4-BE49-F238E27FC236}">
                <a16:creationId xmlns:a16="http://schemas.microsoft.com/office/drawing/2014/main" id="{89219615-D2C0-343E-3EE6-F35EDA1D4EA1}"/>
              </a:ext>
            </a:extLst>
          </p:cNvPr>
          <p:cNvSpPr/>
          <p:nvPr/>
        </p:nvSpPr>
        <p:spPr>
          <a:xfrm>
            <a:off x="84600" y="2467966"/>
            <a:ext cx="2724840" cy="360"/>
          </a:xfrm>
          <a:prstGeom prst="line">
            <a:avLst/>
          </a:prstGeom>
          <a:ln w="15240">
            <a:solidFill>
              <a:srgbClr val="7A1E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Shape 85">
            <a:extLst>
              <a:ext uri="{FF2B5EF4-FFF2-40B4-BE49-F238E27FC236}">
                <a16:creationId xmlns:a16="http://schemas.microsoft.com/office/drawing/2014/main" id="{B1E07547-33DD-20CC-339C-A04993965C6B}"/>
              </a:ext>
            </a:extLst>
          </p:cNvPr>
          <p:cNvSpPr/>
          <p:nvPr/>
        </p:nvSpPr>
        <p:spPr>
          <a:xfrm>
            <a:off x="7228800" y="2467966"/>
            <a:ext cx="1878120" cy="5760"/>
          </a:xfrm>
          <a:prstGeom prst="line">
            <a:avLst/>
          </a:prstGeom>
          <a:ln w="15240">
            <a:solidFill>
              <a:srgbClr val="7A1E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240" rIns="90000" bIns="-3924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Shape 86">
            <a:extLst>
              <a:ext uri="{FF2B5EF4-FFF2-40B4-BE49-F238E27FC236}">
                <a16:creationId xmlns:a16="http://schemas.microsoft.com/office/drawing/2014/main" id="{9D4B9D71-0E4B-0696-30BB-9B0257097BF8}"/>
              </a:ext>
            </a:extLst>
          </p:cNvPr>
          <p:cNvSpPr/>
          <p:nvPr/>
        </p:nvSpPr>
        <p:spPr>
          <a:xfrm>
            <a:off x="2108520" y="2404246"/>
            <a:ext cx="5083560" cy="127800"/>
          </a:xfrm>
          <a:prstGeom prst="rect">
            <a:avLst/>
          </a:prstGeom>
          <a:solidFill>
            <a:srgbClr val="1A0A05"/>
          </a:solidFill>
          <a:ln w="1016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Text 87">
            <a:extLst>
              <a:ext uri="{FF2B5EF4-FFF2-40B4-BE49-F238E27FC236}">
                <a16:creationId xmlns:a16="http://schemas.microsoft.com/office/drawing/2014/main" id="{6CECAFEA-C4D9-087E-4D00-DD68762B9BEF}"/>
              </a:ext>
            </a:extLst>
          </p:cNvPr>
          <p:cNvSpPr/>
          <p:nvPr/>
        </p:nvSpPr>
        <p:spPr>
          <a:xfrm>
            <a:off x="2144880" y="2408926"/>
            <a:ext cx="502884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ED4E33"/>
                </a:solidFill>
                <a:latin typeface="Calibri"/>
                <a:ea typeface="Calibri"/>
              </a:rPr>
              <a:t>ZeroMQ PUB/SUB  ·  PORT :5555  ·  Factory Intranet  ·  1024×64 float32 tensor  +  JSON header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Shape 88">
            <a:extLst>
              <a:ext uri="{FF2B5EF4-FFF2-40B4-BE49-F238E27FC236}">
                <a16:creationId xmlns:a16="http://schemas.microsoft.com/office/drawing/2014/main" id="{2E59F82F-AC66-831E-042E-6CA002F3883C}"/>
              </a:ext>
            </a:extLst>
          </p:cNvPr>
          <p:cNvSpPr/>
          <p:nvPr/>
        </p:nvSpPr>
        <p:spPr>
          <a:xfrm>
            <a:off x="941760" y="2797366"/>
            <a:ext cx="1005480" cy="585000"/>
          </a:xfrm>
          <a:prstGeom prst="rect">
            <a:avLst/>
          </a:prstGeom>
          <a:solidFill>
            <a:srgbClr val="1C1005"/>
          </a:solidFill>
          <a:ln w="1016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Text 89">
            <a:extLst>
              <a:ext uri="{FF2B5EF4-FFF2-40B4-BE49-F238E27FC236}">
                <a16:creationId xmlns:a16="http://schemas.microsoft.com/office/drawing/2014/main" id="{6D4E6FB4-6812-4CAA-8ABF-6A82822BADB2}"/>
              </a:ext>
            </a:extLst>
          </p:cNvPr>
          <p:cNvSpPr/>
          <p:nvPr/>
        </p:nvSpPr>
        <p:spPr>
          <a:xfrm>
            <a:off x="1014840" y="2861446"/>
            <a:ext cx="8773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FCD34D"/>
                </a:solidFill>
                <a:latin typeface="Calibri"/>
                <a:ea typeface="Calibri"/>
              </a:rPr>
              <a:t>Normalize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Text 90">
            <a:extLst>
              <a:ext uri="{FF2B5EF4-FFF2-40B4-BE49-F238E27FC236}">
                <a16:creationId xmlns:a16="http://schemas.microsoft.com/office/drawing/2014/main" id="{61228700-6628-C573-64CB-FCCEFC6BE882}"/>
              </a:ext>
            </a:extLst>
          </p:cNvPr>
          <p:cNvSpPr/>
          <p:nvPr/>
        </p:nvSpPr>
        <p:spPr>
          <a:xfrm>
            <a:off x="1014840" y="3034966"/>
            <a:ext cx="877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Apply norm_stats.json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Map tensor to [0,1]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Match training dist.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Shape 91">
            <a:extLst>
              <a:ext uri="{FF2B5EF4-FFF2-40B4-BE49-F238E27FC236}">
                <a16:creationId xmlns:a16="http://schemas.microsoft.com/office/drawing/2014/main" id="{F9A85A99-556B-2768-1321-F80DC552019E}"/>
              </a:ext>
            </a:extLst>
          </p:cNvPr>
          <p:cNvSpPr/>
          <p:nvPr/>
        </p:nvSpPr>
        <p:spPr>
          <a:xfrm>
            <a:off x="1930997" y="3089686"/>
            <a:ext cx="339928" cy="360"/>
          </a:xfrm>
          <a:prstGeom prst="line">
            <a:avLst/>
          </a:prstGeom>
          <a:ln w="1524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Shape 92">
            <a:extLst>
              <a:ext uri="{FF2B5EF4-FFF2-40B4-BE49-F238E27FC236}">
                <a16:creationId xmlns:a16="http://schemas.microsoft.com/office/drawing/2014/main" id="{D0FF7085-92D9-E083-4E3C-C552BEE578D1}"/>
              </a:ext>
            </a:extLst>
          </p:cNvPr>
          <p:cNvSpPr/>
          <p:nvPr/>
        </p:nvSpPr>
        <p:spPr>
          <a:xfrm>
            <a:off x="2270126" y="3044326"/>
            <a:ext cx="63720" cy="91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Shape 93">
            <a:extLst>
              <a:ext uri="{FF2B5EF4-FFF2-40B4-BE49-F238E27FC236}">
                <a16:creationId xmlns:a16="http://schemas.microsoft.com/office/drawing/2014/main" id="{7E1EF568-B9B8-6D8F-DAB1-6F2103A7783B}"/>
              </a:ext>
            </a:extLst>
          </p:cNvPr>
          <p:cNvSpPr/>
          <p:nvPr/>
        </p:nvSpPr>
        <p:spPr>
          <a:xfrm>
            <a:off x="2331720" y="2797366"/>
            <a:ext cx="1005480" cy="585000"/>
          </a:xfrm>
          <a:prstGeom prst="rect">
            <a:avLst/>
          </a:prstGeom>
          <a:solidFill>
            <a:srgbClr val="200A04"/>
          </a:solidFill>
          <a:ln w="1016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Text 94">
            <a:extLst>
              <a:ext uri="{FF2B5EF4-FFF2-40B4-BE49-F238E27FC236}">
                <a16:creationId xmlns:a16="http://schemas.microsoft.com/office/drawing/2014/main" id="{4227EBC9-A9A5-46CE-13BA-B928F34C74C3}"/>
              </a:ext>
            </a:extLst>
          </p:cNvPr>
          <p:cNvSpPr/>
          <p:nvPr/>
        </p:nvSpPr>
        <p:spPr>
          <a:xfrm>
            <a:off x="2404800" y="2861446"/>
            <a:ext cx="8773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ED4E33"/>
                </a:solidFill>
                <a:latin typeface="Calibri"/>
                <a:ea typeface="Calibri"/>
              </a:rPr>
              <a:t>ConvAutoencoder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Text 95">
            <a:extLst>
              <a:ext uri="{FF2B5EF4-FFF2-40B4-BE49-F238E27FC236}">
                <a16:creationId xmlns:a16="http://schemas.microsoft.com/office/drawing/2014/main" id="{2B86383E-3F55-0432-2DE4-ED4DEEE56455}"/>
              </a:ext>
            </a:extLst>
          </p:cNvPr>
          <p:cNvSpPr/>
          <p:nvPr/>
        </p:nvSpPr>
        <p:spPr>
          <a:xfrm>
            <a:off x="2404800" y="3034966"/>
            <a:ext cx="877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Encoder: 3×Conv2d stride 2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Decoder: reconstruct input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Trained on HEALTHY only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Shape 96">
            <a:extLst>
              <a:ext uri="{FF2B5EF4-FFF2-40B4-BE49-F238E27FC236}">
                <a16:creationId xmlns:a16="http://schemas.microsoft.com/office/drawing/2014/main" id="{A265EDE4-B8F6-16D6-298F-83D958AFB475}"/>
              </a:ext>
            </a:extLst>
          </p:cNvPr>
          <p:cNvSpPr/>
          <p:nvPr/>
        </p:nvSpPr>
        <p:spPr>
          <a:xfrm>
            <a:off x="3332306" y="3089686"/>
            <a:ext cx="255393" cy="360"/>
          </a:xfrm>
          <a:prstGeom prst="line">
            <a:avLst/>
          </a:prstGeom>
          <a:ln w="1524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Shape 97">
            <a:extLst>
              <a:ext uri="{FF2B5EF4-FFF2-40B4-BE49-F238E27FC236}">
                <a16:creationId xmlns:a16="http://schemas.microsoft.com/office/drawing/2014/main" id="{7D82073D-5AEF-497D-9486-FD9942FAA5E2}"/>
              </a:ext>
            </a:extLst>
          </p:cNvPr>
          <p:cNvSpPr/>
          <p:nvPr/>
        </p:nvSpPr>
        <p:spPr>
          <a:xfrm>
            <a:off x="3593821" y="3044326"/>
            <a:ext cx="63720" cy="91080"/>
          </a:xfrm>
          <a:prstGeom prst="rect">
            <a:avLst/>
          </a:prstGeom>
          <a:solidFill>
            <a:srgbClr val="ED4E33"/>
          </a:solidFill>
          <a:ln w="127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Shape 98">
            <a:extLst>
              <a:ext uri="{FF2B5EF4-FFF2-40B4-BE49-F238E27FC236}">
                <a16:creationId xmlns:a16="http://schemas.microsoft.com/office/drawing/2014/main" id="{EE146F05-D4AD-33B2-F566-7D1C38319030}"/>
              </a:ext>
            </a:extLst>
          </p:cNvPr>
          <p:cNvSpPr/>
          <p:nvPr/>
        </p:nvSpPr>
        <p:spPr>
          <a:xfrm>
            <a:off x="3675960" y="2751646"/>
            <a:ext cx="1096920" cy="676440"/>
          </a:xfrm>
          <a:prstGeom prst="rect">
            <a:avLst/>
          </a:prstGeom>
          <a:solidFill>
            <a:srgbClr val="1A0805"/>
          </a:solidFill>
          <a:ln w="2794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Shape 99">
            <a:extLst>
              <a:ext uri="{FF2B5EF4-FFF2-40B4-BE49-F238E27FC236}">
                <a16:creationId xmlns:a16="http://schemas.microsoft.com/office/drawing/2014/main" id="{E4514D8C-0916-BFDE-8F1E-9BCCBC7B9270}"/>
              </a:ext>
            </a:extLst>
          </p:cNvPr>
          <p:cNvSpPr/>
          <p:nvPr/>
        </p:nvSpPr>
        <p:spPr>
          <a:xfrm>
            <a:off x="3721680" y="2797366"/>
            <a:ext cx="1005480" cy="585000"/>
          </a:xfrm>
          <a:prstGeom prst="rect">
            <a:avLst/>
          </a:prstGeom>
          <a:solidFill>
            <a:srgbClr val="160604"/>
          </a:solidFill>
          <a:ln w="10160">
            <a:solidFill>
              <a:srgbClr val="7A1E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Text 100">
            <a:extLst>
              <a:ext uri="{FF2B5EF4-FFF2-40B4-BE49-F238E27FC236}">
                <a16:creationId xmlns:a16="http://schemas.microsoft.com/office/drawing/2014/main" id="{16C57C80-2621-7A87-510C-AECF8F7567D7}"/>
              </a:ext>
            </a:extLst>
          </p:cNvPr>
          <p:cNvSpPr/>
          <p:nvPr/>
        </p:nvSpPr>
        <p:spPr>
          <a:xfrm>
            <a:off x="3794760" y="2861446"/>
            <a:ext cx="8773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ED4E33"/>
                </a:solidFill>
                <a:latin typeface="Calibri"/>
                <a:ea typeface="Calibri"/>
              </a:rPr>
              <a:t>AMD Ryzen AI NPU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" name="Text 101">
            <a:extLst>
              <a:ext uri="{FF2B5EF4-FFF2-40B4-BE49-F238E27FC236}">
                <a16:creationId xmlns:a16="http://schemas.microsoft.com/office/drawing/2014/main" id="{6C815A4F-9231-F490-0BB9-55680F0E439E}"/>
              </a:ext>
            </a:extLst>
          </p:cNvPr>
          <p:cNvSpPr/>
          <p:nvPr/>
        </p:nvSpPr>
        <p:spPr>
          <a:xfrm>
            <a:off x="3794760" y="3034966"/>
            <a:ext cx="877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Vitis AI Runtime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ONNX Exec. Provider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XDNA · 50 TOPS · 15W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" name="Text 102">
            <a:extLst>
              <a:ext uri="{FF2B5EF4-FFF2-40B4-BE49-F238E27FC236}">
                <a16:creationId xmlns:a16="http://schemas.microsoft.com/office/drawing/2014/main" id="{76C0FD66-547D-E0D7-ED1B-33659B58AAE2}"/>
              </a:ext>
            </a:extLst>
          </p:cNvPr>
          <p:cNvSpPr/>
          <p:nvPr/>
        </p:nvSpPr>
        <p:spPr>
          <a:xfrm>
            <a:off x="4468761" y="3252964"/>
            <a:ext cx="87732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i="1" strike="noStrike" spc="-1">
                <a:solidFill>
                  <a:srgbClr val="ED4E33"/>
                </a:solidFill>
                <a:latin typeface="Calibri"/>
                <a:ea typeface="Calibri"/>
              </a:rPr>
              <a:t>~4.7ms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" name="Shape 103">
            <a:extLst>
              <a:ext uri="{FF2B5EF4-FFF2-40B4-BE49-F238E27FC236}">
                <a16:creationId xmlns:a16="http://schemas.microsoft.com/office/drawing/2014/main" id="{F072BD22-A797-4B95-F514-EF7B11652AF6}"/>
              </a:ext>
            </a:extLst>
          </p:cNvPr>
          <p:cNvSpPr/>
          <p:nvPr/>
        </p:nvSpPr>
        <p:spPr>
          <a:xfrm>
            <a:off x="4727160" y="3089686"/>
            <a:ext cx="649440" cy="360"/>
          </a:xfrm>
          <a:prstGeom prst="line">
            <a:avLst/>
          </a:prstGeom>
          <a:ln w="1524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Shape 104">
            <a:extLst>
              <a:ext uri="{FF2B5EF4-FFF2-40B4-BE49-F238E27FC236}">
                <a16:creationId xmlns:a16="http://schemas.microsoft.com/office/drawing/2014/main" id="{541F8498-869B-5D84-1172-96D7F7A2D5EA}"/>
              </a:ext>
            </a:extLst>
          </p:cNvPr>
          <p:cNvSpPr/>
          <p:nvPr/>
        </p:nvSpPr>
        <p:spPr>
          <a:xfrm>
            <a:off x="5312520" y="3044326"/>
            <a:ext cx="63720" cy="91080"/>
          </a:xfrm>
          <a:prstGeom prst="rect">
            <a:avLst/>
          </a:prstGeom>
          <a:solidFill>
            <a:srgbClr val="ED4E33"/>
          </a:solidFill>
          <a:ln w="127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Shape 105">
            <a:extLst>
              <a:ext uri="{FF2B5EF4-FFF2-40B4-BE49-F238E27FC236}">
                <a16:creationId xmlns:a16="http://schemas.microsoft.com/office/drawing/2014/main" id="{EC4187BC-5E8D-DDA1-F8E3-8136206417C6}"/>
              </a:ext>
            </a:extLst>
          </p:cNvPr>
          <p:cNvSpPr/>
          <p:nvPr/>
        </p:nvSpPr>
        <p:spPr>
          <a:xfrm rot="2700000">
            <a:off x="5376960" y="2852086"/>
            <a:ext cx="475200" cy="475200"/>
          </a:xfrm>
          <a:prstGeom prst="rect">
            <a:avLst/>
          </a:prstGeom>
          <a:solidFill>
            <a:srgbClr val="1A0805"/>
          </a:solidFill>
          <a:ln w="2286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Text 106">
            <a:extLst>
              <a:ext uri="{FF2B5EF4-FFF2-40B4-BE49-F238E27FC236}">
                <a16:creationId xmlns:a16="http://schemas.microsoft.com/office/drawing/2014/main" id="{1386639B-8F17-CCAF-3A80-F4014F16DD0B}"/>
              </a:ext>
            </a:extLst>
          </p:cNvPr>
          <p:cNvSpPr/>
          <p:nvPr/>
        </p:nvSpPr>
        <p:spPr>
          <a:xfrm>
            <a:off x="5413320" y="2934526"/>
            <a:ext cx="420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-1">
                <a:solidFill>
                  <a:srgbClr val="FFFFFF"/>
                </a:solidFill>
                <a:latin typeface="Calibri"/>
                <a:ea typeface="Calibri"/>
              </a:rPr>
              <a:t>MSE &gt;</a:t>
            </a:r>
            <a:endParaRPr lang="en-US" sz="7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-1">
                <a:solidFill>
                  <a:srgbClr val="FFFFFF"/>
                </a:solidFill>
                <a:latin typeface="Calibri"/>
                <a:ea typeface="Calibri"/>
              </a:rPr>
              <a:t>0.180?</a:t>
            </a:r>
            <a:endParaRPr lang="en-US" sz="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Shape 107">
            <a:extLst>
              <a:ext uri="{FF2B5EF4-FFF2-40B4-BE49-F238E27FC236}">
                <a16:creationId xmlns:a16="http://schemas.microsoft.com/office/drawing/2014/main" id="{F9641F2A-C35E-A263-3DF3-17E2684148B3}"/>
              </a:ext>
            </a:extLst>
          </p:cNvPr>
          <p:cNvSpPr/>
          <p:nvPr/>
        </p:nvSpPr>
        <p:spPr>
          <a:xfrm>
            <a:off x="5932868" y="3089686"/>
            <a:ext cx="487664" cy="360"/>
          </a:xfrm>
          <a:prstGeom prst="line">
            <a:avLst/>
          </a:prstGeom>
          <a:ln w="1524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Shape 108">
            <a:extLst>
              <a:ext uri="{FF2B5EF4-FFF2-40B4-BE49-F238E27FC236}">
                <a16:creationId xmlns:a16="http://schemas.microsoft.com/office/drawing/2014/main" id="{1009B742-D222-1D57-CED2-3BF6458BC0C9}"/>
              </a:ext>
            </a:extLst>
          </p:cNvPr>
          <p:cNvSpPr/>
          <p:nvPr/>
        </p:nvSpPr>
        <p:spPr>
          <a:xfrm>
            <a:off x="6437520" y="3044326"/>
            <a:ext cx="63720" cy="91080"/>
          </a:xfrm>
          <a:prstGeom prst="rect">
            <a:avLst/>
          </a:prstGeom>
          <a:solidFill>
            <a:srgbClr val="ED4E33"/>
          </a:solidFill>
          <a:ln w="127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" name="Text 109">
            <a:extLst>
              <a:ext uri="{FF2B5EF4-FFF2-40B4-BE49-F238E27FC236}">
                <a16:creationId xmlns:a16="http://schemas.microsoft.com/office/drawing/2014/main" id="{A473C4DB-AAA4-3CF2-3971-E6F45EEF8C7B}"/>
              </a:ext>
            </a:extLst>
          </p:cNvPr>
          <p:cNvSpPr/>
          <p:nvPr/>
        </p:nvSpPr>
        <p:spPr>
          <a:xfrm>
            <a:off x="5955140" y="2961886"/>
            <a:ext cx="25560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 dirty="0">
                <a:solidFill>
                  <a:srgbClr val="ED4E33"/>
                </a:solidFill>
                <a:latin typeface="Calibri"/>
                <a:ea typeface="Calibri"/>
              </a:rPr>
              <a:t>YES</a:t>
            </a:r>
            <a:endParaRPr lang="en-US" sz="6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" name="Shape 110">
            <a:extLst>
              <a:ext uri="{FF2B5EF4-FFF2-40B4-BE49-F238E27FC236}">
                <a16:creationId xmlns:a16="http://schemas.microsoft.com/office/drawing/2014/main" id="{638237A6-0DDF-0548-B276-0E1CEBC7F222}"/>
              </a:ext>
            </a:extLst>
          </p:cNvPr>
          <p:cNvSpPr/>
          <p:nvPr/>
        </p:nvSpPr>
        <p:spPr>
          <a:xfrm>
            <a:off x="6501240" y="2797366"/>
            <a:ext cx="1005480" cy="585000"/>
          </a:xfrm>
          <a:prstGeom prst="rect">
            <a:avLst/>
          </a:prstGeom>
          <a:solidFill>
            <a:srgbClr val="140E28"/>
          </a:solidFill>
          <a:ln w="1016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Text 111">
            <a:extLst>
              <a:ext uri="{FF2B5EF4-FFF2-40B4-BE49-F238E27FC236}">
                <a16:creationId xmlns:a16="http://schemas.microsoft.com/office/drawing/2014/main" id="{3B5EE14B-B864-F623-BC99-622BED3129E4}"/>
              </a:ext>
            </a:extLst>
          </p:cNvPr>
          <p:cNvSpPr/>
          <p:nvPr/>
        </p:nvSpPr>
        <p:spPr>
          <a:xfrm>
            <a:off x="6574680" y="2861446"/>
            <a:ext cx="8773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C4B5FD"/>
                </a:solidFill>
                <a:latin typeface="Calibri"/>
                <a:ea typeface="Calibri"/>
              </a:rPr>
              <a:t>Ollama LLM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Text 112">
            <a:extLst>
              <a:ext uri="{FF2B5EF4-FFF2-40B4-BE49-F238E27FC236}">
                <a16:creationId xmlns:a16="http://schemas.microsoft.com/office/drawing/2014/main" id="{0C569DE7-53FF-F130-4B43-0CC52BDF978C}"/>
              </a:ext>
            </a:extLst>
          </p:cNvPr>
          <p:cNvSpPr/>
          <p:nvPr/>
        </p:nvSpPr>
        <p:spPr>
          <a:xfrm>
            <a:off x="6574680" y="3034966"/>
            <a:ext cx="877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Generate explanation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Any language · offline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EN · HI · MR · others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Shape 113">
            <a:extLst>
              <a:ext uri="{FF2B5EF4-FFF2-40B4-BE49-F238E27FC236}">
                <a16:creationId xmlns:a16="http://schemas.microsoft.com/office/drawing/2014/main" id="{28DA2BF0-A83B-4F4E-FAE1-31A49DD64E96}"/>
              </a:ext>
            </a:extLst>
          </p:cNvPr>
          <p:cNvSpPr/>
          <p:nvPr/>
        </p:nvSpPr>
        <p:spPr>
          <a:xfrm>
            <a:off x="7511141" y="3089686"/>
            <a:ext cx="280932" cy="360"/>
          </a:xfrm>
          <a:prstGeom prst="line">
            <a:avLst/>
          </a:prstGeom>
          <a:ln w="1524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Shape 114">
            <a:extLst>
              <a:ext uri="{FF2B5EF4-FFF2-40B4-BE49-F238E27FC236}">
                <a16:creationId xmlns:a16="http://schemas.microsoft.com/office/drawing/2014/main" id="{DF719761-EB75-6707-1D0D-39FD827AB052}"/>
              </a:ext>
            </a:extLst>
          </p:cNvPr>
          <p:cNvSpPr/>
          <p:nvPr/>
        </p:nvSpPr>
        <p:spPr>
          <a:xfrm>
            <a:off x="7803096" y="3044326"/>
            <a:ext cx="63720" cy="91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Shape 115">
            <a:extLst>
              <a:ext uri="{FF2B5EF4-FFF2-40B4-BE49-F238E27FC236}">
                <a16:creationId xmlns:a16="http://schemas.microsoft.com/office/drawing/2014/main" id="{ED649137-9959-44F7-06E6-7B8AB0FD828A}"/>
              </a:ext>
            </a:extLst>
          </p:cNvPr>
          <p:cNvSpPr/>
          <p:nvPr/>
        </p:nvSpPr>
        <p:spPr>
          <a:xfrm>
            <a:off x="7891200" y="2797366"/>
            <a:ext cx="1005480" cy="585000"/>
          </a:xfrm>
          <a:prstGeom prst="rect">
            <a:avLst/>
          </a:prstGeom>
          <a:solidFill>
            <a:srgbClr val="0A180E"/>
          </a:solidFill>
          <a:ln w="1016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Text 116">
            <a:extLst>
              <a:ext uri="{FF2B5EF4-FFF2-40B4-BE49-F238E27FC236}">
                <a16:creationId xmlns:a16="http://schemas.microsoft.com/office/drawing/2014/main" id="{EE514394-A1D2-181E-2FB6-CADC8D439AE1}"/>
              </a:ext>
            </a:extLst>
          </p:cNvPr>
          <p:cNvSpPr/>
          <p:nvPr/>
        </p:nvSpPr>
        <p:spPr>
          <a:xfrm>
            <a:off x="7964280" y="2861446"/>
            <a:ext cx="8773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86EFAC"/>
                </a:solidFill>
                <a:latin typeface="Calibri"/>
                <a:ea typeface="Calibri"/>
              </a:rPr>
              <a:t>ZMQ PUB  :5557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Text 117">
            <a:extLst>
              <a:ext uri="{FF2B5EF4-FFF2-40B4-BE49-F238E27FC236}">
                <a16:creationId xmlns:a16="http://schemas.microsoft.com/office/drawing/2014/main" id="{9C5D7652-D425-26AA-1F0E-73A3A2FD8B75}"/>
              </a:ext>
            </a:extLst>
          </p:cNvPr>
          <p:cNvSpPr/>
          <p:nvPr/>
        </p:nvSpPr>
        <p:spPr>
          <a:xfrm>
            <a:off x="7964280" y="3034966"/>
            <a:ext cx="877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{mse, rms, severity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alert, spectrogram}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6B7280"/>
                </a:solidFill>
                <a:latin typeface="Calibri"/>
                <a:ea typeface="Calibri"/>
              </a:rPr>
              <a:t>→ Node C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Shape 118">
            <a:extLst>
              <a:ext uri="{FF2B5EF4-FFF2-40B4-BE49-F238E27FC236}">
                <a16:creationId xmlns:a16="http://schemas.microsoft.com/office/drawing/2014/main" id="{147FD629-1855-5D59-4793-B9E77AF402E8}"/>
              </a:ext>
            </a:extLst>
          </p:cNvPr>
          <p:cNvSpPr/>
          <p:nvPr/>
        </p:nvSpPr>
        <p:spPr>
          <a:xfrm>
            <a:off x="5614200" y="2236126"/>
            <a:ext cx="0" cy="517680"/>
          </a:xfrm>
          <a:prstGeom prst="line">
            <a:avLst/>
          </a:prstGeom>
          <a:ln w="1524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Shape 119">
            <a:extLst>
              <a:ext uri="{FF2B5EF4-FFF2-40B4-BE49-F238E27FC236}">
                <a16:creationId xmlns:a16="http://schemas.microsoft.com/office/drawing/2014/main" id="{F675DD35-8F05-9A3E-CCCD-30318CFAAEF6}"/>
              </a:ext>
            </a:extLst>
          </p:cNvPr>
          <p:cNvSpPr/>
          <p:nvPr/>
        </p:nvSpPr>
        <p:spPr>
          <a:xfrm>
            <a:off x="5614200" y="2243326"/>
            <a:ext cx="2779920" cy="360"/>
          </a:xfrm>
          <a:prstGeom prst="line">
            <a:avLst/>
          </a:prstGeom>
          <a:ln w="1524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" name="Shape 120">
            <a:extLst>
              <a:ext uri="{FF2B5EF4-FFF2-40B4-BE49-F238E27FC236}">
                <a16:creationId xmlns:a16="http://schemas.microsoft.com/office/drawing/2014/main" id="{81B18B0E-8E81-96F9-C684-25D4AEBDA1D1}"/>
              </a:ext>
            </a:extLst>
          </p:cNvPr>
          <p:cNvSpPr/>
          <p:nvPr/>
        </p:nvSpPr>
        <p:spPr>
          <a:xfrm flipV="1">
            <a:off x="8394120" y="2153686"/>
            <a:ext cx="360" cy="89640"/>
          </a:xfrm>
          <a:prstGeom prst="line">
            <a:avLst/>
          </a:prstGeom>
          <a:ln w="1524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4640" rIns="90000" bIns="4464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Text 122">
            <a:extLst>
              <a:ext uri="{FF2B5EF4-FFF2-40B4-BE49-F238E27FC236}">
                <a16:creationId xmlns:a16="http://schemas.microsoft.com/office/drawing/2014/main" id="{57074414-2037-595A-1A93-487E34E16C50}"/>
              </a:ext>
            </a:extLst>
          </p:cNvPr>
          <p:cNvSpPr/>
          <p:nvPr/>
        </p:nvSpPr>
        <p:spPr>
          <a:xfrm>
            <a:off x="5660280" y="2244046"/>
            <a:ext cx="25560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16A34A"/>
                </a:solidFill>
                <a:latin typeface="Calibri"/>
                <a:ea typeface="Calibri"/>
              </a:rPr>
              <a:t>NO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" name="Shape 123">
            <a:extLst>
              <a:ext uri="{FF2B5EF4-FFF2-40B4-BE49-F238E27FC236}">
                <a16:creationId xmlns:a16="http://schemas.microsoft.com/office/drawing/2014/main" id="{26B97843-CBD5-9FAC-8EEE-A22EC542DFCD}"/>
              </a:ext>
            </a:extLst>
          </p:cNvPr>
          <p:cNvSpPr/>
          <p:nvPr/>
        </p:nvSpPr>
        <p:spPr>
          <a:xfrm>
            <a:off x="73080" y="3629326"/>
            <a:ext cx="9033840" cy="164160"/>
          </a:xfrm>
          <a:prstGeom prst="rect">
            <a:avLst/>
          </a:prstGeom>
          <a:solidFill>
            <a:srgbClr val="0A0A0A"/>
          </a:solidFill>
          <a:ln w="5080">
            <a:solidFill>
              <a:srgbClr val="14532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Shape 124">
            <a:extLst>
              <a:ext uri="{FF2B5EF4-FFF2-40B4-BE49-F238E27FC236}">
                <a16:creationId xmlns:a16="http://schemas.microsoft.com/office/drawing/2014/main" id="{7F1722E7-0017-5212-C0F4-05F5A8AAAADE}"/>
              </a:ext>
            </a:extLst>
          </p:cNvPr>
          <p:cNvSpPr/>
          <p:nvPr/>
        </p:nvSpPr>
        <p:spPr>
          <a:xfrm>
            <a:off x="84600" y="3711766"/>
            <a:ext cx="2724840" cy="360"/>
          </a:xfrm>
          <a:prstGeom prst="line">
            <a:avLst/>
          </a:prstGeom>
          <a:ln w="15240">
            <a:solidFill>
              <a:srgbClr val="14532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Shape 125">
            <a:extLst>
              <a:ext uri="{FF2B5EF4-FFF2-40B4-BE49-F238E27FC236}">
                <a16:creationId xmlns:a16="http://schemas.microsoft.com/office/drawing/2014/main" id="{C4E0328A-2F9E-3954-BAD7-E5D0CE90650A}"/>
              </a:ext>
            </a:extLst>
          </p:cNvPr>
          <p:cNvSpPr/>
          <p:nvPr/>
        </p:nvSpPr>
        <p:spPr>
          <a:xfrm flipV="1">
            <a:off x="7192080" y="3712126"/>
            <a:ext cx="1896840" cy="6120"/>
          </a:xfrm>
          <a:prstGeom prst="line">
            <a:avLst/>
          </a:prstGeom>
          <a:ln w="15240">
            <a:solidFill>
              <a:srgbClr val="14532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8880" rIns="90000" bIns="-3888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" name="Shape 126">
            <a:extLst>
              <a:ext uri="{FF2B5EF4-FFF2-40B4-BE49-F238E27FC236}">
                <a16:creationId xmlns:a16="http://schemas.microsoft.com/office/drawing/2014/main" id="{086092E6-CDD2-CB62-E70A-988D390B4A91}"/>
              </a:ext>
            </a:extLst>
          </p:cNvPr>
          <p:cNvSpPr/>
          <p:nvPr/>
        </p:nvSpPr>
        <p:spPr>
          <a:xfrm>
            <a:off x="2108520" y="3647686"/>
            <a:ext cx="5083560" cy="127800"/>
          </a:xfrm>
          <a:prstGeom prst="rect">
            <a:avLst/>
          </a:prstGeom>
          <a:solidFill>
            <a:srgbClr val="0A2015"/>
          </a:solidFill>
          <a:ln w="1016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Text 127">
            <a:extLst>
              <a:ext uri="{FF2B5EF4-FFF2-40B4-BE49-F238E27FC236}">
                <a16:creationId xmlns:a16="http://schemas.microsoft.com/office/drawing/2014/main" id="{5F379A76-330A-6564-7DC8-BECCA54C9271}"/>
              </a:ext>
            </a:extLst>
          </p:cNvPr>
          <p:cNvSpPr/>
          <p:nvPr/>
        </p:nvSpPr>
        <p:spPr>
          <a:xfrm>
            <a:off x="2108880" y="3652366"/>
            <a:ext cx="502884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86EFAC"/>
                </a:solidFill>
                <a:latin typeface="Calibri"/>
                <a:ea typeface="Calibri"/>
              </a:rPr>
              <a:t>ZeroMQ PUB/SUB  ·  PORT :5557  ·  {mse, rms, severity, alert}  ·  Socket.IO  →  Browser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Shape 128">
            <a:extLst>
              <a:ext uri="{FF2B5EF4-FFF2-40B4-BE49-F238E27FC236}">
                <a16:creationId xmlns:a16="http://schemas.microsoft.com/office/drawing/2014/main" id="{EE8927B2-3D81-2366-B6B2-CE333B3A7C4E}"/>
              </a:ext>
            </a:extLst>
          </p:cNvPr>
          <p:cNvSpPr/>
          <p:nvPr/>
        </p:nvSpPr>
        <p:spPr>
          <a:xfrm>
            <a:off x="941760" y="3857926"/>
            <a:ext cx="1005480" cy="328680"/>
          </a:xfrm>
          <a:prstGeom prst="rect">
            <a:avLst/>
          </a:prstGeom>
          <a:solidFill>
            <a:srgbClr val="061520"/>
          </a:solidFill>
          <a:ln w="1016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Text 129">
            <a:extLst>
              <a:ext uri="{FF2B5EF4-FFF2-40B4-BE49-F238E27FC236}">
                <a16:creationId xmlns:a16="http://schemas.microsoft.com/office/drawing/2014/main" id="{6C98B746-8CD7-5C6C-A026-5D3D992E76D8}"/>
              </a:ext>
            </a:extLst>
          </p:cNvPr>
          <p:cNvSpPr/>
          <p:nvPr/>
        </p:nvSpPr>
        <p:spPr>
          <a:xfrm>
            <a:off x="1014840" y="3922006"/>
            <a:ext cx="8773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7DD3FC"/>
                </a:solidFill>
                <a:latin typeface="Calibri"/>
                <a:ea typeface="Calibri"/>
              </a:rPr>
              <a:t>React Dashboard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Text 130">
            <a:extLst>
              <a:ext uri="{FF2B5EF4-FFF2-40B4-BE49-F238E27FC236}">
                <a16:creationId xmlns:a16="http://schemas.microsoft.com/office/drawing/2014/main" id="{EF94A934-04D1-E1E7-E1BE-D77B08BE33E8}"/>
              </a:ext>
            </a:extLst>
          </p:cNvPr>
          <p:cNvSpPr/>
          <p:nvPr/>
        </p:nvSpPr>
        <p:spPr>
          <a:xfrm>
            <a:off x="1014840" y="4095886"/>
            <a:ext cx="877320" cy="1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" b="0" strike="noStrike" spc="-1" dirty="0">
                <a:solidFill>
                  <a:srgbClr val="6B7280"/>
                </a:solidFill>
                <a:latin typeface="Calibri"/>
                <a:ea typeface="Calibri"/>
              </a:rPr>
              <a:t>Node.js · Socket.IO</a:t>
            </a:r>
            <a:endParaRPr lang="en-US" sz="500" b="0" strike="noStrike" spc="-1" dirty="0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" b="0" strike="noStrike" spc="-1" dirty="0">
                <a:solidFill>
                  <a:srgbClr val="6B7280"/>
                </a:solidFill>
                <a:latin typeface="Calibri"/>
                <a:ea typeface="Calibri"/>
              </a:rPr>
              <a:t>Live RMS spectrogram</a:t>
            </a:r>
            <a:endParaRPr lang="en-US" sz="5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Shape 131">
            <a:extLst>
              <a:ext uri="{FF2B5EF4-FFF2-40B4-BE49-F238E27FC236}">
                <a16:creationId xmlns:a16="http://schemas.microsoft.com/office/drawing/2014/main" id="{1C6A5E82-A1F9-F175-130B-E2D2DCBB4ADE}"/>
              </a:ext>
            </a:extLst>
          </p:cNvPr>
          <p:cNvSpPr/>
          <p:nvPr/>
        </p:nvSpPr>
        <p:spPr>
          <a:xfrm>
            <a:off x="1950866" y="4022446"/>
            <a:ext cx="309025" cy="360"/>
          </a:xfrm>
          <a:prstGeom prst="line">
            <a:avLst/>
          </a:prstGeom>
          <a:ln w="1524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Shape 132">
            <a:extLst>
              <a:ext uri="{FF2B5EF4-FFF2-40B4-BE49-F238E27FC236}">
                <a16:creationId xmlns:a16="http://schemas.microsoft.com/office/drawing/2014/main" id="{4CBC63E4-EA26-D300-F3C7-B1E73251C9EF}"/>
              </a:ext>
            </a:extLst>
          </p:cNvPr>
          <p:cNvSpPr/>
          <p:nvPr/>
        </p:nvSpPr>
        <p:spPr>
          <a:xfrm>
            <a:off x="2243614" y="3977086"/>
            <a:ext cx="63720" cy="91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Shape 133">
            <a:extLst>
              <a:ext uri="{FF2B5EF4-FFF2-40B4-BE49-F238E27FC236}">
                <a16:creationId xmlns:a16="http://schemas.microsoft.com/office/drawing/2014/main" id="{5CFEACCF-9DF9-3D35-4D16-9B5F401084B9}"/>
              </a:ext>
            </a:extLst>
          </p:cNvPr>
          <p:cNvSpPr/>
          <p:nvPr/>
        </p:nvSpPr>
        <p:spPr>
          <a:xfrm>
            <a:off x="2331720" y="3857926"/>
            <a:ext cx="1005480" cy="328680"/>
          </a:xfrm>
          <a:prstGeom prst="rect">
            <a:avLst/>
          </a:prstGeom>
          <a:solidFill>
            <a:srgbClr val="1C1005"/>
          </a:solidFill>
          <a:ln w="1016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Text 134">
            <a:extLst>
              <a:ext uri="{FF2B5EF4-FFF2-40B4-BE49-F238E27FC236}">
                <a16:creationId xmlns:a16="http://schemas.microsoft.com/office/drawing/2014/main" id="{D906DCB5-96CA-F8B8-FA48-DC7CDD5E5453}"/>
              </a:ext>
            </a:extLst>
          </p:cNvPr>
          <p:cNvSpPr/>
          <p:nvPr/>
        </p:nvSpPr>
        <p:spPr>
          <a:xfrm>
            <a:off x="2404800" y="3922006"/>
            <a:ext cx="8773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FCD34D"/>
                </a:solidFill>
                <a:latin typeface="Calibri"/>
                <a:ea typeface="Calibri"/>
              </a:rPr>
              <a:t>Harmonic Analysis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Text 135">
            <a:extLst>
              <a:ext uri="{FF2B5EF4-FFF2-40B4-BE49-F238E27FC236}">
                <a16:creationId xmlns:a16="http://schemas.microsoft.com/office/drawing/2014/main" id="{FC2B11DB-7F67-6DA3-2227-AFE5748D7E47}"/>
              </a:ext>
            </a:extLst>
          </p:cNvPr>
          <p:cNvSpPr/>
          <p:nvPr/>
        </p:nvSpPr>
        <p:spPr>
          <a:xfrm>
            <a:off x="2404800" y="4095886"/>
            <a:ext cx="877320" cy="1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" b="0" strike="noStrike" spc="-1">
                <a:solidFill>
                  <a:srgbClr val="6B7280"/>
                </a:solidFill>
                <a:latin typeface="Calibri"/>
                <a:ea typeface="Calibri"/>
              </a:rPr>
              <a:t>1× 2× 3× shaft freq</a:t>
            </a:r>
            <a:endParaRPr lang="en-US" sz="5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" b="0" strike="noStrike" spc="-1">
                <a:solidFill>
                  <a:srgbClr val="6B7280"/>
                </a:solidFill>
                <a:latin typeface="Calibri"/>
                <a:ea typeface="Calibri"/>
              </a:rPr>
              <a:t>ISO 10816 fault bands</a:t>
            </a:r>
            <a:endParaRPr lang="en-US" sz="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Shape 136">
            <a:extLst>
              <a:ext uri="{FF2B5EF4-FFF2-40B4-BE49-F238E27FC236}">
                <a16:creationId xmlns:a16="http://schemas.microsoft.com/office/drawing/2014/main" id="{2CCCF61B-2CEF-23C7-25D8-CBA1101CC849}"/>
              </a:ext>
            </a:extLst>
          </p:cNvPr>
          <p:cNvSpPr/>
          <p:nvPr/>
        </p:nvSpPr>
        <p:spPr>
          <a:xfrm>
            <a:off x="3340826" y="4022446"/>
            <a:ext cx="309025" cy="360"/>
          </a:xfrm>
          <a:prstGeom prst="line">
            <a:avLst/>
          </a:prstGeom>
          <a:ln w="1524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Shape 137">
            <a:extLst>
              <a:ext uri="{FF2B5EF4-FFF2-40B4-BE49-F238E27FC236}">
                <a16:creationId xmlns:a16="http://schemas.microsoft.com/office/drawing/2014/main" id="{37F8BAD3-B24E-ED18-246F-36C5D2EECEFC}"/>
              </a:ext>
            </a:extLst>
          </p:cNvPr>
          <p:cNvSpPr/>
          <p:nvPr/>
        </p:nvSpPr>
        <p:spPr>
          <a:xfrm>
            <a:off x="3633574" y="3977086"/>
            <a:ext cx="63720" cy="91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Shape 138">
            <a:extLst>
              <a:ext uri="{FF2B5EF4-FFF2-40B4-BE49-F238E27FC236}">
                <a16:creationId xmlns:a16="http://schemas.microsoft.com/office/drawing/2014/main" id="{C8AFC78E-F9E7-FF25-D8B4-71A9DCCA447B}"/>
              </a:ext>
            </a:extLst>
          </p:cNvPr>
          <p:cNvSpPr/>
          <p:nvPr/>
        </p:nvSpPr>
        <p:spPr>
          <a:xfrm>
            <a:off x="3721680" y="3857926"/>
            <a:ext cx="1005480" cy="328680"/>
          </a:xfrm>
          <a:prstGeom prst="roundRect">
            <a:avLst>
              <a:gd name="adj" fmla="val 27778"/>
            </a:avLst>
          </a:prstGeom>
          <a:solidFill>
            <a:srgbClr val="2D0A0A"/>
          </a:solidFill>
          <a:ln w="1905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Text 139">
            <a:extLst>
              <a:ext uri="{FF2B5EF4-FFF2-40B4-BE49-F238E27FC236}">
                <a16:creationId xmlns:a16="http://schemas.microsoft.com/office/drawing/2014/main" id="{3928DEC7-9A1A-F371-7FA8-A6BDF2B7C3CD}"/>
              </a:ext>
            </a:extLst>
          </p:cNvPr>
          <p:cNvSpPr/>
          <p:nvPr/>
        </p:nvSpPr>
        <p:spPr>
          <a:xfrm>
            <a:off x="3776400" y="3903646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FCA5A5"/>
                </a:solidFill>
                <a:latin typeface="Calibri"/>
                <a:ea typeface="Calibri"/>
              </a:rPr>
              <a:t>⚠  WARNING STATE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Text 140">
            <a:extLst>
              <a:ext uri="{FF2B5EF4-FFF2-40B4-BE49-F238E27FC236}">
                <a16:creationId xmlns:a16="http://schemas.microsoft.com/office/drawing/2014/main" id="{151B5CDA-5D4B-6D92-BF8A-18D04526D56F}"/>
              </a:ext>
            </a:extLst>
          </p:cNvPr>
          <p:cNvSpPr/>
          <p:nvPr/>
        </p:nvSpPr>
        <p:spPr>
          <a:xfrm>
            <a:off x="3776400" y="4077526"/>
            <a:ext cx="914040" cy="7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" b="0" strike="noStrike" spc="-1">
                <a:solidFill>
                  <a:srgbClr val="FCA5A5"/>
                </a:solidFill>
                <a:latin typeface="Calibri"/>
                <a:ea typeface="Calibri"/>
              </a:rPr>
              <a:t>Score + fault explanation</a:t>
            </a:r>
            <a:endParaRPr lang="en-US" sz="5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" b="0" strike="noStrike" spc="-1">
                <a:solidFill>
                  <a:srgbClr val="FCA5A5"/>
                </a:solidFill>
                <a:latin typeface="Calibri"/>
                <a:ea typeface="Calibri"/>
              </a:rPr>
              <a:t>displayed to engineer</a:t>
            </a:r>
            <a:endParaRPr lang="en-US" sz="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1" name="Shape 141">
            <a:extLst>
              <a:ext uri="{FF2B5EF4-FFF2-40B4-BE49-F238E27FC236}">
                <a16:creationId xmlns:a16="http://schemas.microsoft.com/office/drawing/2014/main" id="{2AE65A03-6C50-3971-8855-2DA2707872BF}"/>
              </a:ext>
            </a:extLst>
          </p:cNvPr>
          <p:cNvSpPr/>
          <p:nvPr/>
        </p:nvSpPr>
        <p:spPr>
          <a:xfrm>
            <a:off x="4730316" y="4022446"/>
            <a:ext cx="309604" cy="360"/>
          </a:xfrm>
          <a:prstGeom prst="line">
            <a:avLst/>
          </a:prstGeom>
          <a:ln w="1524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2" name="Shape 142">
            <a:extLst>
              <a:ext uri="{FF2B5EF4-FFF2-40B4-BE49-F238E27FC236}">
                <a16:creationId xmlns:a16="http://schemas.microsoft.com/office/drawing/2014/main" id="{0DA4E021-6835-8257-1904-470EC9602F78}"/>
              </a:ext>
            </a:extLst>
          </p:cNvPr>
          <p:cNvSpPr/>
          <p:nvPr/>
        </p:nvSpPr>
        <p:spPr>
          <a:xfrm>
            <a:off x="5023174" y="3977086"/>
            <a:ext cx="63720" cy="91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Shape 143">
            <a:extLst>
              <a:ext uri="{FF2B5EF4-FFF2-40B4-BE49-F238E27FC236}">
                <a16:creationId xmlns:a16="http://schemas.microsoft.com/office/drawing/2014/main" id="{80E708BD-7541-E783-C92E-9131C8693B81}"/>
              </a:ext>
            </a:extLst>
          </p:cNvPr>
          <p:cNvSpPr/>
          <p:nvPr/>
        </p:nvSpPr>
        <p:spPr>
          <a:xfrm>
            <a:off x="5111640" y="3857926"/>
            <a:ext cx="1005480" cy="328680"/>
          </a:xfrm>
          <a:prstGeom prst="rect">
            <a:avLst/>
          </a:prstGeom>
          <a:solidFill>
            <a:srgbClr val="061520"/>
          </a:solidFill>
          <a:ln w="1016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4" name="Text 144">
            <a:extLst>
              <a:ext uri="{FF2B5EF4-FFF2-40B4-BE49-F238E27FC236}">
                <a16:creationId xmlns:a16="http://schemas.microsoft.com/office/drawing/2014/main" id="{024773FD-83D6-BA27-FD1F-D5531746A92C}"/>
              </a:ext>
            </a:extLst>
          </p:cNvPr>
          <p:cNvSpPr/>
          <p:nvPr/>
        </p:nvSpPr>
        <p:spPr>
          <a:xfrm>
            <a:off x="5184720" y="3922006"/>
            <a:ext cx="8773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7DD3FC"/>
                </a:solidFill>
                <a:latin typeface="Calibri"/>
                <a:ea typeface="Calibri"/>
              </a:rPr>
              <a:t>Engineer Action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Text 145">
            <a:extLst>
              <a:ext uri="{FF2B5EF4-FFF2-40B4-BE49-F238E27FC236}">
                <a16:creationId xmlns:a16="http://schemas.microsoft.com/office/drawing/2014/main" id="{56070F84-0DE3-6BD9-6FED-44E8ADFBFAB4}"/>
              </a:ext>
            </a:extLst>
          </p:cNvPr>
          <p:cNvSpPr/>
          <p:nvPr/>
        </p:nvSpPr>
        <p:spPr>
          <a:xfrm>
            <a:off x="5184720" y="4095886"/>
            <a:ext cx="877320" cy="1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" b="0" strike="noStrike" spc="-1">
                <a:solidFill>
                  <a:srgbClr val="6B7280"/>
                </a:solidFill>
                <a:latin typeface="Calibri"/>
                <a:ea typeface="Calibri"/>
              </a:rPr>
              <a:t>Reads cause · schedules</a:t>
            </a:r>
            <a:endParaRPr lang="en-US" sz="5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" b="0" strike="noStrike" spc="-1">
                <a:solidFill>
                  <a:srgbClr val="6B7280"/>
                </a:solidFill>
                <a:latin typeface="Calibri"/>
                <a:ea typeface="Calibri"/>
              </a:rPr>
              <a:t>maintenance</a:t>
            </a:r>
            <a:endParaRPr lang="en-US" sz="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6" name="Shape 146">
            <a:extLst>
              <a:ext uri="{FF2B5EF4-FFF2-40B4-BE49-F238E27FC236}">
                <a16:creationId xmlns:a16="http://schemas.microsoft.com/office/drawing/2014/main" id="{FBEDE197-2136-7F18-659D-620C5663F6E2}"/>
              </a:ext>
            </a:extLst>
          </p:cNvPr>
          <p:cNvSpPr/>
          <p:nvPr/>
        </p:nvSpPr>
        <p:spPr>
          <a:xfrm>
            <a:off x="6120276" y="4022446"/>
            <a:ext cx="309604" cy="360"/>
          </a:xfrm>
          <a:prstGeom prst="line">
            <a:avLst/>
          </a:prstGeom>
          <a:ln w="1524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Shape 147">
            <a:extLst>
              <a:ext uri="{FF2B5EF4-FFF2-40B4-BE49-F238E27FC236}">
                <a16:creationId xmlns:a16="http://schemas.microsoft.com/office/drawing/2014/main" id="{2668B379-C789-A7B3-1DF0-33CEDCA90599}"/>
              </a:ext>
            </a:extLst>
          </p:cNvPr>
          <p:cNvSpPr/>
          <p:nvPr/>
        </p:nvSpPr>
        <p:spPr>
          <a:xfrm>
            <a:off x="6413134" y="3977086"/>
            <a:ext cx="63720" cy="91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Shape 148">
            <a:extLst>
              <a:ext uri="{FF2B5EF4-FFF2-40B4-BE49-F238E27FC236}">
                <a16:creationId xmlns:a16="http://schemas.microsoft.com/office/drawing/2014/main" id="{67CFA12C-E5AE-EE8D-4574-B8EAD6AEA9B7}"/>
              </a:ext>
            </a:extLst>
          </p:cNvPr>
          <p:cNvSpPr/>
          <p:nvPr/>
        </p:nvSpPr>
        <p:spPr>
          <a:xfrm>
            <a:off x="6501240" y="3857926"/>
            <a:ext cx="1005480" cy="328680"/>
          </a:xfrm>
          <a:prstGeom prst="roundRect">
            <a:avLst>
              <a:gd name="adj" fmla="val 27778"/>
            </a:avLst>
          </a:prstGeom>
          <a:solidFill>
            <a:srgbClr val="0A2015"/>
          </a:solidFill>
          <a:ln w="1905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Text 149">
            <a:extLst>
              <a:ext uri="{FF2B5EF4-FFF2-40B4-BE49-F238E27FC236}">
                <a16:creationId xmlns:a16="http://schemas.microsoft.com/office/drawing/2014/main" id="{E6B7CC0B-9D3D-9759-FCBC-62BA2506B8CF}"/>
              </a:ext>
            </a:extLst>
          </p:cNvPr>
          <p:cNvSpPr/>
          <p:nvPr/>
        </p:nvSpPr>
        <p:spPr>
          <a:xfrm>
            <a:off x="6556320" y="3903646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86EFAC"/>
                </a:solidFill>
                <a:latin typeface="Calibri"/>
                <a:ea typeface="Calibri"/>
              </a:rPr>
              <a:t>RESOLVED</a:t>
            </a:r>
            <a:endParaRPr lang="en-US" sz="7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0" name="Text 150">
            <a:extLst>
              <a:ext uri="{FF2B5EF4-FFF2-40B4-BE49-F238E27FC236}">
                <a16:creationId xmlns:a16="http://schemas.microsoft.com/office/drawing/2014/main" id="{B9C4A38F-08F7-A01A-F89B-8767D2DA084F}"/>
              </a:ext>
            </a:extLst>
          </p:cNvPr>
          <p:cNvSpPr/>
          <p:nvPr/>
        </p:nvSpPr>
        <p:spPr>
          <a:xfrm>
            <a:off x="6556320" y="4077526"/>
            <a:ext cx="914040" cy="7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" b="0" strike="noStrike" spc="-1">
                <a:solidFill>
                  <a:srgbClr val="4ADE80"/>
                </a:solidFill>
                <a:latin typeface="Calibri"/>
                <a:ea typeface="Calibri"/>
              </a:rPr>
              <a:t>Fault prevented</a:t>
            </a:r>
            <a:endParaRPr lang="en-US" sz="5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" b="0" strike="noStrike" spc="-1">
                <a:solidFill>
                  <a:srgbClr val="4ADE80"/>
                </a:solidFill>
                <a:latin typeface="Calibri"/>
                <a:ea typeface="Calibri"/>
              </a:rPr>
              <a:t>Downtime avoided</a:t>
            </a:r>
            <a:endParaRPr lang="en-US" sz="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Shape 151">
            <a:extLst>
              <a:ext uri="{FF2B5EF4-FFF2-40B4-BE49-F238E27FC236}">
                <a16:creationId xmlns:a16="http://schemas.microsoft.com/office/drawing/2014/main" id="{74F6D5FD-D042-98A1-9AAB-349D2A8C51CF}"/>
              </a:ext>
            </a:extLst>
          </p:cNvPr>
          <p:cNvSpPr/>
          <p:nvPr/>
        </p:nvSpPr>
        <p:spPr>
          <a:xfrm>
            <a:off x="0" y="4360846"/>
            <a:ext cx="9143640" cy="529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2" name="Shape 152">
            <a:extLst>
              <a:ext uri="{FF2B5EF4-FFF2-40B4-BE49-F238E27FC236}">
                <a16:creationId xmlns:a16="http://schemas.microsoft.com/office/drawing/2014/main" id="{88FA6E06-7DE1-8169-1301-81788AA5B491}"/>
              </a:ext>
            </a:extLst>
          </p:cNvPr>
          <p:cNvSpPr/>
          <p:nvPr/>
        </p:nvSpPr>
        <p:spPr>
          <a:xfrm>
            <a:off x="0" y="4360846"/>
            <a:ext cx="9144000" cy="360"/>
          </a:xfrm>
          <a:prstGeom prst="line">
            <a:avLst/>
          </a:prstGeom>
          <a:ln w="1524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3" name="Text 153">
            <a:extLst>
              <a:ext uri="{FF2B5EF4-FFF2-40B4-BE49-F238E27FC236}">
                <a16:creationId xmlns:a16="http://schemas.microsoft.com/office/drawing/2014/main" id="{13DCED87-34B0-B0EA-F44C-EF8E7A28165D}"/>
              </a:ext>
            </a:extLst>
          </p:cNvPr>
          <p:cNvSpPr/>
          <p:nvPr/>
        </p:nvSpPr>
        <p:spPr>
          <a:xfrm>
            <a:off x="0" y="4406566"/>
            <a:ext cx="15235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&lt;1ms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4" name="Text 154">
            <a:extLst>
              <a:ext uri="{FF2B5EF4-FFF2-40B4-BE49-F238E27FC236}">
                <a16:creationId xmlns:a16="http://schemas.microsoft.com/office/drawing/2014/main" id="{AF5067F2-B5F2-4012-F779-8506CE7C5D0D}"/>
              </a:ext>
            </a:extLst>
          </p:cNvPr>
          <p:cNvSpPr/>
          <p:nvPr/>
        </p:nvSpPr>
        <p:spPr>
          <a:xfrm>
            <a:off x="0" y="4662886"/>
            <a:ext cx="15235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77">
                <a:solidFill>
                  <a:srgbClr val="6B7280"/>
                </a:solidFill>
                <a:latin typeface="Calibri"/>
                <a:ea typeface="Calibri"/>
              </a:rPr>
              <a:t>SAFETY GATE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5" name="Shape 155">
            <a:extLst>
              <a:ext uri="{FF2B5EF4-FFF2-40B4-BE49-F238E27FC236}">
                <a16:creationId xmlns:a16="http://schemas.microsoft.com/office/drawing/2014/main" id="{3AC4E053-316D-0EAA-2EAE-6D7BF2B02FF6}"/>
              </a:ext>
            </a:extLst>
          </p:cNvPr>
          <p:cNvSpPr/>
          <p:nvPr/>
        </p:nvSpPr>
        <p:spPr>
          <a:xfrm>
            <a:off x="1523880" y="4415566"/>
            <a:ext cx="360" cy="402480"/>
          </a:xfrm>
          <a:prstGeom prst="line">
            <a:avLst/>
          </a:prstGeom>
          <a:ln w="508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6" name="Text 156">
            <a:extLst>
              <a:ext uri="{FF2B5EF4-FFF2-40B4-BE49-F238E27FC236}">
                <a16:creationId xmlns:a16="http://schemas.microsoft.com/office/drawing/2014/main" id="{66A095DC-1666-1618-E217-BB0F48FDA5BE}"/>
              </a:ext>
            </a:extLst>
          </p:cNvPr>
          <p:cNvSpPr/>
          <p:nvPr/>
        </p:nvSpPr>
        <p:spPr>
          <a:xfrm>
            <a:off x="1523880" y="4406566"/>
            <a:ext cx="15235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23ms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7" name="Text 157">
            <a:extLst>
              <a:ext uri="{FF2B5EF4-FFF2-40B4-BE49-F238E27FC236}">
                <a16:creationId xmlns:a16="http://schemas.microsoft.com/office/drawing/2014/main" id="{436684AB-AFB7-0BBB-2B66-EEE7E5742858}"/>
              </a:ext>
            </a:extLst>
          </p:cNvPr>
          <p:cNvSpPr/>
          <p:nvPr/>
        </p:nvSpPr>
        <p:spPr>
          <a:xfrm>
            <a:off x="1523880" y="4662886"/>
            <a:ext cx="15235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77">
                <a:solidFill>
                  <a:srgbClr val="6B7280"/>
                </a:solidFill>
                <a:latin typeface="Calibri"/>
                <a:ea typeface="Calibri"/>
              </a:rPr>
              <a:t>FFT PROCESSING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8" name="Shape 158">
            <a:extLst>
              <a:ext uri="{FF2B5EF4-FFF2-40B4-BE49-F238E27FC236}">
                <a16:creationId xmlns:a16="http://schemas.microsoft.com/office/drawing/2014/main" id="{1B63A22A-D58A-0832-2947-CE6942D7ECF5}"/>
              </a:ext>
            </a:extLst>
          </p:cNvPr>
          <p:cNvSpPr/>
          <p:nvPr/>
        </p:nvSpPr>
        <p:spPr>
          <a:xfrm>
            <a:off x="3047760" y="4415566"/>
            <a:ext cx="360" cy="402480"/>
          </a:xfrm>
          <a:prstGeom prst="line">
            <a:avLst/>
          </a:prstGeom>
          <a:ln w="508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Text 159">
            <a:extLst>
              <a:ext uri="{FF2B5EF4-FFF2-40B4-BE49-F238E27FC236}">
                <a16:creationId xmlns:a16="http://schemas.microsoft.com/office/drawing/2014/main" id="{D68DDBA1-7D80-1D88-31D5-6374736616E2}"/>
              </a:ext>
            </a:extLst>
          </p:cNvPr>
          <p:cNvSpPr/>
          <p:nvPr/>
        </p:nvSpPr>
        <p:spPr>
          <a:xfrm>
            <a:off x="3048120" y="4406566"/>
            <a:ext cx="15235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4.7ms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0" name="Text 160">
            <a:extLst>
              <a:ext uri="{FF2B5EF4-FFF2-40B4-BE49-F238E27FC236}">
                <a16:creationId xmlns:a16="http://schemas.microsoft.com/office/drawing/2014/main" id="{12440984-5A01-9C95-9B32-339C09392F89}"/>
              </a:ext>
            </a:extLst>
          </p:cNvPr>
          <p:cNvSpPr/>
          <p:nvPr/>
        </p:nvSpPr>
        <p:spPr>
          <a:xfrm>
            <a:off x="3048120" y="4662886"/>
            <a:ext cx="15235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77">
                <a:solidFill>
                  <a:srgbClr val="6B7280"/>
                </a:solidFill>
                <a:latin typeface="Calibri"/>
                <a:ea typeface="Calibri"/>
              </a:rPr>
              <a:t>NPU INFERENCE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1" name="Shape 161">
            <a:extLst>
              <a:ext uri="{FF2B5EF4-FFF2-40B4-BE49-F238E27FC236}">
                <a16:creationId xmlns:a16="http://schemas.microsoft.com/office/drawing/2014/main" id="{A6F4C716-AD6F-F267-1491-22999AFBD2E7}"/>
              </a:ext>
            </a:extLst>
          </p:cNvPr>
          <p:cNvSpPr/>
          <p:nvPr/>
        </p:nvSpPr>
        <p:spPr>
          <a:xfrm>
            <a:off x="4572000" y="4415566"/>
            <a:ext cx="360" cy="402480"/>
          </a:xfrm>
          <a:prstGeom prst="line">
            <a:avLst/>
          </a:prstGeom>
          <a:ln w="508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2" name="Text 162">
            <a:extLst>
              <a:ext uri="{FF2B5EF4-FFF2-40B4-BE49-F238E27FC236}">
                <a16:creationId xmlns:a16="http://schemas.microsoft.com/office/drawing/2014/main" id="{8105E024-FAE5-D248-6E2B-36984D81EEF5}"/>
              </a:ext>
            </a:extLst>
          </p:cNvPr>
          <p:cNvSpPr/>
          <p:nvPr/>
        </p:nvSpPr>
        <p:spPr>
          <a:xfrm>
            <a:off x="4572000" y="4406566"/>
            <a:ext cx="15235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&lt;100ms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3" name="Text 163">
            <a:extLst>
              <a:ext uri="{FF2B5EF4-FFF2-40B4-BE49-F238E27FC236}">
                <a16:creationId xmlns:a16="http://schemas.microsoft.com/office/drawing/2014/main" id="{184F816A-780B-12D8-BD8E-7E0FC2DF7E41}"/>
              </a:ext>
            </a:extLst>
          </p:cNvPr>
          <p:cNvSpPr/>
          <p:nvPr/>
        </p:nvSpPr>
        <p:spPr>
          <a:xfrm>
            <a:off x="4572000" y="4662886"/>
            <a:ext cx="15235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77">
                <a:solidFill>
                  <a:srgbClr val="6B7280"/>
                </a:solidFill>
                <a:latin typeface="Calibri"/>
                <a:ea typeface="Calibri"/>
              </a:rPr>
              <a:t>SENSOR → ALERT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4" name="Shape 164">
            <a:extLst>
              <a:ext uri="{FF2B5EF4-FFF2-40B4-BE49-F238E27FC236}">
                <a16:creationId xmlns:a16="http://schemas.microsoft.com/office/drawing/2014/main" id="{FFFB68ED-76F5-29E0-3F57-C3A5701EC3CE}"/>
              </a:ext>
            </a:extLst>
          </p:cNvPr>
          <p:cNvSpPr/>
          <p:nvPr/>
        </p:nvSpPr>
        <p:spPr>
          <a:xfrm>
            <a:off x="6095880" y="4415566"/>
            <a:ext cx="360" cy="402480"/>
          </a:xfrm>
          <a:prstGeom prst="line">
            <a:avLst/>
          </a:prstGeom>
          <a:ln w="508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5" name="Text 165">
            <a:extLst>
              <a:ext uri="{FF2B5EF4-FFF2-40B4-BE49-F238E27FC236}">
                <a16:creationId xmlns:a16="http://schemas.microsoft.com/office/drawing/2014/main" id="{EF75B8DA-2970-C539-81B7-F29504B874DA}"/>
              </a:ext>
            </a:extLst>
          </p:cNvPr>
          <p:cNvSpPr/>
          <p:nvPr/>
        </p:nvSpPr>
        <p:spPr>
          <a:xfrm>
            <a:off x="6095880" y="4406566"/>
            <a:ext cx="15235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0.180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6" name="Text 166">
            <a:extLst>
              <a:ext uri="{FF2B5EF4-FFF2-40B4-BE49-F238E27FC236}">
                <a16:creationId xmlns:a16="http://schemas.microsoft.com/office/drawing/2014/main" id="{83C3FCEF-3233-832E-0381-AF241B7B1126}"/>
              </a:ext>
            </a:extLst>
          </p:cNvPr>
          <p:cNvSpPr/>
          <p:nvPr/>
        </p:nvSpPr>
        <p:spPr>
          <a:xfrm>
            <a:off x="6095880" y="4662886"/>
            <a:ext cx="15235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77">
                <a:solidFill>
                  <a:srgbClr val="6B7280"/>
                </a:solidFill>
                <a:latin typeface="Calibri"/>
                <a:ea typeface="Calibri"/>
              </a:rPr>
              <a:t>ANOMALY THRESHOLD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7" name="Shape 167">
            <a:extLst>
              <a:ext uri="{FF2B5EF4-FFF2-40B4-BE49-F238E27FC236}">
                <a16:creationId xmlns:a16="http://schemas.microsoft.com/office/drawing/2014/main" id="{2DBC2924-7074-2922-8F88-CE6C21AD9092}"/>
              </a:ext>
            </a:extLst>
          </p:cNvPr>
          <p:cNvSpPr/>
          <p:nvPr/>
        </p:nvSpPr>
        <p:spPr>
          <a:xfrm>
            <a:off x="7619760" y="4415566"/>
            <a:ext cx="360" cy="402480"/>
          </a:xfrm>
          <a:prstGeom prst="line">
            <a:avLst/>
          </a:prstGeom>
          <a:ln w="508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8" name="Text 168">
            <a:extLst>
              <a:ext uri="{FF2B5EF4-FFF2-40B4-BE49-F238E27FC236}">
                <a16:creationId xmlns:a16="http://schemas.microsoft.com/office/drawing/2014/main" id="{27025814-ACF5-431F-E662-453540E716D1}"/>
              </a:ext>
            </a:extLst>
          </p:cNvPr>
          <p:cNvSpPr/>
          <p:nvPr/>
        </p:nvSpPr>
        <p:spPr>
          <a:xfrm>
            <a:off x="7620120" y="4406566"/>
            <a:ext cx="15235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OFFLINE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9" name="Text 169">
            <a:extLst>
              <a:ext uri="{FF2B5EF4-FFF2-40B4-BE49-F238E27FC236}">
                <a16:creationId xmlns:a16="http://schemas.microsoft.com/office/drawing/2014/main" id="{1E462E19-3426-B8FC-4BDF-1A7C3EF3F79D}"/>
              </a:ext>
            </a:extLst>
          </p:cNvPr>
          <p:cNvSpPr/>
          <p:nvPr/>
        </p:nvSpPr>
        <p:spPr>
          <a:xfrm>
            <a:off x="7620120" y="4662886"/>
            <a:ext cx="15235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77">
                <a:solidFill>
                  <a:srgbClr val="6B7280"/>
                </a:solidFill>
                <a:latin typeface="Calibri"/>
                <a:ea typeface="Calibri"/>
              </a:rPr>
              <a:t>ZERO CLOUD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0" name="Shape 170">
            <a:extLst>
              <a:ext uri="{FF2B5EF4-FFF2-40B4-BE49-F238E27FC236}">
                <a16:creationId xmlns:a16="http://schemas.microsoft.com/office/drawing/2014/main" id="{E65E1FE7-B24B-8574-07F0-F5B28505C505}"/>
              </a:ext>
            </a:extLst>
          </p:cNvPr>
          <p:cNvSpPr/>
          <p:nvPr/>
        </p:nvSpPr>
        <p:spPr>
          <a:xfrm>
            <a:off x="0" y="5084814"/>
            <a:ext cx="9143640" cy="50040"/>
          </a:xfrm>
          <a:prstGeom prst="rect">
            <a:avLst/>
          </a:prstGeom>
          <a:solidFill>
            <a:srgbClr val="ED4E33"/>
          </a:solidFill>
          <a:ln w="127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5400" rIns="90000" bIns="540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-31677" y="508367"/>
            <a:ext cx="851868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620" b="1" strike="noStrike" spc="-1" dirty="0">
                <a:solidFill>
                  <a:schemeClr val="dk1"/>
                </a:solidFill>
                <a:latin typeface="Poppins"/>
                <a:ea typeface="Poppins"/>
              </a:rPr>
              <a:t>Wireframes/Mock diagrams of the proposed solution.</a:t>
            </a:r>
            <a:endParaRPr lang="en-US" sz="162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7" name="Google Shape;98;p 1"/>
          <p:cNvPicPr/>
          <p:nvPr/>
        </p:nvPicPr>
        <p:blipFill>
          <a:blip r:embed="rId2"/>
          <a:srcRect b="89083"/>
          <a:stretch/>
        </p:blipFill>
        <p:spPr>
          <a:xfrm>
            <a:off x="0" y="8586"/>
            <a:ext cx="9142200" cy="559800"/>
          </a:xfrm>
          <a:prstGeom prst="rect">
            <a:avLst/>
          </a:prstGeom>
          <a:ln w="0">
            <a:noFill/>
          </a:ln>
        </p:spPr>
      </p:pic>
      <p:pic>
        <p:nvPicPr>
          <p:cNvPr id="408" name="Google Shape;99;p 1"/>
          <p:cNvPicPr/>
          <p:nvPr/>
        </p:nvPicPr>
        <p:blipFill>
          <a:blip r:embed="rId3"/>
          <a:srcRect t="98294"/>
          <a:stretch/>
        </p:blipFill>
        <p:spPr>
          <a:xfrm>
            <a:off x="0" y="5055840"/>
            <a:ext cx="9142200" cy="86040"/>
          </a:xfrm>
          <a:prstGeom prst="rect">
            <a:avLst/>
          </a:prstGeom>
          <a:ln w="0">
            <a:noFill/>
          </a:ln>
        </p:spPr>
      </p:pic>
      <p:sp>
        <p:nvSpPr>
          <p:cNvPr id="458" name="Text 5">
            <a:extLst>
              <a:ext uri="{FF2B5EF4-FFF2-40B4-BE49-F238E27FC236}">
                <a16:creationId xmlns:a16="http://schemas.microsoft.com/office/drawing/2014/main" id="{FE0C5718-4733-5B5F-3B74-76A8ACD2A0C3}"/>
              </a:ext>
            </a:extLst>
          </p:cNvPr>
          <p:cNvSpPr/>
          <p:nvPr/>
        </p:nvSpPr>
        <p:spPr>
          <a:xfrm>
            <a:off x="251739" y="857520"/>
            <a:ext cx="8686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4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 Screen  ·  Live Dashboard  ·  Node Configuration</a:t>
            </a:r>
            <a:endParaRPr lang="en-US" sz="750" dirty="0"/>
          </a:p>
        </p:txBody>
      </p:sp>
      <p:sp>
        <p:nvSpPr>
          <p:cNvPr id="493" name="Shape 40">
            <a:extLst>
              <a:ext uri="{FF2B5EF4-FFF2-40B4-BE49-F238E27FC236}">
                <a16:creationId xmlns:a16="http://schemas.microsoft.com/office/drawing/2014/main" id="{18E09E89-F2DF-7C91-E0FD-9BFAED69C357}"/>
              </a:ext>
            </a:extLst>
          </p:cNvPr>
          <p:cNvSpPr/>
          <p:nvPr/>
        </p:nvSpPr>
        <p:spPr>
          <a:xfrm>
            <a:off x="3820653" y="1031256"/>
            <a:ext cx="2980944" cy="3328416"/>
          </a:xfrm>
          <a:prstGeom prst="rect">
            <a:avLst/>
          </a:prstGeom>
          <a:solidFill>
            <a:srgbClr val="0A0B10"/>
          </a:solidFill>
          <a:ln w="19050">
            <a:solidFill>
              <a:srgbClr val="ED4E33"/>
            </a:solidFill>
            <a:prstDash val="solid"/>
          </a:ln>
        </p:spPr>
      </p:sp>
      <p:sp>
        <p:nvSpPr>
          <p:cNvPr id="494" name="Shape 41">
            <a:extLst>
              <a:ext uri="{FF2B5EF4-FFF2-40B4-BE49-F238E27FC236}">
                <a16:creationId xmlns:a16="http://schemas.microsoft.com/office/drawing/2014/main" id="{3D53BFB0-430D-592D-6E80-92D1F3A3353A}"/>
              </a:ext>
            </a:extLst>
          </p:cNvPr>
          <p:cNvSpPr/>
          <p:nvPr/>
        </p:nvSpPr>
        <p:spPr>
          <a:xfrm>
            <a:off x="3739086" y="994358"/>
            <a:ext cx="3077232" cy="73474"/>
          </a:xfrm>
          <a:prstGeom prst="rect">
            <a:avLst/>
          </a:prstGeom>
          <a:solidFill>
            <a:srgbClr val="ED4E33"/>
          </a:solidFill>
          <a:ln w="12700">
            <a:solidFill>
              <a:srgbClr val="ED4E33"/>
            </a:solidFill>
            <a:prstDash val="solid"/>
          </a:ln>
        </p:spPr>
      </p:sp>
      <p:sp>
        <p:nvSpPr>
          <p:cNvPr id="495" name="Shape 42">
            <a:extLst>
              <a:ext uri="{FF2B5EF4-FFF2-40B4-BE49-F238E27FC236}">
                <a16:creationId xmlns:a16="http://schemas.microsoft.com/office/drawing/2014/main" id="{7E69D7F1-A485-DE85-F4A0-BF47DAC08BEE}"/>
              </a:ext>
            </a:extLst>
          </p:cNvPr>
          <p:cNvSpPr/>
          <p:nvPr/>
        </p:nvSpPr>
        <p:spPr>
          <a:xfrm>
            <a:off x="3752166" y="1067832"/>
            <a:ext cx="3060406" cy="256032"/>
          </a:xfrm>
          <a:prstGeom prst="rect">
            <a:avLst/>
          </a:prstGeom>
          <a:solidFill>
            <a:srgbClr val="1A0A04"/>
          </a:solidFill>
          <a:ln w="12700">
            <a:solidFill>
              <a:srgbClr val="1A0A04"/>
            </a:solidFill>
            <a:prstDash val="solid"/>
          </a:ln>
        </p:spPr>
      </p:sp>
      <p:sp>
        <p:nvSpPr>
          <p:cNvPr id="497" name="Text 44">
            <a:extLst>
              <a:ext uri="{FF2B5EF4-FFF2-40B4-BE49-F238E27FC236}">
                <a16:creationId xmlns:a16="http://schemas.microsoft.com/office/drawing/2014/main" id="{0D0E3E66-EF3F-8A80-16C3-4E5BDA9E173A}"/>
              </a:ext>
            </a:extLst>
          </p:cNvPr>
          <p:cNvSpPr/>
          <p:nvPr/>
        </p:nvSpPr>
        <p:spPr>
          <a:xfrm>
            <a:off x="3812238" y="111355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</a:t>
            </a:r>
            <a:endParaRPr lang="en-US" sz="600" dirty="0"/>
          </a:p>
        </p:txBody>
      </p:sp>
      <p:sp>
        <p:nvSpPr>
          <p:cNvPr id="498" name="Text 45">
            <a:extLst>
              <a:ext uri="{FF2B5EF4-FFF2-40B4-BE49-F238E27FC236}">
                <a16:creationId xmlns:a16="http://schemas.microsoft.com/office/drawing/2014/main" id="{A178C024-F881-1CAC-C060-716DBF5F4436}"/>
              </a:ext>
            </a:extLst>
          </p:cNvPr>
          <p:cNvSpPr/>
          <p:nvPr/>
        </p:nvSpPr>
        <p:spPr>
          <a:xfrm>
            <a:off x="4199036" y="1111321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RESONANCE  ·  Compressor Bearing — Node 01</a:t>
            </a:r>
            <a:endParaRPr lang="en-US" sz="700" dirty="0"/>
          </a:p>
        </p:txBody>
      </p:sp>
      <p:sp>
        <p:nvSpPr>
          <p:cNvPr id="499" name="Text 46">
            <a:extLst>
              <a:ext uri="{FF2B5EF4-FFF2-40B4-BE49-F238E27FC236}">
                <a16:creationId xmlns:a16="http://schemas.microsoft.com/office/drawing/2014/main" id="{FC685B4E-9212-1ACD-5DE9-A38FE21A9910}"/>
              </a:ext>
            </a:extLst>
          </p:cNvPr>
          <p:cNvSpPr/>
          <p:nvPr/>
        </p:nvSpPr>
        <p:spPr>
          <a:xfrm>
            <a:off x="5641038" y="1067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RMS: 0.168  ·  AI ONLINE</a:t>
            </a:r>
            <a:endParaRPr lang="en-US" sz="600" dirty="0"/>
          </a:p>
        </p:txBody>
      </p:sp>
      <p:pic>
        <p:nvPicPr>
          <p:cNvPr id="500" name="Image 0" descr="preencoded.png">
            <a:extLst>
              <a:ext uri="{FF2B5EF4-FFF2-40B4-BE49-F238E27FC236}">
                <a16:creationId xmlns:a16="http://schemas.microsoft.com/office/drawing/2014/main" id="{142CDF3B-049C-BCDB-EAC5-47A178054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086" y="1254301"/>
            <a:ext cx="3090672" cy="2938983"/>
          </a:xfrm>
          <a:prstGeom prst="rect">
            <a:avLst/>
          </a:prstGeom>
        </p:spPr>
      </p:pic>
      <p:sp>
        <p:nvSpPr>
          <p:cNvPr id="501" name="Shape 47">
            <a:extLst>
              <a:ext uri="{FF2B5EF4-FFF2-40B4-BE49-F238E27FC236}">
                <a16:creationId xmlns:a16="http://schemas.microsoft.com/office/drawing/2014/main" id="{D44448AD-786C-A896-4718-D87610F4483B}"/>
              </a:ext>
            </a:extLst>
          </p:cNvPr>
          <p:cNvSpPr/>
          <p:nvPr/>
        </p:nvSpPr>
        <p:spPr>
          <a:xfrm>
            <a:off x="3739086" y="4158503"/>
            <a:ext cx="3090672" cy="255449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02" name="Text 48">
            <a:extLst>
              <a:ext uri="{FF2B5EF4-FFF2-40B4-BE49-F238E27FC236}">
                <a16:creationId xmlns:a16="http://schemas.microsoft.com/office/drawing/2014/main" id="{D13BE825-81D7-E3B4-F016-9D72B7E4137A}"/>
              </a:ext>
            </a:extLst>
          </p:cNvPr>
          <p:cNvSpPr/>
          <p:nvPr/>
        </p:nvSpPr>
        <p:spPr>
          <a:xfrm>
            <a:off x="3793950" y="4158504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30" dirty="0">
                <a:solidFill>
                  <a:srgbClr val="ED4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  ·  Real data  ·  AMD Ryzen AI XDNA NPU</a:t>
            </a:r>
            <a:endParaRPr lang="en-US" sz="600" dirty="0"/>
          </a:p>
        </p:txBody>
      </p:sp>
      <p:sp>
        <p:nvSpPr>
          <p:cNvPr id="505" name="Shape 51">
            <a:extLst>
              <a:ext uri="{FF2B5EF4-FFF2-40B4-BE49-F238E27FC236}">
                <a16:creationId xmlns:a16="http://schemas.microsoft.com/office/drawing/2014/main" id="{4476ED48-1D8A-3FD6-0907-E10A17AD4786}"/>
              </a:ext>
            </a:extLst>
          </p:cNvPr>
          <p:cNvSpPr/>
          <p:nvPr/>
        </p:nvSpPr>
        <p:spPr>
          <a:xfrm>
            <a:off x="7302982" y="1049004"/>
            <a:ext cx="1630542" cy="256032"/>
          </a:xfrm>
          <a:prstGeom prst="rect">
            <a:avLst/>
          </a:prstGeom>
          <a:solidFill>
            <a:srgbClr val="0A2015"/>
          </a:solidFill>
          <a:ln w="12700">
            <a:solidFill>
              <a:srgbClr val="0A2015"/>
            </a:solidFill>
            <a:prstDash val="solid"/>
          </a:ln>
        </p:spPr>
      </p:sp>
      <p:sp>
        <p:nvSpPr>
          <p:cNvPr id="506" name="Text 52">
            <a:extLst>
              <a:ext uri="{FF2B5EF4-FFF2-40B4-BE49-F238E27FC236}">
                <a16:creationId xmlns:a16="http://schemas.microsoft.com/office/drawing/2014/main" id="{9C229E09-1FE2-6FC4-520E-197CAA8A8B7C}"/>
              </a:ext>
            </a:extLst>
          </p:cNvPr>
          <p:cNvSpPr/>
          <p:nvPr/>
        </p:nvSpPr>
        <p:spPr>
          <a:xfrm>
            <a:off x="7625486" y="105873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NEW NODE</a:t>
            </a:r>
            <a:endParaRPr lang="en-US" sz="700" dirty="0"/>
          </a:p>
        </p:txBody>
      </p:sp>
      <p:sp>
        <p:nvSpPr>
          <p:cNvPr id="567" name="Text 113">
            <a:extLst>
              <a:ext uri="{FF2B5EF4-FFF2-40B4-BE49-F238E27FC236}">
                <a16:creationId xmlns:a16="http://schemas.microsoft.com/office/drawing/2014/main" id="{DD5C888F-07C7-C116-2BDD-1FCB8A5DE514}"/>
              </a:ext>
            </a:extLst>
          </p:cNvPr>
          <p:cNvSpPr/>
          <p:nvPr/>
        </p:nvSpPr>
        <p:spPr>
          <a:xfrm>
            <a:off x="68859" y="442368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LOGIN SCREEN</a:t>
            </a:r>
            <a:endParaRPr lang="en-US" sz="600" dirty="0"/>
          </a:p>
        </p:txBody>
      </p:sp>
      <p:sp>
        <p:nvSpPr>
          <p:cNvPr id="568" name="Text 114">
            <a:extLst>
              <a:ext uri="{FF2B5EF4-FFF2-40B4-BE49-F238E27FC236}">
                <a16:creationId xmlns:a16="http://schemas.microsoft.com/office/drawing/2014/main" id="{801BE596-44BB-5A2F-46A2-70560541E8B7}"/>
              </a:ext>
            </a:extLst>
          </p:cNvPr>
          <p:cNvSpPr/>
          <p:nvPr/>
        </p:nvSpPr>
        <p:spPr>
          <a:xfrm>
            <a:off x="3739086" y="442368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50" dirty="0">
                <a:solidFill>
                  <a:srgbClr val="ED4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LIVE DASHBOARD</a:t>
            </a:r>
            <a:endParaRPr lang="en-US" sz="600" dirty="0"/>
          </a:p>
        </p:txBody>
      </p:sp>
      <p:sp>
        <p:nvSpPr>
          <p:cNvPr id="569" name="Text 115">
            <a:extLst>
              <a:ext uri="{FF2B5EF4-FFF2-40B4-BE49-F238E27FC236}">
                <a16:creationId xmlns:a16="http://schemas.microsoft.com/office/drawing/2014/main" id="{AABCFB90-3EDB-F210-466A-AA1F736ECC39}"/>
              </a:ext>
            </a:extLst>
          </p:cNvPr>
          <p:cNvSpPr/>
          <p:nvPr/>
        </p:nvSpPr>
        <p:spPr>
          <a:xfrm>
            <a:off x="6250203" y="4423680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50" dirty="0">
                <a:solidFill>
                  <a:schemeClr val="accent1">
                    <a:lumMod val="7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NODE SETUP MODAL</a:t>
            </a:r>
            <a:endParaRPr lang="en-US" sz="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70" name="Shape 116">
            <a:extLst>
              <a:ext uri="{FF2B5EF4-FFF2-40B4-BE49-F238E27FC236}">
                <a16:creationId xmlns:a16="http://schemas.microsoft.com/office/drawing/2014/main" id="{CA0C9099-44FD-67B9-19CC-24F855CA1F54}"/>
              </a:ext>
            </a:extLst>
          </p:cNvPr>
          <p:cNvSpPr/>
          <p:nvPr/>
        </p:nvSpPr>
        <p:spPr>
          <a:xfrm>
            <a:off x="0" y="4690872"/>
            <a:ext cx="9144000" cy="3840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71" name="Text 117">
            <a:extLst>
              <a:ext uri="{FF2B5EF4-FFF2-40B4-BE49-F238E27FC236}">
                <a16:creationId xmlns:a16="http://schemas.microsoft.com/office/drawing/2014/main" id="{49DB6ED2-2332-65EA-B999-6DE03E7ECE20}"/>
              </a:ext>
            </a:extLst>
          </p:cNvPr>
          <p:cNvSpPr/>
          <p:nvPr/>
        </p:nvSpPr>
        <p:spPr>
          <a:xfrm>
            <a:off x="0" y="4731183"/>
            <a:ext cx="152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D4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572" name="Text 118">
            <a:extLst>
              <a:ext uri="{FF2B5EF4-FFF2-40B4-BE49-F238E27FC236}">
                <a16:creationId xmlns:a16="http://schemas.microsoft.com/office/drawing/2014/main" id="{06699DED-3C2A-9E85-1541-B9E6A6F60024}"/>
              </a:ext>
            </a:extLst>
          </p:cNvPr>
          <p:cNvSpPr/>
          <p:nvPr/>
        </p:nvSpPr>
        <p:spPr>
          <a:xfrm>
            <a:off x="18288" y="4959783"/>
            <a:ext cx="14874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PROTOTYPE</a:t>
            </a:r>
            <a:endParaRPr lang="en-US" sz="550" dirty="0"/>
          </a:p>
        </p:txBody>
      </p:sp>
      <p:sp>
        <p:nvSpPr>
          <p:cNvPr id="573" name="Shape 119">
            <a:extLst>
              <a:ext uri="{FF2B5EF4-FFF2-40B4-BE49-F238E27FC236}">
                <a16:creationId xmlns:a16="http://schemas.microsoft.com/office/drawing/2014/main" id="{645692AE-D936-640B-0378-AAE4A7DFA9ED}"/>
              </a:ext>
            </a:extLst>
          </p:cNvPr>
          <p:cNvSpPr/>
          <p:nvPr/>
        </p:nvSpPr>
        <p:spPr>
          <a:xfrm>
            <a:off x="1524000" y="4767759"/>
            <a:ext cx="10973" cy="2560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4" name="Text 120">
            <a:extLst>
              <a:ext uri="{FF2B5EF4-FFF2-40B4-BE49-F238E27FC236}">
                <a16:creationId xmlns:a16="http://schemas.microsoft.com/office/drawing/2014/main" id="{55405D31-18E5-BD61-F099-49F1E6C50975}"/>
              </a:ext>
            </a:extLst>
          </p:cNvPr>
          <p:cNvSpPr/>
          <p:nvPr/>
        </p:nvSpPr>
        <p:spPr>
          <a:xfrm>
            <a:off x="1524000" y="4731183"/>
            <a:ext cx="152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D4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Nodes</a:t>
            </a:r>
            <a:endParaRPr lang="en-US" sz="1100" dirty="0"/>
          </a:p>
        </p:txBody>
      </p:sp>
      <p:sp>
        <p:nvSpPr>
          <p:cNvPr id="575" name="Text 121">
            <a:extLst>
              <a:ext uri="{FF2B5EF4-FFF2-40B4-BE49-F238E27FC236}">
                <a16:creationId xmlns:a16="http://schemas.microsoft.com/office/drawing/2014/main" id="{73A77863-ED8D-475C-E318-726BEDD74FE3}"/>
              </a:ext>
            </a:extLst>
          </p:cNvPr>
          <p:cNvSpPr/>
          <p:nvPr/>
        </p:nvSpPr>
        <p:spPr>
          <a:xfrm>
            <a:off x="1542288" y="4959783"/>
            <a:ext cx="14874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CONNECTED</a:t>
            </a:r>
            <a:endParaRPr lang="en-US" sz="550" dirty="0"/>
          </a:p>
        </p:txBody>
      </p:sp>
      <p:sp>
        <p:nvSpPr>
          <p:cNvPr id="576" name="Shape 122">
            <a:extLst>
              <a:ext uri="{FF2B5EF4-FFF2-40B4-BE49-F238E27FC236}">
                <a16:creationId xmlns:a16="http://schemas.microsoft.com/office/drawing/2014/main" id="{100F5B78-305C-B312-D2A4-23AD7D88151C}"/>
              </a:ext>
            </a:extLst>
          </p:cNvPr>
          <p:cNvSpPr/>
          <p:nvPr/>
        </p:nvSpPr>
        <p:spPr>
          <a:xfrm>
            <a:off x="3048000" y="4767759"/>
            <a:ext cx="10973" cy="2560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7" name="Text 123">
            <a:extLst>
              <a:ext uri="{FF2B5EF4-FFF2-40B4-BE49-F238E27FC236}">
                <a16:creationId xmlns:a16="http://schemas.microsoft.com/office/drawing/2014/main" id="{E80AF107-FDAF-4A5B-FFEE-94DA265DF065}"/>
              </a:ext>
            </a:extLst>
          </p:cNvPr>
          <p:cNvSpPr/>
          <p:nvPr/>
        </p:nvSpPr>
        <p:spPr>
          <a:xfrm>
            <a:off x="3048000" y="4731183"/>
            <a:ext cx="152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D4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/ zone</a:t>
            </a:r>
            <a:endParaRPr lang="en-US" sz="1100" dirty="0"/>
          </a:p>
        </p:txBody>
      </p:sp>
      <p:sp>
        <p:nvSpPr>
          <p:cNvPr id="578" name="Text 124">
            <a:extLst>
              <a:ext uri="{FF2B5EF4-FFF2-40B4-BE49-F238E27FC236}">
                <a16:creationId xmlns:a16="http://schemas.microsoft.com/office/drawing/2014/main" id="{D7A38D9E-3360-438F-9E22-A8505A4C67AD}"/>
              </a:ext>
            </a:extLst>
          </p:cNvPr>
          <p:cNvSpPr/>
          <p:nvPr/>
        </p:nvSpPr>
        <p:spPr>
          <a:xfrm>
            <a:off x="3066288" y="4959783"/>
            <a:ext cx="14874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CAPACITY</a:t>
            </a:r>
            <a:endParaRPr lang="en-US" sz="550" dirty="0"/>
          </a:p>
        </p:txBody>
      </p:sp>
      <p:sp>
        <p:nvSpPr>
          <p:cNvPr id="579" name="Shape 125">
            <a:extLst>
              <a:ext uri="{FF2B5EF4-FFF2-40B4-BE49-F238E27FC236}">
                <a16:creationId xmlns:a16="http://schemas.microsoft.com/office/drawing/2014/main" id="{2C18D0D8-76CE-A158-7AF9-BB50A4CC420A}"/>
              </a:ext>
            </a:extLst>
          </p:cNvPr>
          <p:cNvSpPr/>
          <p:nvPr/>
        </p:nvSpPr>
        <p:spPr>
          <a:xfrm>
            <a:off x="4572000" y="4767759"/>
            <a:ext cx="10973" cy="2560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0" name="Text 126">
            <a:extLst>
              <a:ext uri="{FF2B5EF4-FFF2-40B4-BE49-F238E27FC236}">
                <a16:creationId xmlns:a16="http://schemas.microsoft.com/office/drawing/2014/main" id="{771258A9-0CAA-5FE1-4FCD-7A8AD170DB93}"/>
              </a:ext>
            </a:extLst>
          </p:cNvPr>
          <p:cNvSpPr/>
          <p:nvPr/>
        </p:nvSpPr>
        <p:spPr>
          <a:xfrm>
            <a:off x="4572000" y="4731183"/>
            <a:ext cx="152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D4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 Language</a:t>
            </a:r>
            <a:endParaRPr lang="en-US" sz="1100" dirty="0"/>
          </a:p>
        </p:txBody>
      </p:sp>
      <p:sp>
        <p:nvSpPr>
          <p:cNvPr id="581" name="Text 127">
            <a:extLst>
              <a:ext uri="{FF2B5EF4-FFF2-40B4-BE49-F238E27FC236}">
                <a16:creationId xmlns:a16="http://schemas.microsoft.com/office/drawing/2014/main" id="{AC0DB7B5-40BC-6117-6974-B63BF63DDE86}"/>
              </a:ext>
            </a:extLst>
          </p:cNvPr>
          <p:cNvSpPr/>
          <p:nvPr/>
        </p:nvSpPr>
        <p:spPr>
          <a:xfrm>
            <a:off x="4590288" y="4959783"/>
            <a:ext cx="14874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ALERTS</a:t>
            </a:r>
            <a:endParaRPr lang="en-US" sz="550" dirty="0"/>
          </a:p>
        </p:txBody>
      </p:sp>
      <p:sp>
        <p:nvSpPr>
          <p:cNvPr id="582" name="Shape 128">
            <a:extLst>
              <a:ext uri="{FF2B5EF4-FFF2-40B4-BE49-F238E27FC236}">
                <a16:creationId xmlns:a16="http://schemas.microsoft.com/office/drawing/2014/main" id="{62D5E3D9-65D6-72C0-B454-250042CDC375}"/>
              </a:ext>
            </a:extLst>
          </p:cNvPr>
          <p:cNvSpPr/>
          <p:nvPr/>
        </p:nvSpPr>
        <p:spPr>
          <a:xfrm>
            <a:off x="6096000" y="4767759"/>
            <a:ext cx="10973" cy="2560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3" name="Text 129">
            <a:extLst>
              <a:ext uri="{FF2B5EF4-FFF2-40B4-BE49-F238E27FC236}">
                <a16:creationId xmlns:a16="http://schemas.microsoft.com/office/drawing/2014/main" id="{C2FE1BB2-DA5F-E1D5-57C3-5386D91AF4E7}"/>
              </a:ext>
            </a:extLst>
          </p:cNvPr>
          <p:cNvSpPr/>
          <p:nvPr/>
        </p:nvSpPr>
        <p:spPr>
          <a:xfrm>
            <a:off x="6096000" y="4731183"/>
            <a:ext cx="152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D4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Cloud</a:t>
            </a:r>
            <a:endParaRPr lang="en-US" sz="1100" dirty="0"/>
          </a:p>
        </p:txBody>
      </p:sp>
      <p:sp>
        <p:nvSpPr>
          <p:cNvPr id="584" name="Text 130">
            <a:extLst>
              <a:ext uri="{FF2B5EF4-FFF2-40B4-BE49-F238E27FC236}">
                <a16:creationId xmlns:a16="http://schemas.microsoft.com/office/drawing/2014/main" id="{9A2D28D0-C167-B1C9-A6EF-23C74422C21D}"/>
              </a:ext>
            </a:extLst>
          </p:cNvPr>
          <p:cNvSpPr/>
          <p:nvPr/>
        </p:nvSpPr>
        <p:spPr>
          <a:xfrm>
            <a:off x="6114288" y="4959783"/>
            <a:ext cx="14874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DEPENDENCY</a:t>
            </a:r>
            <a:endParaRPr lang="en-US" sz="550" dirty="0"/>
          </a:p>
        </p:txBody>
      </p:sp>
      <p:sp>
        <p:nvSpPr>
          <p:cNvPr id="585" name="Shape 131">
            <a:extLst>
              <a:ext uri="{FF2B5EF4-FFF2-40B4-BE49-F238E27FC236}">
                <a16:creationId xmlns:a16="http://schemas.microsoft.com/office/drawing/2014/main" id="{F85422B8-FA25-F4DA-7531-8A55CF2DCCC6}"/>
              </a:ext>
            </a:extLst>
          </p:cNvPr>
          <p:cNvSpPr/>
          <p:nvPr/>
        </p:nvSpPr>
        <p:spPr>
          <a:xfrm>
            <a:off x="7620000" y="4767759"/>
            <a:ext cx="10973" cy="2560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6" name="Text 132">
            <a:extLst>
              <a:ext uri="{FF2B5EF4-FFF2-40B4-BE49-F238E27FC236}">
                <a16:creationId xmlns:a16="http://schemas.microsoft.com/office/drawing/2014/main" id="{13284C51-D1A8-C3DF-AC96-4CC6AF35CDA0}"/>
              </a:ext>
            </a:extLst>
          </p:cNvPr>
          <p:cNvSpPr/>
          <p:nvPr/>
        </p:nvSpPr>
        <p:spPr>
          <a:xfrm>
            <a:off x="7620000" y="4731183"/>
            <a:ext cx="152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D4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Add Node</a:t>
            </a:r>
            <a:endParaRPr lang="en-US" sz="1100" dirty="0"/>
          </a:p>
        </p:txBody>
      </p:sp>
      <p:sp>
        <p:nvSpPr>
          <p:cNvPr id="587" name="Text 133">
            <a:extLst>
              <a:ext uri="{FF2B5EF4-FFF2-40B4-BE49-F238E27FC236}">
                <a16:creationId xmlns:a16="http://schemas.microsoft.com/office/drawing/2014/main" id="{FF1A8567-7E44-7446-E0C6-A42040509B66}"/>
              </a:ext>
            </a:extLst>
          </p:cNvPr>
          <p:cNvSpPr/>
          <p:nvPr/>
        </p:nvSpPr>
        <p:spPr>
          <a:xfrm>
            <a:off x="7638288" y="4959783"/>
            <a:ext cx="14874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INSTANT SETUP</a:t>
            </a:r>
            <a:endParaRPr lang="en-US" sz="550" dirty="0"/>
          </a:p>
        </p:txBody>
      </p:sp>
      <p:pic>
        <p:nvPicPr>
          <p:cNvPr id="589" name="Picture 588">
            <a:extLst>
              <a:ext uri="{FF2B5EF4-FFF2-40B4-BE49-F238E27FC236}">
                <a16:creationId xmlns:a16="http://schemas.microsoft.com/office/drawing/2014/main" id="{9D16AB18-C1DE-5E95-60F6-FAFAAE0DF2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64" y="1499721"/>
            <a:ext cx="2921887" cy="2072476"/>
          </a:xfrm>
          <a:prstGeom prst="rect">
            <a:avLst/>
          </a:prstGeom>
        </p:spPr>
      </p:pic>
      <p:sp>
        <p:nvSpPr>
          <p:cNvPr id="590" name="Shape 7">
            <a:extLst>
              <a:ext uri="{FF2B5EF4-FFF2-40B4-BE49-F238E27FC236}">
                <a16:creationId xmlns:a16="http://schemas.microsoft.com/office/drawing/2014/main" id="{DAFA34D3-A0CC-13B4-FFC2-2C7696130008}"/>
              </a:ext>
            </a:extLst>
          </p:cNvPr>
          <p:cNvSpPr/>
          <p:nvPr/>
        </p:nvSpPr>
        <p:spPr>
          <a:xfrm>
            <a:off x="51687" y="1194390"/>
            <a:ext cx="2980944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91" name="Shape 8">
            <a:extLst>
              <a:ext uri="{FF2B5EF4-FFF2-40B4-BE49-F238E27FC236}">
                <a16:creationId xmlns:a16="http://schemas.microsoft.com/office/drawing/2014/main" id="{FE42F82B-9145-B471-F653-487A9F9A0319}"/>
              </a:ext>
            </a:extLst>
          </p:cNvPr>
          <p:cNvSpPr/>
          <p:nvPr/>
        </p:nvSpPr>
        <p:spPr>
          <a:xfrm>
            <a:off x="51687" y="1230966"/>
            <a:ext cx="2980944" cy="256032"/>
          </a:xfrm>
          <a:prstGeom prst="rect">
            <a:avLst/>
          </a:prstGeom>
          <a:solidFill>
            <a:srgbClr val="0F1D42"/>
          </a:solidFill>
          <a:ln w="12700">
            <a:solidFill>
              <a:srgbClr val="0F1D42"/>
            </a:solidFill>
            <a:prstDash val="solid"/>
          </a:ln>
        </p:spPr>
      </p:sp>
      <p:sp>
        <p:nvSpPr>
          <p:cNvPr id="592" name="Text 9">
            <a:extLst>
              <a:ext uri="{FF2B5EF4-FFF2-40B4-BE49-F238E27FC236}">
                <a16:creationId xmlns:a16="http://schemas.microsoft.com/office/drawing/2014/main" id="{730D01CA-C651-9364-8A8B-7B7CD8D6B36D}"/>
              </a:ext>
            </a:extLst>
          </p:cNvPr>
          <p:cNvSpPr/>
          <p:nvPr/>
        </p:nvSpPr>
        <p:spPr>
          <a:xfrm>
            <a:off x="133983" y="1230966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LOGIN</a:t>
            </a:r>
            <a:endParaRPr lang="en-US" sz="700" dirty="0"/>
          </a:p>
        </p:txBody>
      </p:sp>
      <p:pic>
        <p:nvPicPr>
          <p:cNvPr id="595" name="Picture 594">
            <a:extLst>
              <a:ext uri="{FF2B5EF4-FFF2-40B4-BE49-F238E27FC236}">
                <a16:creationId xmlns:a16="http://schemas.microsoft.com/office/drawing/2014/main" id="{D41DABF1-455F-1BB6-CD1F-0CD66A6F3A9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982" y="1305036"/>
            <a:ext cx="1630542" cy="3031488"/>
          </a:xfrm>
          <a:prstGeom prst="rect">
            <a:avLst/>
          </a:prstGeom>
        </p:spPr>
      </p:pic>
      <p:sp>
        <p:nvSpPr>
          <p:cNvPr id="596" name="Shape 476">
            <a:extLst>
              <a:ext uri="{FF2B5EF4-FFF2-40B4-BE49-F238E27FC236}">
                <a16:creationId xmlns:a16="http://schemas.microsoft.com/office/drawing/2014/main" id="{19E51A39-13E1-9098-9FB7-41E352247228}"/>
              </a:ext>
            </a:extLst>
          </p:cNvPr>
          <p:cNvSpPr/>
          <p:nvPr/>
        </p:nvSpPr>
        <p:spPr>
          <a:xfrm>
            <a:off x="6950052" y="2458314"/>
            <a:ext cx="181440" cy="16560"/>
          </a:xfrm>
          <a:prstGeom prst="rect">
            <a:avLst/>
          </a:prstGeom>
          <a:solidFill>
            <a:srgbClr val="2563EB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97" name="Text 630">
            <a:extLst>
              <a:ext uri="{FF2B5EF4-FFF2-40B4-BE49-F238E27FC236}">
                <a16:creationId xmlns:a16="http://schemas.microsoft.com/office/drawing/2014/main" id="{37EB44A4-FF71-7C2A-D2FE-B1D9CE569BB4}"/>
              </a:ext>
            </a:extLst>
          </p:cNvPr>
          <p:cNvSpPr/>
          <p:nvPr/>
        </p:nvSpPr>
        <p:spPr>
          <a:xfrm>
            <a:off x="7095492" y="2375874"/>
            <a:ext cx="162720" cy="18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2563EB"/>
                </a:solidFill>
                <a:latin typeface="Calibri"/>
                <a:ea typeface="Calibri"/>
              </a:rPr>
              <a:t>▶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Shape 478">
            <a:extLst>
              <a:ext uri="{FF2B5EF4-FFF2-40B4-BE49-F238E27FC236}">
                <a16:creationId xmlns:a16="http://schemas.microsoft.com/office/drawing/2014/main" id="{ACDF572E-5FFA-B5EF-598B-5C54DE4BBFC3}"/>
              </a:ext>
            </a:extLst>
          </p:cNvPr>
          <p:cNvSpPr/>
          <p:nvPr/>
        </p:nvSpPr>
        <p:spPr>
          <a:xfrm>
            <a:off x="3321034" y="2399920"/>
            <a:ext cx="181440" cy="16561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pPr>
              <a:lnSpc>
                <a:spcPct val="100000"/>
              </a:lnSpc>
            </a:pPr>
            <a:endParaRPr lang="en-US" sz="2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99" name="Text 634">
            <a:extLst>
              <a:ext uri="{FF2B5EF4-FFF2-40B4-BE49-F238E27FC236}">
                <a16:creationId xmlns:a16="http://schemas.microsoft.com/office/drawing/2014/main" id="{0E11A173-D2A4-5F80-D409-971A4FE66943}"/>
              </a:ext>
            </a:extLst>
          </p:cNvPr>
          <p:cNvSpPr/>
          <p:nvPr/>
        </p:nvSpPr>
        <p:spPr>
          <a:xfrm>
            <a:off x="3416841" y="2285721"/>
            <a:ext cx="277092" cy="2299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rgbClr val="ED4E33"/>
                </a:solidFill>
                <a:latin typeface="Calibri"/>
                <a:ea typeface="Calibri"/>
              </a:rPr>
              <a:t>▶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Text 2"/>
          <p:cNvSpPr/>
          <p:nvPr/>
        </p:nvSpPr>
        <p:spPr>
          <a:xfrm>
            <a:off x="109800" y="27360"/>
            <a:ext cx="73008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1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10" name="Text 3"/>
          <p:cNvSpPr/>
          <p:nvPr/>
        </p:nvSpPr>
        <p:spPr>
          <a:xfrm>
            <a:off x="109800" y="201240"/>
            <a:ext cx="912960" cy="12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65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11" name="Text 5"/>
          <p:cNvSpPr/>
          <p:nvPr/>
        </p:nvSpPr>
        <p:spPr>
          <a:xfrm>
            <a:off x="7772400" y="109800"/>
            <a:ext cx="1278720" cy="14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65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12" name="Shape 6"/>
          <p:cNvSpPr/>
          <p:nvPr/>
        </p:nvSpPr>
        <p:spPr>
          <a:xfrm>
            <a:off x="82440" y="738360"/>
            <a:ext cx="8987040" cy="3868920"/>
          </a:xfrm>
          <a:prstGeom prst="rect">
            <a:avLst/>
          </a:prstGeom>
          <a:solidFill>
            <a:srgbClr val="0C0D14"/>
          </a:solidFill>
          <a:ln w="19080">
            <a:solidFill>
              <a:srgbClr val="2D3748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13" name="Text 7"/>
          <p:cNvSpPr/>
          <p:nvPr/>
        </p:nvSpPr>
        <p:spPr>
          <a:xfrm>
            <a:off x="182880" y="738360"/>
            <a:ext cx="5027760" cy="15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140">
                <a:solidFill>
                  <a:srgbClr val="374151"/>
                </a:solidFill>
                <a:latin typeface="Calibri"/>
                <a:ea typeface="Calibri"/>
              </a:rPr>
              <a:t>FACTORY INTRANET  ·  AIR-GAPPED  ·  ZERO CLOUD DEPENDENCY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Shape 8"/>
          <p:cNvSpPr/>
          <p:nvPr/>
        </p:nvSpPr>
        <p:spPr>
          <a:xfrm>
            <a:off x="128160" y="882000"/>
            <a:ext cx="2485800" cy="1238400"/>
          </a:xfrm>
          <a:prstGeom prst="rect">
            <a:avLst/>
          </a:prstGeom>
          <a:solidFill>
            <a:srgbClr val="0F1421"/>
          </a:solidFill>
          <a:ln w="15120">
            <a:solidFill>
              <a:srgbClr val="1D4ED8"/>
            </a:solidFill>
            <a:round/>
          </a:ln>
          <a:effectLst>
            <a:outerShdw blurRad="101520" dist="25455" dir="81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15" name="Shape 9"/>
          <p:cNvSpPr/>
          <p:nvPr/>
        </p:nvSpPr>
        <p:spPr>
          <a:xfrm>
            <a:off x="128160" y="882000"/>
            <a:ext cx="2485800" cy="232200"/>
          </a:xfrm>
          <a:prstGeom prst="rect">
            <a:avLst/>
          </a:prstGeom>
          <a:solidFill>
            <a:srgbClr val="1E3A6E"/>
          </a:solidFill>
          <a:ln w="12600">
            <a:solidFill>
              <a:srgbClr val="1E3A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16" name="Text 10"/>
          <p:cNvSpPr/>
          <p:nvPr/>
        </p:nvSpPr>
        <p:spPr>
          <a:xfrm>
            <a:off x="219600" y="927000"/>
            <a:ext cx="2348640" cy="14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600" b="1" strike="noStrike" spc="49">
                <a:solidFill>
                  <a:srgbClr val="93C5FD"/>
                </a:solidFill>
                <a:latin typeface="Calibri"/>
                <a:ea typeface="Calibri"/>
              </a:rPr>
              <a:t>TIER 1  ·  ZONE A  ·  UP TO 50 SENSOR NODES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Shape 11"/>
          <p:cNvSpPr/>
          <p:nvPr/>
        </p:nvSpPr>
        <p:spPr>
          <a:xfrm>
            <a:off x="191880" y="1178280"/>
            <a:ext cx="730080" cy="555840"/>
          </a:xfrm>
          <a:prstGeom prst="rect">
            <a:avLst/>
          </a:prstGeom>
          <a:solidFill>
            <a:srgbClr val="131C2E"/>
          </a:solidFill>
          <a:ln w="900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18" name="Shape 12"/>
          <p:cNvSpPr/>
          <p:nvPr/>
        </p:nvSpPr>
        <p:spPr>
          <a:xfrm>
            <a:off x="448200" y="1214640"/>
            <a:ext cx="218160" cy="124200"/>
          </a:xfrm>
          <a:prstGeom prst="ellipse">
            <a:avLst/>
          </a:prstGeom>
          <a:solidFill>
            <a:srgbClr val="1D4ED8"/>
          </a:solidFill>
          <a:ln w="1260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0" rIns="90000" bIns="43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19" name="Text 13"/>
          <p:cNvSpPr/>
          <p:nvPr/>
        </p:nvSpPr>
        <p:spPr>
          <a:xfrm>
            <a:off x="228600" y="1366920"/>
            <a:ext cx="657000" cy="12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1" strike="noStrike" spc="-1">
                <a:solidFill>
                  <a:srgbClr val="93C5FD"/>
                </a:solidFill>
                <a:latin typeface="Calibri"/>
                <a:ea typeface="Calibri"/>
              </a:rPr>
              <a:t>Pi Zero 2W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14"/>
          <p:cNvSpPr/>
          <p:nvPr/>
        </p:nvSpPr>
        <p:spPr>
          <a:xfrm>
            <a:off x="228600" y="1483920"/>
            <a:ext cx="657000" cy="10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0" strike="noStrike" spc="-1">
                <a:solidFill>
                  <a:srgbClr val="6B7280"/>
                </a:solidFill>
                <a:latin typeface="Calibri"/>
                <a:ea typeface="Calibri"/>
              </a:rPr>
              <a:t>Piezo · ADC</a:t>
            </a:r>
            <a:endParaRPr lang="en-US" sz="5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Shape 15"/>
          <p:cNvSpPr/>
          <p:nvPr/>
        </p:nvSpPr>
        <p:spPr>
          <a:xfrm>
            <a:off x="996840" y="1178280"/>
            <a:ext cx="730080" cy="555840"/>
          </a:xfrm>
          <a:prstGeom prst="rect">
            <a:avLst/>
          </a:prstGeom>
          <a:solidFill>
            <a:srgbClr val="131C2E"/>
          </a:solidFill>
          <a:ln w="900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22" name="Shape 16"/>
          <p:cNvSpPr/>
          <p:nvPr/>
        </p:nvSpPr>
        <p:spPr>
          <a:xfrm>
            <a:off x="1252800" y="1214640"/>
            <a:ext cx="218160" cy="124200"/>
          </a:xfrm>
          <a:prstGeom prst="ellipse">
            <a:avLst/>
          </a:prstGeom>
          <a:solidFill>
            <a:srgbClr val="1D4ED8"/>
          </a:solidFill>
          <a:ln w="1260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0" rIns="90000" bIns="43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23" name="Text 17"/>
          <p:cNvSpPr/>
          <p:nvPr/>
        </p:nvSpPr>
        <p:spPr>
          <a:xfrm>
            <a:off x="1033200" y="1366920"/>
            <a:ext cx="657000" cy="12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1" strike="noStrike" spc="-1">
                <a:solidFill>
                  <a:srgbClr val="93C5FD"/>
                </a:solidFill>
                <a:latin typeface="Calibri"/>
                <a:ea typeface="Calibri"/>
              </a:rPr>
              <a:t>Pi Zero 2W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Text 18"/>
          <p:cNvSpPr/>
          <p:nvPr/>
        </p:nvSpPr>
        <p:spPr>
          <a:xfrm>
            <a:off x="1033200" y="1483920"/>
            <a:ext cx="657000" cy="10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0" strike="noStrike" spc="-1">
                <a:solidFill>
                  <a:srgbClr val="6B7280"/>
                </a:solidFill>
                <a:latin typeface="Calibri"/>
                <a:ea typeface="Calibri"/>
              </a:rPr>
              <a:t>Piezo · ADC</a:t>
            </a:r>
            <a:endParaRPr lang="en-US" sz="5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Shape 19"/>
          <p:cNvSpPr/>
          <p:nvPr/>
        </p:nvSpPr>
        <p:spPr>
          <a:xfrm>
            <a:off x="1792080" y="1178280"/>
            <a:ext cx="730080" cy="555840"/>
          </a:xfrm>
          <a:prstGeom prst="rect">
            <a:avLst/>
          </a:prstGeom>
          <a:solidFill>
            <a:srgbClr val="131C2E"/>
          </a:solidFill>
          <a:ln w="900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26" name="Shape 20"/>
          <p:cNvSpPr/>
          <p:nvPr/>
        </p:nvSpPr>
        <p:spPr>
          <a:xfrm>
            <a:off x="2048400" y="1214640"/>
            <a:ext cx="218160" cy="124200"/>
          </a:xfrm>
          <a:prstGeom prst="ellipse">
            <a:avLst/>
          </a:prstGeom>
          <a:solidFill>
            <a:srgbClr val="1D4ED8"/>
          </a:solidFill>
          <a:ln w="1260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0" rIns="90000" bIns="43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27" name="Text 21"/>
          <p:cNvSpPr/>
          <p:nvPr/>
        </p:nvSpPr>
        <p:spPr>
          <a:xfrm>
            <a:off x="1828800" y="1366920"/>
            <a:ext cx="657000" cy="12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1" strike="noStrike" spc="-1">
                <a:solidFill>
                  <a:srgbClr val="93C5FD"/>
                </a:solidFill>
                <a:latin typeface="Calibri"/>
                <a:ea typeface="Calibri"/>
              </a:rPr>
              <a:t>Pi Zero 2W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Text 22"/>
          <p:cNvSpPr/>
          <p:nvPr/>
        </p:nvSpPr>
        <p:spPr>
          <a:xfrm>
            <a:off x="1828800" y="1483920"/>
            <a:ext cx="657000" cy="10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0" strike="noStrike" spc="-1">
                <a:solidFill>
                  <a:srgbClr val="6B7280"/>
                </a:solidFill>
                <a:latin typeface="Calibri"/>
                <a:ea typeface="Calibri"/>
              </a:rPr>
              <a:t>Piezo · ADC</a:t>
            </a:r>
            <a:endParaRPr lang="en-US" sz="5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Text 23"/>
          <p:cNvSpPr/>
          <p:nvPr/>
        </p:nvSpPr>
        <p:spPr>
          <a:xfrm>
            <a:off x="182880" y="1798560"/>
            <a:ext cx="2394360" cy="12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i="1" strike="noStrike" spc="-1">
                <a:solidFill>
                  <a:srgbClr val="4B5568"/>
                </a:solidFill>
                <a:latin typeface="Calibri"/>
                <a:ea typeface="Calibri"/>
              </a:rPr>
              <a:t>ZMQ PUB :5555  ·  1024×64 tensor  ·  5 Hz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Shape 24"/>
          <p:cNvSpPr/>
          <p:nvPr/>
        </p:nvSpPr>
        <p:spPr>
          <a:xfrm>
            <a:off x="182880" y="1942200"/>
            <a:ext cx="510480" cy="124200"/>
          </a:xfrm>
          <a:prstGeom prst="rect">
            <a:avLst/>
          </a:prstGeom>
          <a:solidFill>
            <a:srgbClr val="1E3A6E"/>
          </a:solidFill>
          <a:ln w="12600">
            <a:solidFill>
              <a:srgbClr val="1E3A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31" name="Text 25"/>
          <p:cNvSpPr/>
          <p:nvPr/>
        </p:nvSpPr>
        <p:spPr>
          <a:xfrm>
            <a:off x="182880" y="1942200"/>
            <a:ext cx="510480" cy="12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strike="noStrike" spc="-1">
                <a:solidFill>
                  <a:srgbClr val="93C5FD"/>
                </a:solidFill>
                <a:latin typeface="Calibri"/>
                <a:ea typeface="Calibri"/>
              </a:rPr>
              <a:t>C++17</a:t>
            </a:r>
            <a:endParaRPr lang="en-US" sz="5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Shape 26"/>
          <p:cNvSpPr/>
          <p:nvPr/>
        </p:nvSpPr>
        <p:spPr>
          <a:xfrm>
            <a:off x="758880" y="1942200"/>
            <a:ext cx="510480" cy="124200"/>
          </a:xfrm>
          <a:prstGeom prst="rect">
            <a:avLst/>
          </a:prstGeom>
          <a:solidFill>
            <a:srgbClr val="1E3A6E"/>
          </a:solidFill>
          <a:ln w="12600">
            <a:solidFill>
              <a:srgbClr val="1E3A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33" name="Text 27"/>
          <p:cNvSpPr/>
          <p:nvPr/>
        </p:nvSpPr>
        <p:spPr>
          <a:xfrm>
            <a:off x="758880" y="1942200"/>
            <a:ext cx="510480" cy="12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strike="noStrike" spc="-1">
                <a:solidFill>
                  <a:srgbClr val="93C5FD"/>
                </a:solidFill>
                <a:latin typeface="Calibri"/>
                <a:ea typeface="Calibri"/>
              </a:rPr>
              <a:t>FFTW3</a:t>
            </a:r>
            <a:endParaRPr lang="en-US" sz="5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Shape 28"/>
          <p:cNvSpPr/>
          <p:nvPr/>
        </p:nvSpPr>
        <p:spPr>
          <a:xfrm>
            <a:off x="1334880" y="1942200"/>
            <a:ext cx="510480" cy="124200"/>
          </a:xfrm>
          <a:prstGeom prst="rect">
            <a:avLst/>
          </a:prstGeom>
          <a:solidFill>
            <a:srgbClr val="1E3A6E"/>
          </a:solidFill>
          <a:ln w="12600">
            <a:solidFill>
              <a:srgbClr val="1E3A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35" name="Text 29"/>
          <p:cNvSpPr/>
          <p:nvPr/>
        </p:nvSpPr>
        <p:spPr>
          <a:xfrm>
            <a:off x="1334880" y="1942200"/>
            <a:ext cx="510480" cy="12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strike="noStrike" spc="-1">
                <a:solidFill>
                  <a:srgbClr val="93C5FD"/>
                </a:solidFill>
                <a:latin typeface="Calibri"/>
                <a:ea typeface="Calibri"/>
              </a:rPr>
              <a:t>PortAudio</a:t>
            </a:r>
            <a:endParaRPr lang="en-US" sz="5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Shape 30"/>
          <p:cNvSpPr/>
          <p:nvPr/>
        </p:nvSpPr>
        <p:spPr>
          <a:xfrm>
            <a:off x="1911240" y="1942200"/>
            <a:ext cx="510480" cy="124200"/>
          </a:xfrm>
          <a:prstGeom prst="rect">
            <a:avLst/>
          </a:prstGeom>
          <a:solidFill>
            <a:srgbClr val="1E3A6E"/>
          </a:solidFill>
          <a:ln w="12600">
            <a:solidFill>
              <a:srgbClr val="1E3A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37" name="Text 31"/>
          <p:cNvSpPr/>
          <p:nvPr/>
        </p:nvSpPr>
        <p:spPr>
          <a:xfrm>
            <a:off x="1911240" y="1942200"/>
            <a:ext cx="510480" cy="12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strike="noStrike" spc="-1">
                <a:solidFill>
                  <a:srgbClr val="93C5FD"/>
                </a:solidFill>
                <a:latin typeface="Calibri"/>
                <a:ea typeface="Calibri"/>
              </a:rPr>
              <a:t>ZMQ</a:t>
            </a:r>
            <a:endParaRPr lang="en-US" sz="5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Shape 32"/>
          <p:cNvSpPr/>
          <p:nvPr/>
        </p:nvSpPr>
        <p:spPr>
          <a:xfrm>
            <a:off x="2862000" y="882000"/>
            <a:ext cx="2485800" cy="1238400"/>
          </a:xfrm>
          <a:prstGeom prst="rect">
            <a:avLst/>
          </a:prstGeom>
          <a:solidFill>
            <a:srgbClr val="0F1421"/>
          </a:solidFill>
          <a:ln w="15120">
            <a:solidFill>
              <a:srgbClr val="ED4E33"/>
            </a:solidFill>
            <a:round/>
          </a:ln>
          <a:effectLst>
            <a:outerShdw blurRad="101520" dist="25455" dir="81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39" name="Shape 33"/>
          <p:cNvSpPr/>
          <p:nvPr/>
        </p:nvSpPr>
        <p:spPr>
          <a:xfrm>
            <a:off x="2862000" y="882000"/>
            <a:ext cx="2485800" cy="232200"/>
          </a:xfrm>
          <a:prstGeom prst="rect">
            <a:avLst/>
          </a:prstGeom>
          <a:solidFill>
            <a:srgbClr val="7A1E0A"/>
          </a:solidFill>
          <a:ln w="12600">
            <a:solidFill>
              <a:srgbClr val="7A1E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40" name="Text 34"/>
          <p:cNvSpPr/>
          <p:nvPr/>
        </p:nvSpPr>
        <p:spPr>
          <a:xfrm>
            <a:off x="2953440" y="927000"/>
            <a:ext cx="2348640" cy="14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600" b="1" strike="noStrike" spc="49">
                <a:solidFill>
                  <a:srgbClr val="FCA5A5"/>
                </a:solidFill>
                <a:latin typeface="Calibri"/>
                <a:ea typeface="Calibri"/>
              </a:rPr>
              <a:t>TIER 1  ·  ZONE B  ·  UP TO 50 SENSOR NODES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Shape 35"/>
          <p:cNvSpPr/>
          <p:nvPr/>
        </p:nvSpPr>
        <p:spPr>
          <a:xfrm>
            <a:off x="2926080" y="1178280"/>
            <a:ext cx="730080" cy="555840"/>
          </a:xfrm>
          <a:prstGeom prst="rect">
            <a:avLst/>
          </a:prstGeom>
          <a:solidFill>
            <a:srgbClr val="131C2E"/>
          </a:solidFill>
          <a:ln w="900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42" name="Shape 36"/>
          <p:cNvSpPr/>
          <p:nvPr/>
        </p:nvSpPr>
        <p:spPr>
          <a:xfrm>
            <a:off x="3182040" y="1214640"/>
            <a:ext cx="218160" cy="124200"/>
          </a:xfrm>
          <a:prstGeom prst="ellipse">
            <a:avLst/>
          </a:prstGeom>
          <a:solidFill>
            <a:srgbClr val="1D4ED8"/>
          </a:solidFill>
          <a:ln w="1260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0" rIns="90000" bIns="43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43" name="Text 37"/>
          <p:cNvSpPr/>
          <p:nvPr/>
        </p:nvSpPr>
        <p:spPr>
          <a:xfrm>
            <a:off x="2962800" y="1366920"/>
            <a:ext cx="657000" cy="12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1" strike="noStrike" spc="-1">
                <a:solidFill>
                  <a:srgbClr val="93C5FD"/>
                </a:solidFill>
                <a:latin typeface="Calibri"/>
                <a:ea typeface="Calibri"/>
              </a:rPr>
              <a:t>Pi Zero 2W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Text 38"/>
          <p:cNvSpPr/>
          <p:nvPr/>
        </p:nvSpPr>
        <p:spPr>
          <a:xfrm>
            <a:off x="2962800" y="1483920"/>
            <a:ext cx="657000" cy="10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0" strike="noStrike" spc="-1">
                <a:solidFill>
                  <a:srgbClr val="6B7280"/>
                </a:solidFill>
                <a:latin typeface="Calibri"/>
                <a:ea typeface="Calibri"/>
              </a:rPr>
              <a:t>Piezo · ADC</a:t>
            </a:r>
            <a:endParaRPr lang="en-US" sz="5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Shape 39"/>
          <p:cNvSpPr/>
          <p:nvPr/>
        </p:nvSpPr>
        <p:spPr>
          <a:xfrm>
            <a:off x="3730680" y="1178280"/>
            <a:ext cx="730080" cy="555840"/>
          </a:xfrm>
          <a:prstGeom prst="rect">
            <a:avLst/>
          </a:prstGeom>
          <a:solidFill>
            <a:srgbClr val="131C2E"/>
          </a:solidFill>
          <a:ln w="900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46" name="Shape 40"/>
          <p:cNvSpPr/>
          <p:nvPr/>
        </p:nvSpPr>
        <p:spPr>
          <a:xfrm>
            <a:off x="3986640" y="1214640"/>
            <a:ext cx="218160" cy="124200"/>
          </a:xfrm>
          <a:prstGeom prst="ellipse">
            <a:avLst/>
          </a:prstGeom>
          <a:solidFill>
            <a:srgbClr val="1D4ED8"/>
          </a:solidFill>
          <a:ln w="1260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0" rIns="90000" bIns="43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47" name="Text 41"/>
          <p:cNvSpPr/>
          <p:nvPr/>
        </p:nvSpPr>
        <p:spPr>
          <a:xfrm>
            <a:off x="3767400" y="1366920"/>
            <a:ext cx="657000" cy="12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1" strike="noStrike" spc="-1">
                <a:solidFill>
                  <a:srgbClr val="93C5FD"/>
                </a:solidFill>
                <a:latin typeface="Calibri"/>
                <a:ea typeface="Calibri"/>
              </a:rPr>
              <a:t>Pi Zero 2W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Text 42"/>
          <p:cNvSpPr/>
          <p:nvPr/>
        </p:nvSpPr>
        <p:spPr>
          <a:xfrm>
            <a:off x="3767400" y="1483920"/>
            <a:ext cx="657000" cy="10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0" strike="noStrike" spc="-1">
                <a:solidFill>
                  <a:srgbClr val="6B7280"/>
                </a:solidFill>
                <a:latin typeface="Calibri"/>
                <a:ea typeface="Calibri"/>
              </a:rPr>
              <a:t>Piezo · ADC</a:t>
            </a:r>
            <a:endParaRPr lang="en-US" sz="5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Shape 43"/>
          <p:cNvSpPr/>
          <p:nvPr/>
        </p:nvSpPr>
        <p:spPr>
          <a:xfrm>
            <a:off x="4526280" y="1178280"/>
            <a:ext cx="730080" cy="555840"/>
          </a:xfrm>
          <a:prstGeom prst="rect">
            <a:avLst/>
          </a:prstGeom>
          <a:solidFill>
            <a:srgbClr val="131C2E"/>
          </a:solidFill>
          <a:ln w="900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50" name="Shape 44"/>
          <p:cNvSpPr/>
          <p:nvPr/>
        </p:nvSpPr>
        <p:spPr>
          <a:xfrm>
            <a:off x="4782240" y="1214640"/>
            <a:ext cx="218160" cy="124200"/>
          </a:xfrm>
          <a:prstGeom prst="ellipse">
            <a:avLst/>
          </a:prstGeom>
          <a:solidFill>
            <a:srgbClr val="1D4ED8"/>
          </a:solidFill>
          <a:ln w="1260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0" rIns="90000" bIns="43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51" name="Text 45"/>
          <p:cNvSpPr/>
          <p:nvPr/>
        </p:nvSpPr>
        <p:spPr>
          <a:xfrm>
            <a:off x="4563000" y="1366920"/>
            <a:ext cx="657000" cy="12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1" strike="noStrike" spc="-1">
                <a:solidFill>
                  <a:srgbClr val="93C5FD"/>
                </a:solidFill>
                <a:latin typeface="Calibri"/>
                <a:ea typeface="Calibri"/>
              </a:rPr>
              <a:t>Pi Zero 2W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Text 46"/>
          <p:cNvSpPr/>
          <p:nvPr/>
        </p:nvSpPr>
        <p:spPr>
          <a:xfrm>
            <a:off x="4563000" y="1483920"/>
            <a:ext cx="657000" cy="10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0" strike="noStrike" spc="-1">
                <a:solidFill>
                  <a:srgbClr val="6B7280"/>
                </a:solidFill>
                <a:latin typeface="Calibri"/>
                <a:ea typeface="Calibri"/>
              </a:rPr>
              <a:t>Piezo · ADC</a:t>
            </a:r>
            <a:endParaRPr lang="en-US" sz="5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Text 47"/>
          <p:cNvSpPr/>
          <p:nvPr/>
        </p:nvSpPr>
        <p:spPr>
          <a:xfrm>
            <a:off x="2917080" y="1798560"/>
            <a:ext cx="2394360" cy="12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i="1" strike="noStrike" spc="-1">
                <a:solidFill>
                  <a:srgbClr val="4B5568"/>
                </a:solidFill>
                <a:latin typeface="Calibri"/>
                <a:ea typeface="Calibri"/>
              </a:rPr>
              <a:t>ZMQ PUB :5555  ·  1024×64 tensor  ·  5 Hz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Shape 48"/>
          <p:cNvSpPr/>
          <p:nvPr/>
        </p:nvSpPr>
        <p:spPr>
          <a:xfrm>
            <a:off x="2917080" y="1942200"/>
            <a:ext cx="510480" cy="124200"/>
          </a:xfrm>
          <a:prstGeom prst="rect">
            <a:avLst/>
          </a:prstGeom>
          <a:solidFill>
            <a:srgbClr val="1E3A6E"/>
          </a:solidFill>
          <a:ln w="12600">
            <a:solidFill>
              <a:srgbClr val="1E3A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55" name="Text 49"/>
          <p:cNvSpPr/>
          <p:nvPr/>
        </p:nvSpPr>
        <p:spPr>
          <a:xfrm>
            <a:off x="2917080" y="1942200"/>
            <a:ext cx="510480" cy="12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strike="noStrike" spc="-1">
                <a:solidFill>
                  <a:srgbClr val="93C5FD"/>
                </a:solidFill>
                <a:latin typeface="Calibri"/>
                <a:ea typeface="Calibri"/>
              </a:rPr>
              <a:t>C++17</a:t>
            </a:r>
            <a:endParaRPr lang="en-US" sz="5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Shape 50"/>
          <p:cNvSpPr/>
          <p:nvPr/>
        </p:nvSpPr>
        <p:spPr>
          <a:xfrm>
            <a:off x="3493080" y="1942200"/>
            <a:ext cx="510480" cy="124200"/>
          </a:xfrm>
          <a:prstGeom prst="rect">
            <a:avLst/>
          </a:prstGeom>
          <a:solidFill>
            <a:srgbClr val="1E3A6E"/>
          </a:solidFill>
          <a:ln w="12600">
            <a:solidFill>
              <a:srgbClr val="1E3A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57" name="Text 51"/>
          <p:cNvSpPr/>
          <p:nvPr/>
        </p:nvSpPr>
        <p:spPr>
          <a:xfrm>
            <a:off x="3493080" y="1942200"/>
            <a:ext cx="510480" cy="12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strike="noStrike" spc="-1">
                <a:solidFill>
                  <a:srgbClr val="93C5FD"/>
                </a:solidFill>
                <a:latin typeface="Calibri"/>
                <a:ea typeface="Calibri"/>
              </a:rPr>
              <a:t>FFTW3</a:t>
            </a:r>
            <a:endParaRPr lang="en-US" sz="5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Shape 52"/>
          <p:cNvSpPr/>
          <p:nvPr/>
        </p:nvSpPr>
        <p:spPr>
          <a:xfrm>
            <a:off x="4069080" y="1942200"/>
            <a:ext cx="510480" cy="124200"/>
          </a:xfrm>
          <a:prstGeom prst="rect">
            <a:avLst/>
          </a:prstGeom>
          <a:solidFill>
            <a:srgbClr val="1E3A6E"/>
          </a:solidFill>
          <a:ln w="12600">
            <a:solidFill>
              <a:srgbClr val="1E3A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59" name="Text 53"/>
          <p:cNvSpPr/>
          <p:nvPr/>
        </p:nvSpPr>
        <p:spPr>
          <a:xfrm>
            <a:off x="4069080" y="1942200"/>
            <a:ext cx="510480" cy="12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strike="noStrike" spc="-1">
                <a:solidFill>
                  <a:srgbClr val="93C5FD"/>
                </a:solidFill>
                <a:latin typeface="Calibri"/>
                <a:ea typeface="Calibri"/>
              </a:rPr>
              <a:t>PortAudio</a:t>
            </a:r>
            <a:endParaRPr lang="en-US" sz="5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Shape 54"/>
          <p:cNvSpPr/>
          <p:nvPr/>
        </p:nvSpPr>
        <p:spPr>
          <a:xfrm>
            <a:off x="4645080" y="1942200"/>
            <a:ext cx="510480" cy="124200"/>
          </a:xfrm>
          <a:prstGeom prst="rect">
            <a:avLst/>
          </a:prstGeom>
          <a:solidFill>
            <a:srgbClr val="1E3A6E"/>
          </a:solidFill>
          <a:ln w="12600">
            <a:solidFill>
              <a:srgbClr val="1E3A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61" name="Text 55"/>
          <p:cNvSpPr/>
          <p:nvPr/>
        </p:nvSpPr>
        <p:spPr>
          <a:xfrm>
            <a:off x="4645080" y="1942200"/>
            <a:ext cx="510480" cy="12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strike="noStrike" spc="-1">
                <a:solidFill>
                  <a:srgbClr val="93C5FD"/>
                </a:solidFill>
                <a:latin typeface="Calibri"/>
                <a:ea typeface="Calibri"/>
              </a:rPr>
              <a:t>ZMQ</a:t>
            </a:r>
            <a:endParaRPr lang="en-US" sz="5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Shape 56"/>
          <p:cNvSpPr/>
          <p:nvPr/>
        </p:nvSpPr>
        <p:spPr>
          <a:xfrm>
            <a:off x="5596200" y="882000"/>
            <a:ext cx="2485800" cy="1238400"/>
          </a:xfrm>
          <a:prstGeom prst="rect">
            <a:avLst/>
          </a:prstGeom>
          <a:solidFill>
            <a:srgbClr val="0F1421"/>
          </a:solidFill>
          <a:ln w="15120">
            <a:solidFill>
              <a:srgbClr val="1D4ED8"/>
            </a:solidFill>
            <a:round/>
          </a:ln>
          <a:effectLst>
            <a:outerShdw blurRad="101520" dist="25455" dir="81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63" name="Shape 57"/>
          <p:cNvSpPr/>
          <p:nvPr/>
        </p:nvSpPr>
        <p:spPr>
          <a:xfrm>
            <a:off x="5596200" y="882000"/>
            <a:ext cx="2485800" cy="232200"/>
          </a:xfrm>
          <a:prstGeom prst="rect">
            <a:avLst/>
          </a:prstGeom>
          <a:solidFill>
            <a:srgbClr val="1E3A6E"/>
          </a:solidFill>
          <a:ln w="12600">
            <a:solidFill>
              <a:srgbClr val="1E3A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64" name="Text 58"/>
          <p:cNvSpPr/>
          <p:nvPr/>
        </p:nvSpPr>
        <p:spPr>
          <a:xfrm>
            <a:off x="5687640" y="927000"/>
            <a:ext cx="2348640" cy="14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600" b="1" strike="noStrike" spc="49">
                <a:solidFill>
                  <a:srgbClr val="93C5FD"/>
                </a:solidFill>
                <a:latin typeface="Calibri"/>
                <a:ea typeface="Calibri"/>
              </a:rPr>
              <a:t>TIER 1  ·  ZONE C  ·  UP TO 50 SENSOR NODES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Shape 59"/>
          <p:cNvSpPr/>
          <p:nvPr/>
        </p:nvSpPr>
        <p:spPr>
          <a:xfrm>
            <a:off x="5660280" y="1178280"/>
            <a:ext cx="730080" cy="555840"/>
          </a:xfrm>
          <a:prstGeom prst="rect">
            <a:avLst/>
          </a:prstGeom>
          <a:solidFill>
            <a:srgbClr val="131C2E"/>
          </a:solidFill>
          <a:ln w="900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66" name="Shape 60"/>
          <p:cNvSpPr/>
          <p:nvPr/>
        </p:nvSpPr>
        <p:spPr>
          <a:xfrm>
            <a:off x="5916240" y="1214640"/>
            <a:ext cx="218160" cy="124200"/>
          </a:xfrm>
          <a:prstGeom prst="ellipse">
            <a:avLst/>
          </a:prstGeom>
          <a:solidFill>
            <a:srgbClr val="1D4ED8"/>
          </a:solidFill>
          <a:ln w="1260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0" rIns="90000" bIns="43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67" name="Text 61"/>
          <p:cNvSpPr/>
          <p:nvPr/>
        </p:nvSpPr>
        <p:spPr>
          <a:xfrm>
            <a:off x="5696640" y="1366920"/>
            <a:ext cx="657000" cy="12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1" strike="noStrike" spc="-1">
                <a:solidFill>
                  <a:srgbClr val="93C5FD"/>
                </a:solidFill>
                <a:latin typeface="Calibri"/>
                <a:ea typeface="Calibri"/>
              </a:rPr>
              <a:t>Pi Zero 2W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Text 62"/>
          <p:cNvSpPr/>
          <p:nvPr/>
        </p:nvSpPr>
        <p:spPr>
          <a:xfrm>
            <a:off x="5696640" y="1483920"/>
            <a:ext cx="657000" cy="10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0" strike="noStrike" spc="-1">
                <a:solidFill>
                  <a:srgbClr val="6B7280"/>
                </a:solidFill>
                <a:latin typeface="Calibri"/>
                <a:ea typeface="Calibri"/>
              </a:rPr>
              <a:t>Piezo · ADC</a:t>
            </a:r>
            <a:endParaRPr lang="en-US" sz="5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Shape 63"/>
          <p:cNvSpPr/>
          <p:nvPr/>
        </p:nvSpPr>
        <p:spPr>
          <a:xfrm>
            <a:off x="6464880" y="1178280"/>
            <a:ext cx="730080" cy="555840"/>
          </a:xfrm>
          <a:prstGeom prst="rect">
            <a:avLst/>
          </a:prstGeom>
          <a:solidFill>
            <a:srgbClr val="131C2E"/>
          </a:solidFill>
          <a:ln w="900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70" name="Shape 64"/>
          <p:cNvSpPr/>
          <p:nvPr/>
        </p:nvSpPr>
        <p:spPr>
          <a:xfrm>
            <a:off x="6720840" y="1214640"/>
            <a:ext cx="218160" cy="124200"/>
          </a:xfrm>
          <a:prstGeom prst="ellipse">
            <a:avLst/>
          </a:prstGeom>
          <a:solidFill>
            <a:srgbClr val="1D4ED8"/>
          </a:solidFill>
          <a:ln w="1260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0" rIns="90000" bIns="43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71" name="Text 65"/>
          <p:cNvSpPr/>
          <p:nvPr/>
        </p:nvSpPr>
        <p:spPr>
          <a:xfrm>
            <a:off x="6501240" y="1366920"/>
            <a:ext cx="657000" cy="12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1" strike="noStrike" spc="-1">
                <a:solidFill>
                  <a:srgbClr val="93C5FD"/>
                </a:solidFill>
                <a:latin typeface="Calibri"/>
                <a:ea typeface="Calibri"/>
              </a:rPr>
              <a:t>Pi Zero 2W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Text 66"/>
          <p:cNvSpPr/>
          <p:nvPr/>
        </p:nvSpPr>
        <p:spPr>
          <a:xfrm>
            <a:off x="6501240" y="1483920"/>
            <a:ext cx="657000" cy="10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0" strike="noStrike" spc="-1">
                <a:solidFill>
                  <a:srgbClr val="6B7280"/>
                </a:solidFill>
                <a:latin typeface="Calibri"/>
                <a:ea typeface="Calibri"/>
              </a:rPr>
              <a:t>Piezo · ADC</a:t>
            </a:r>
            <a:endParaRPr lang="en-US" sz="5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Shape 67"/>
          <p:cNvSpPr/>
          <p:nvPr/>
        </p:nvSpPr>
        <p:spPr>
          <a:xfrm>
            <a:off x="7260480" y="1178280"/>
            <a:ext cx="730080" cy="555840"/>
          </a:xfrm>
          <a:prstGeom prst="rect">
            <a:avLst/>
          </a:prstGeom>
          <a:solidFill>
            <a:srgbClr val="131C2E"/>
          </a:solidFill>
          <a:ln w="900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74" name="Shape 68"/>
          <p:cNvSpPr/>
          <p:nvPr/>
        </p:nvSpPr>
        <p:spPr>
          <a:xfrm>
            <a:off x="7516440" y="1214640"/>
            <a:ext cx="218160" cy="124200"/>
          </a:xfrm>
          <a:prstGeom prst="ellipse">
            <a:avLst/>
          </a:prstGeom>
          <a:solidFill>
            <a:srgbClr val="1D4ED8"/>
          </a:solidFill>
          <a:ln w="1260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3200" rIns="90000" bIns="43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75" name="Text 69"/>
          <p:cNvSpPr/>
          <p:nvPr/>
        </p:nvSpPr>
        <p:spPr>
          <a:xfrm>
            <a:off x="7296840" y="1366920"/>
            <a:ext cx="657000" cy="12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1" strike="noStrike" spc="-1">
                <a:solidFill>
                  <a:srgbClr val="93C5FD"/>
                </a:solidFill>
                <a:latin typeface="Calibri"/>
                <a:ea typeface="Calibri"/>
              </a:rPr>
              <a:t>Pi Zero 2W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Text 70"/>
          <p:cNvSpPr/>
          <p:nvPr/>
        </p:nvSpPr>
        <p:spPr>
          <a:xfrm>
            <a:off x="7296840" y="1483920"/>
            <a:ext cx="657000" cy="10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0" strike="noStrike" spc="-1">
                <a:solidFill>
                  <a:srgbClr val="6B7280"/>
                </a:solidFill>
                <a:latin typeface="Calibri"/>
                <a:ea typeface="Calibri"/>
              </a:rPr>
              <a:t>Piezo · ADC</a:t>
            </a:r>
            <a:endParaRPr lang="en-US" sz="5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 71"/>
          <p:cNvSpPr/>
          <p:nvPr/>
        </p:nvSpPr>
        <p:spPr>
          <a:xfrm>
            <a:off x="5650920" y="1798560"/>
            <a:ext cx="2394360" cy="12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i="1" strike="noStrike" spc="-1">
                <a:solidFill>
                  <a:srgbClr val="4B5568"/>
                </a:solidFill>
                <a:latin typeface="Calibri"/>
                <a:ea typeface="Calibri"/>
              </a:rPr>
              <a:t>ZMQ PUB :5555  ·  1024×64 tensor  ·  5 Hz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Shape 72"/>
          <p:cNvSpPr/>
          <p:nvPr/>
        </p:nvSpPr>
        <p:spPr>
          <a:xfrm>
            <a:off x="5650920" y="1942200"/>
            <a:ext cx="510480" cy="124200"/>
          </a:xfrm>
          <a:prstGeom prst="rect">
            <a:avLst/>
          </a:prstGeom>
          <a:solidFill>
            <a:srgbClr val="1E3A6E"/>
          </a:solidFill>
          <a:ln w="12600">
            <a:solidFill>
              <a:srgbClr val="1E3A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79" name="Text 73"/>
          <p:cNvSpPr/>
          <p:nvPr/>
        </p:nvSpPr>
        <p:spPr>
          <a:xfrm>
            <a:off x="5650920" y="1942200"/>
            <a:ext cx="510480" cy="12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strike="noStrike" spc="-1">
                <a:solidFill>
                  <a:srgbClr val="93C5FD"/>
                </a:solidFill>
                <a:latin typeface="Calibri"/>
                <a:ea typeface="Calibri"/>
              </a:rPr>
              <a:t>C++17</a:t>
            </a:r>
            <a:endParaRPr lang="en-US" sz="5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Shape 74"/>
          <p:cNvSpPr/>
          <p:nvPr/>
        </p:nvSpPr>
        <p:spPr>
          <a:xfrm>
            <a:off x="6226920" y="1942200"/>
            <a:ext cx="510480" cy="124200"/>
          </a:xfrm>
          <a:prstGeom prst="rect">
            <a:avLst/>
          </a:prstGeom>
          <a:solidFill>
            <a:srgbClr val="1E3A6E"/>
          </a:solidFill>
          <a:ln w="12600">
            <a:solidFill>
              <a:srgbClr val="1E3A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81" name="Text 75"/>
          <p:cNvSpPr/>
          <p:nvPr/>
        </p:nvSpPr>
        <p:spPr>
          <a:xfrm>
            <a:off x="6226920" y="1942200"/>
            <a:ext cx="510480" cy="12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strike="noStrike" spc="-1">
                <a:solidFill>
                  <a:srgbClr val="93C5FD"/>
                </a:solidFill>
                <a:latin typeface="Calibri"/>
                <a:ea typeface="Calibri"/>
              </a:rPr>
              <a:t>FFTW3</a:t>
            </a:r>
            <a:endParaRPr lang="en-US" sz="5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Shape 76"/>
          <p:cNvSpPr/>
          <p:nvPr/>
        </p:nvSpPr>
        <p:spPr>
          <a:xfrm>
            <a:off x="6803280" y="1942200"/>
            <a:ext cx="510480" cy="124200"/>
          </a:xfrm>
          <a:prstGeom prst="rect">
            <a:avLst/>
          </a:prstGeom>
          <a:solidFill>
            <a:srgbClr val="1E3A6E"/>
          </a:solidFill>
          <a:ln w="12600">
            <a:solidFill>
              <a:srgbClr val="1E3A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83" name="Text 77"/>
          <p:cNvSpPr/>
          <p:nvPr/>
        </p:nvSpPr>
        <p:spPr>
          <a:xfrm>
            <a:off x="6803280" y="1942200"/>
            <a:ext cx="510480" cy="12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strike="noStrike" spc="-1">
                <a:solidFill>
                  <a:srgbClr val="93C5FD"/>
                </a:solidFill>
                <a:latin typeface="Calibri"/>
                <a:ea typeface="Calibri"/>
              </a:rPr>
              <a:t>PortAudio</a:t>
            </a:r>
            <a:endParaRPr lang="en-US" sz="5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Shape 78"/>
          <p:cNvSpPr/>
          <p:nvPr/>
        </p:nvSpPr>
        <p:spPr>
          <a:xfrm>
            <a:off x="7379280" y="1942200"/>
            <a:ext cx="510480" cy="124200"/>
          </a:xfrm>
          <a:prstGeom prst="rect">
            <a:avLst/>
          </a:prstGeom>
          <a:solidFill>
            <a:srgbClr val="1E3A6E"/>
          </a:solidFill>
          <a:ln w="12600">
            <a:solidFill>
              <a:srgbClr val="1E3A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85" name="Text 79"/>
          <p:cNvSpPr/>
          <p:nvPr/>
        </p:nvSpPr>
        <p:spPr>
          <a:xfrm>
            <a:off x="7379280" y="1942200"/>
            <a:ext cx="510480" cy="12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strike="noStrike" spc="-1">
                <a:solidFill>
                  <a:srgbClr val="93C5FD"/>
                </a:solidFill>
                <a:latin typeface="Calibri"/>
                <a:ea typeface="Calibri"/>
              </a:rPr>
              <a:t>ZMQ</a:t>
            </a:r>
            <a:endParaRPr lang="en-US" sz="5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Shape 80"/>
          <p:cNvSpPr/>
          <p:nvPr/>
        </p:nvSpPr>
        <p:spPr>
          <a:xfrm>
            <a:off x="1371600" y="2139480"/>
            <a:ext cx="360" cy="179640"/>
          </a:xfrm>
          <a:prstGeom prst="line">
            <a:avLst/>
          </a:prstGeom>
          <a:ln w="19080">
            <a:solidFill>
              <a:srgbClr val="ED4E33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87" name="Shape 81"/>
          <p:cNvSpPr/>
          <p:nvPr/>
        </p:nvSpPr>
        <p:spPr>
          <a:xfrm>
            <a:off x="4105440" y="2139480"/>
            <a:ext cx="360" cy="179640"/>
          </a:xfrm>
          <a:prstGeom prst="line">
            <a:avLst/>
          </a:prstGeom>
          <a:ln w="19080">
            <a:solidFill>
              <a:srgbClr val="ED4E33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88" name="Shape 82"/>
          <p:cNvSpPr/>
          <p:nvPr/>
        </p:nvSpPr>
        <p:spPr>
          <a:xfrm>
            <a:off x="6839640" y="2139480"/>
            <a:ext cx="360" cy="179640"/>
          </a:xfrm>
          <a:prstGeom prst="line">
            <a:avLst/>
          </a:prstGeom>
          <a:ln w="19080">
            <a:solidFill>
              <a:srgbClr val="ED4E33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89" name="Shape 83"/>
          <p:cNvSpPr/>
          <p:nvPr/>
        </p:nvSpPr>
        <p:spPr>
          <a:xfrm>
            <a:off x="228600" y="2292840"/>
            <a:ext cx="2284560" cy="878400"/>
          </a:xfrm>
          <a:prstGeom prst="rect">
            <a:avLst/>
          </a:prstGeom>
          <a:solidFill>
            <a:srgbClr val="1A0805"/>
          </a:solidFill>
          <a:ln w="25560">
            <a:solidFill>
              <a:srgbClr val="ED4E33"/>
            </a:solidFill>
            <a:round/>
          </a:ln>
          <a:effectLst>
            <a:outerShdw blurRad="177840" dist="49893" dir="8100000" rotWithShape="0">
              <a:srgbClr val="ED4E33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90" name="Shape 84"/>
          <p:cNvSpPr/>
          <p:nvPr/>
        </p:nvSpPr>
        <p:spPr>
          <a:xfrm>
            <a:off x="274320" y="2337480"/>
            <a:ext cx="2193120" cy="789120"/>
          </a:xfrm>
          <a:prstGeom prst="rect">
            <a:avLst/>
          </a:prstGeom>
          <a:solidFill>
            <a:srgbClr val="140804"/>
          </a:solidFill>
          <a:ln w="6480">
            <a:solidFill>
              <a:srgbClr val="5C1A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91" name="Text 85"/>
          <p:cNvSpPr/>
          <p:nvPr/>
        </p:nvSpPr>
        <p:spPr>
          <a:xfrm>
            <a:off x="365760" y="2391120"/>
            <a:ext cx="2055960" cy="12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69">
                <a:solidFill>
                  <a:srgbClr val="7A1E0A"/>
                </a:solidFill>
                <a:latin typeface="Calibri"/>
                <a:ea typeface="Calibri"/>
              </a:rPr>
              <a:t>AMD HARDWARE  ·  TIER 2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Text 86"/>
          <p:cNvSpPr/>
          <p:nvPr/>
        </p:nvSpPr>
        <p:spPr>
          <a:xfrm>
            <a:off x="365760" y="2507760"/>
            <a:ext cx="2055960" cy="1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Ryzen™ AI NPU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Text 87"/>
          <p:cNvSpPr/>
          <p:nvPr/>
        </p:nvSpPr>
        <p:spPr>
          <a:xfrm>
            <a:off x="365760" y="2732400"/>
            <a:ext cx="2055960" cy="12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D4906A"/>
                </a:solidFill>
                <a:latin typeface="Calibri"/>
                <a:ea typeface="Calibri"/>
              </a:rPr>
              <a:t>Vitis AI  ·  ONNX Runtime  ·  ~4.7ms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Text 88"/>
          <p:cNvSpPr/>
          <p:nvPr/>
        </p:nvSpPr>
        <p:spPr>
          <a:xfrm>
            <a:off x="365760" y="2849400"/>
            <a:ext cx="2055960" cy="12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D4906A"/>
                </a:solidFill>
                <a:latin typeface="Calibri"/>
                <a:ea typeface="Calibri"/>
              </a:rPr>
              <a:t>ConvAutoencoder  ·  MSE threshold: 0.180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Text 89"/>
          <p:cNvSpPr/>
          <p:nvPr/>
        </p:nvSpPr>
        <p:spPr>
          <a:xfrm>
            <a:off x="365760" y="2966400"/>
            <a:ext cx="2055960" cy="11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D4906A"/>
                </a:solidFill>
                <a:latin typeface="Calibri"/>
                <a:ea typeface="Calibri"/>
              </a:rPr>
              <a:t>Ollama LLM  ·  any language  ·  offline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Shape 90"/>
          <p:cNvSpPr/>
          <p:nvPr/>
        </p:nvSpPr>
        <p:spPr>
          <a:xfrm>
            <a:off x="2962800" y="2292840"/>
            <a:ext cx="2284560" cy="878400"/>
          </a:xfrm>
          <a:prstGeom prst="rect">
            <a:avLst/>
          </a:prstGeom>
          <a:solidFill>
            <a:srgbClr val="1A0805"/>
          </a:solidFill>
          <a:ln w="25560">
            <a:solidFill>
              <a:srgbClr val="ED4E33"/>
            </a:solidFill>
            <a:round/>
          </a:ln>
          <a:effectLst>
            <a:outerShdw blurRad="177840" dist="49893" dir="8100000" rotWithShape="0">
              <a:srgbClr val="ED4E33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97" name="Shape 91"/>
          <p:cNvSpPr/>
          <p:nvPr/>
        </p:nvSpPr>
        <p:spPr>
          <a:xfrm>
            <a:off x="3008520" y="2337480"/>
            <a:ext cx="2193120" cy="789120"/>
          </a:xfrm>
          <a:prstGeom prst="rect">
            <a:avLst/>
          </a:prstGeom>
          <a:solidFill>
            <a:srgbClr val="140804"/>
          </a:solidFill>
          <a:ln w="6480">
            <a:solidFill>
              <a:srgbClr val="5C1A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98" name="Text 92"/>
          <p:cNvSpPr/>
          <p:nvPr/>
        </p:nvSpPr>
        <p:spPr>
          <a:xfrm>
            <a:off x="3099960" y="2391120"/>
            <a:ext cx="2055960" cy="12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69">
                <a:solidFill>
                  <a:srgbClr val="7A1E0A"/>
                </a:solidFill>
                <a:latin typeface="Calibri"/>
                <a:ea typeface="Calibri"/>
              </a:rPr>
              <a:t>AMD HARDWARE  ·  TIER 2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Text 93"/>
          <p:cNvSpPr/>
          <p:nvPr/>
        </p:nvSpPr>
        <p:spPr>
          <a:xfrm>
            <a:off x="3099960" y="2507760"/>
            <a:ext cx="2055960" cy="1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Ryzen™ AI NPU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Text 94"/>
          <p:cNvSpPr/>
          <p:nvPr/>
        </p:nvSpPr>
        <p:spPr>
          <a:xfrm>
            <a:off x="3099960" y="2732400"/>
            <a:ext cx="2055960" cy="12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D4906A"/>
                </a:solidFill>
                <a:latin typeface="Calibri"/>
                <a:ea typeface="Calibri"/>
              </a:rPr>
              <a:t>Vitis AI  ·  ONNX Runtime  ·  ~4.7ms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Text 95"/>
          <p:cNvSpPr/>
          <p:nvPr/>
        </p:nvSpPr>
        <p:spPr>
          <a:xfrm>
            <a:off x="3099960" y="2849400"/>
            <a:ext cx="2055960" cy="12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D4906A"/>
                </a:solidFill>
                <a:latin typeface="Calibri"/>
                <a:ea typeface="Calibri"/>
              </a:rPr>
              <a:t>ConvAutoencoder  ·  MSE threshold: 0.180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Text 96"/>
          <p:cNvSpPr/>
          <p:nvPr/>
        </p:nvSpPr>
        <p:spPr>
          <a:xfrm>
            <a:off x="3099960" y="2966400"/>
            <a:ext cx="2055960" cy="11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D4906A"/>
                </a:solidFill>
                <a:latin typeface="Calibri"/>
                <a:ea typeface="Calibri"/>
              </a:rPr>
              <a:t>Ollama LLM  ·  any language  ·  offline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Shape 97"/>
          <p:cNvSpPr/>
          <p:nvPr/>
        </p:nvSpPr>
        <p:spPr>
          <a:xfrm>
            <a:off x="5696640" y="2292840"/>
            <a:ext cx="2284560" cy="878400"/>
          </a:xfrm>
          <a:prstGeom prst="rect">
            <a:avLst/>
          </a:prstGeom>
          <a:solidFill>
            <a:srgbClr val="1A0805"/>
          </a:solidFill>
          <a:ln w="25560">
            <a:solidFill>
              <a:srgbClr val="ED4E33"/>
            </a:solidFill>
            <a:round/>
          </a:ln>
          <a:effectLst>
            <a:outerShdw blurRad="177840" dist="49893" dir="8100000" rotWithShape="0">
              <a:srgbClr val="ED4E33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04" name="Shape 98"/>
          <p:cNvSpPr/>
          <p:nvPr/>
        </p:nvSpPr>
        <p:spPr>
          <a:xfrm>
            <a:off x="5742360" y="2337480"/>
            <a:ext cx="2193120" cy="789120"/>
          </a:xfrm>
          <a:prstGeom prst="rect">
            <a:avLst/>
          </a:prstGeom>
          <a:solidFill>
            <a:srgbClr val="140804"/>
          </a:solidFill>
          <a:ln w="6480">
            <a:solidFill>
              <a:srgbClr val="5C1A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05" name="Text 99"/>
          <p:cNvSpPr/>
          <p:nvPr/>
        </p:nvSpPr>
        <p:spPr>
          <a:xfrm>
            <a:off x="5833800" y="2391120"/>
            <a:ext cx="2055960" cy="12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69">
                <a:solidFill>
                  <a:srgbClr val="7A1E0A"/>
                </a:solidFill>
                <a:latin typeface="Calibri"/>
                <a:ea typeface="Calibri"/>
              </a:rPr>
              <a:t>AMD HARDWARE  ·  TIER 2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Text 100"/>
          <p:cNvSpPr/>
          <p:nvPr/>
        </p:nvSpPr>
        <p:spPr>
          <a:xfrm>
            <a:off x="5833800" y="2507760"/>
            <a:ext cx="2055960" cy="1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Ryzen™ AI NPU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Text 101"/>
          <p:cNvSpPr/>
          <p:nvPr/>
        </p:nvSpPr>
        <p:spPr>
          <a:xfrm>
            <a:off x="5833800" y="2732400"/>
            <a:ext cx="2055960" cy="12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D4906A"/>
                </a:solidFill>
                <a:latin typeface="Calibri"/>
                <a:ea typeface="Calibri"/>
              </a:rPr>
              <a:t>Vitis AI  ·  ONNX Runtime  ·  ~4.7ms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" name="Text 102"/>
          <p:cNvSpPr/>
          <p:nvPr/>
        </p:nvSpPr>
        <p:spPr>
          <a:xfrm>
            <a:off x="5833800" y="2849400"/>
            <a:ext cx="2055960" cy="12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D4906A"/>
                </a:solidFill>
                <a:latin typeface="Calibri"/>
                <a:ea typeface="Calibri"/>
              </a:rPr>
              <a:t>ConvAutoencoder  ·  MSE threshold: 0.180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Text 103"/>
          <p:cNvSpPr/>
          <p:nvPr/>
        </p:nvSpPr>
        <p:spPr>
          <a:xfrm>
            <a:off x="5833800" y="2966400"/>
            <a:ext cx="2055960" cy="11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D4906A"/>
                </a:solidFill>
                <a:latin typeface="Calibri"/>
                <a:ea typeface="Calibri"/>
              </a:rPr>
              <a:t>Ollama LLM  ·  any language  ·  offline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Shape 104"/>
          <p:cNvSpPr/>
          <p:nvPr/>
        </p:nvSpPr>
        <p:spPr>
          <a:xfrm>
            <a:off x="1371600" y="3145680"/>
            <a:ext cx="360" cy="179640"/>
          </a:xfrm>
          <a:prstGeom prst="line">
            <a:avLst/>
          </a:prstGeom>
          <a:ln w="1908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11" name="Shape 105"/>
          <p:cNvSpPr/>
          <p:nvPr/>
        </p:nvSpPr>
        <p:spPr>
          <a:xfrm>
            <a:off x="4105440" y="3145680"/>
            <a:ext cx="360" cy="179640"/>
          </a:xfrm>
          <a:prstGeom prst="line">
            <a:avLst/>
          </a:prstGeom>
          <a:ln w="1908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12" name="Shape 106"/>
          <p:cNvSpPr/>
          <p:nvPr/>
        </p:nvSpPr>
        <p:spPr>
          <a:xfrm>
            <a:off x="6839640" y="3145680"/>
            <a:ext cx="360" cy="179640"/>
          </a:xfrm>
          <a:prstGeom prst="line">
            <a:avLst/>
          </a:prstGeom>
          <a:ln w="1908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13" name="Shape 107"/>
          <p:cNvSpPr/>
          <p:nvPr/>
        </p:nvSpPr>
        <p:spPr>
          <a:xfrm>
            <a:off x="1371600" y="3325320"/>
            <a:ext cx="5468040" cy="360"/>
          </a:xfrm>
          <a:prstGeom prst="line">
            <a:avLst/>
          </a:prstGeom>
          <a:ln w="1908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14" name="Text 108"/>
          <p:cNvSpPr/>
          <p:nvPr/>
        </p:nvSpPr>
        <p:spPr>
          <a:xfrm>
            <a:off x="2455200" y="3163320"/>
            <a:ext cx="3656160" cy="13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i="1" strike="noStrike" spc="-1">
                <a:solidFill>
                  <a:srgbClr val="4B5568"/>
                </a:solidFill>
                <a:latin typeface="Calibri"/>
                <a:ea typeface="Calibri"/>
              </a:rPr>
              <a:t>ZMQ PUB :5557  ·  {mse, rms, severity, alert}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Shape 109"/>
          <p:cNvSpPr/>
          <p:nvPr/>
        </p:nvSpPr>
        <p:spPr>
          <a:xfrm>
            <a:off x="4105440" y="3343320"/>
            <a:ext cx="360" cy="143640"/>
          </a:xfrm>
          <a:prstGeom prst="line">
            <a:avLst/>
          </a:prstGeom>
          <a:ln w="2556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16" name="Shape 110"/>
          <p:cNvSpPr/>
          <p:nvPr/>
        </p:nvSpPr>
        <p:spPr>
          <a:xfrm>
            <a:off x="82440" y="3282840"/>
            <a:ext cx="4662000" cy="1324440"/>
          </a:xfrm>
          <a:prstGeom prst="rect">
            <a:avLst/>
          </a:prstGeom>
          <a:solidFill>
            <a:srgbClr val="081208"/>
          </a:solidFill>
          <a:ln w="25560">
            <a:solidFill>
              <a:srgbClr val="16A34A"/>
            </a:solidFill>
            <a:round/>
          </a:ln>
          <a:effectLst>
            <a:outerShdw blurRad="177840" dist="49893" dir="8100000" rotWithShape="0">
              <a:srgbClr val="16A34A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17" name="Shape 111"/>
          <p:cNvSpPr/>
          <p:nvPr/>
        </p:nvSpPr>
        <p:spPr>
          <a:xfrm>
            <a:off x="128160" y="3334320"/>
            <a:ext cx="4570560" cy="1211040"/>
          </a:xfrm>
          <a:prstGeom prst="rect">
            <a:avLst/>
          </a:prstGeom>
          <a:solidFill>
            <a:srgbClr val="0A1409"/>
          </a:solidFill>
          <a:ln w="6480">
            <a:solidFill>
              <a:srgbClr val="14532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18" name="Text 112"/>
          <p:cNvSpPr/>
          <p:nvPr/>
        </p:nvSpPr>
        <p:spPr>
          <a:xfrm>
            <a:off x="237600" y="3567960"/>
            <a:ext cx="4387680" cy="13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69">
                <a:solidFill>
                  <a:srgbClr val="166534"/>
                </a:solidFill>
                <a:latin typeface="Calibri"/>
                <a:ea typeface="Calibri"/>
              </a:rPr>
              <a:t>AMD HARDWARE  ·  TIER 3  ·  PER FACTORY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Text 113"/>
          <p:cNvSpPr/>
          <p:nvPr/>
        </p:nvSpPr>
        <p:spPr>
          <a:xfrm>
            <a:off x="237600" y="3693960"/>
            <a:ext cx="4387680" cy="21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800" b="1" strike="noStrike" spc="-1">
                <a:solidFill>
                  <a:srgbClr val="86EFAC"/>
                </a:solidFill>
                <a:latin typeface="Calibri"/>
                <a:ea typeface="Calibri"/>
              </a:rPr>
              <a:t>Mini Server / Edge PC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Text 114"/>
          <p:cNvSpPr/>
          <p:nvPr/>
        </p:nvSpPr>
        <p:spPr>
          <a:xfrm>
            <a:off x="237600" y="3945240"/>
            <a:ext cx="4387680" cy="14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650" b="0" strike="noStrike" spc="-1">
                <a:solidFill>
                  <a:srgbClr val="4ADE80"/>
                </a:solidFill>
                <a:latin typeface="Calibri"/>
                <a:ea typeface="Calibri"/>
              </a:rPr>
              <a:t>ROCm — enterprise upgrade path only ·  Plant-wide health dashboard  ·  Historical archive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Text 115"/>
          <p:cNvSpPr/>
          <p:nvPr/>
        </p:nvSpPr>
        <p:spPr>
          <a:xfrm>
            <a:off x="237600" y="4098240"/>
            <a:ext cx="4387680" cy="14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650" b="0" strike="noStrike" spc="-1">
                <a:solidFill>
                  <a:srgbClr val="22C55E"/>
                </a:solidFill>
                <a:latin typeface="Calibri"/>
                <a:ea typeface="Calibri"/>
              </a:rPr>
              <a:t>Ryzen 5 · 16GB RAM  ·  2.5 GbE backbone  ·  UPS  ·  ₹72,999 per factory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Shape 116"/>
          <p:cNvSpPr/>
          <p:nvPr/>
        </p:nvSpPr>
        <p:spPr>
          <a:xfrm>
            <a:off x="237600" y="4268880"/>
            <a:ext cx="1278720" cy="133560"/>
          </a:xfrm>
          <a:prstGeom prst="rect">
            <a:avLst/>
          </a:prstGeom>
          <a:solidFill>
            <a:srgbClr val="14532D"/>
          </a:solidFill>
          <a:ln w="12600">
            <a:solidFill>
              <a:srgbClr val="14532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23" name="Text 117"/>
          <p:cNvSpPr/>
          <p:nvPr/>
        </p:nvSpPr>
        <p:spPr>
          <a:xfrm>
            <a:off x="237600" y="4268880"/>
            <a:ext cx="1278720" cy="13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1" strike="noStrike" spc="-1">
                <a:solidFill>
                  <a:srgbClr val="86EFAC"/>
                </a:solidFill>
                <a:latin typeface="Calibri"/>
                <a:ea typeface="Calibri"/>
              </a:rPr>
              <a:t>₹ 72,999/ FACTORY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Shape 118"/>
          <p:cNvSpPr/>
          <p:nvPr/>
        </p:nvSpPr>
        <p:spPr>
          <a:xfrm>
            <a:off x="4718160" y="4111560"/>
            <a:ext cx="219600" cy="360"/>
          </a:xfrm>
          <a:prstGeom prst="line">
            <a:avLst/>
          </a:prstGeom>
          <a:ln w="1908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25" name="Shape 120"/>
          <p:cNvSpPr/>
          <p:nvPr/>
        </p:nvSpPr>
        <p:spPr>
          <a:xfrm>
            <a:off x="4910400" y="3282840"/>
            <a:ext cx="2906280" cy="1324440"/>
          </a:xfrm>
          <a:prstGeom prst="rect">
            <a:avLst/>
          </a:prstGeom>
          <a:solidFill>
            <a:srgbClr val="060F16"/>
          </a:solidFill>
          <a:ln w="25560">
            <a:solidFill>
              <a:srgbClr val="0891B2"/>
            </a:solidFill>
            <a:round/>
          </a:ln>
          <a:effectLst>
            <a:outerShdw blurRad="177840" dist="49893" dir="8100000" rotWithShape="0">
              <a:srgbClr val="0891B2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26" name="Shape 121"/>
          <p:cNvSpPr/>
          <p:nvPr/>
        </p:nvSpPr>
        <p:spPr>
          <a:xfrm>
            <a:off x="4956120" y="3325320"/>
            <a:ext cx="2814840" cy="1211040"/>
          </a:xfrm>
          <a:prstGeom prst="rect">
            <a:avLst/>
          </a:prstGeom>
          <a:solidFill>
            <a:srgbClr val="070D14"/>
          </a:solidFill>
          <a:ln w="6480">
            <a:solidFill>
              <a:srgbClr val="164E6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27" name="Text 122"/>
          <p:cNvSpPr/>
          <p:nvPr/>
        </p:nvSpPr>
        <p:spPr>
          <a:xfrm>
            <a:off x="5047560" y="3567960"/>
            <a:ext cx="2677680" cy="13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69">
                <a:solidFill>
                  <a:srgbClr val="164E63"/>
                </a:solidFill>
                <a:latin typeface="Calibri"/>
                <a:ea typeface="Calibri"/>
              </a:rPr>
              <a:t>NODE.JS  +  REACT  ·  NODE C  ·  BROWSER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Text 123"/>
          <p:cNvSpPr/>
          <p:nvPr/>
        </p:nvSpPr>
        <p:spPr>
          <a:xfrm>
            <a:off x="5047560" y="3693960"/>
            <a:ext cx="2677680" cy="21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7DD3FC"/>
                </a:solidFill>
                <a:latin typeface="Calibri"/>
                <a:ea typeface="Calibri"/>
              </a:rPr>
              <a:t>Live Dashboard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Text 124"/>
          <p:cNvSpPr/>
          <p:nvPr/>
        </p:nvSpPr>
        <p:spPr>
          <a:xfrm>
            <a:off x="5047560" y="3945240"/>
            <a:ext cx="2677680" cy="14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-1">
                <a:solidFill>
                  <a:srgbClr val="38BDF8"/>
                </a:solidFill>
                <a:latin typeface="Calibri"/>
                <a:ea typeface="Calibri"/>
              </a:rPr>
              <a:t>RMS spectrogram  ·  Anomaly trend  ·  Harmonic analysis  ·  Health score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Text 125"/>
          <p:cNvSpPr/>
          <p:nvPr/>
        </p:nvSpPr>
        <p:spPr>
          <a:xfrm>
            <a:off x="5047560" y="4098240"/>
            <a:ext cx="2677680" cy="14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-1">
                <a:solidFill>
                  <a:srgbClr val="38BDF8"/>
                </a:solidFill>
                <a:latin typeface="Calibri"/>
                <a:ea typeface="Calibri"/>
              </a:rPr>
              <a:t>Ollama LLM multilingual alerts  ·  Multi-node health map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Shape 126"/>
          <p:cNvSpPr/>
          <p:nvPr/>
        </p:nvSpPr>
        <p:spPr>
          <a:xfrm>
            <a:off x="5047560" y="4277880"/>
            <a:ext cx="565560" cy="124560"/>
          </a:xfrm>
          <a:prstGeom prst="rect">
            <a:avLst/>
          </a:prstGeom>
          <a:solidFill>
            <a:srgbClr val="164E63"/>
          </a:solidFill>
          <a:ln w="12600">
            <a:solidFill>
              <a:srgbClr val="164E6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2" name="Text 127"/>
          <p:cNvSpPr/>
          <p:nvPr/>
        </p:nvSpPr>
        <p:spPr>
          <a:xfrm>
            <a:off x="5047560" y="4277880"/>
            <a:ext cx="565560" cy="12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strike="noStrike" spc="-1">
                <a:solidFill>
                  <a:srgbClr val="7DD3FC"/>
                </a:solidFill>
                <a:latin typeface="Calibri"/>
                <a:ea typeface="Calibri"/>
              </a:rPr>
              <a:t>React</a:t>
            </a:r>
            <a:endParaRPr lang="en-US" sz="5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Shape 128"/>
          <p:cNvSpPr/>
          <p:nvPr/>
        </p:nvSpPr>
        <p:spPr>
          <a:xfrm>
            <a:off x="5687640" y="4277880"/>
            <a:ext cx="565560" cy="124560"/>
          </a:xfrm>
          <a:prstGeom prst="rect">
            <a:avLst/>
          </a:prstGeom>
          <a:solidFill>
            <a:srgbClr val="164E63"/>
          </a:solidFill>
          <a:ln w="12600">
            <a:solidFill>
              <a:srgbClr val="164E6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4" name="Text 129"/>
          <p:cNvSpPr/>
          <p:nvPr/>
        </p:nvSpPr>
        <p:spPr>
          <a:xfrm>
            <a:off x="5687640" y="4277880"/>
            <a:ext cx="565560" cy="12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strike="noStrike" spc="-1">
                <a:solidFill>
                  <a:srgbClr val="7DD3FC"/>
                </a:solidFill>
                <a:latin typeface="Calibri"/>
                <a:ea typeface="Calibri"/>
              </a:rPr>
              <a:t>TypeScript</a:t>
            </a:r>
            <a:endParaRPr lang="en-US" sz="5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Shape 130"/>
          <p:cNvSpPr/>
          <p:nvPr/>
        </p:nvSpPr>
        <p:spPr>
          <a:xfrm>
            <a:off x="6327720" y="4277880"/>
            <a:ext cx="565560" cy="124560"/>
          </a:xfrm>
          <a:prstGeom prst="rect">
            <a:avLst/>
          </a:prstGeom>
          <a:solidFill>
            <a:srgbClr val="164E63"/>
          </a:solidFill>
          <a:ln w="12600">
            <a:solidFill>
              <a:srgbClr val="164E6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6" name="Text 131"/>
          <p:cNvSpPr/>
          <p:nvPr/>
        </p:nvSpPr>
        <p:spPr>
          <a:xfrm>
            <a:off x="6327720" y="4277880"/>
            <a:ext cx="565560" cy="12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strike="noStrike" spc="-1">
                <a:solidFill>
                  <a:srgbClr val="7DD3FC"/>
                </a:solidFill>
                <a:latin typeface="Calibri"/>
                <a:ea typeface="Calibri"/>
              </a:rPr>
              <a:t>Recharts</a:t>
            </a:r>
            <a:endParaRPr lang="en-US" sz="5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Shape 132"/>
          <p:cNvSpPr/>
          <p:nvPr/>
        </p:nvSpPr>
        <p:spPr>
          <a:xfrm>
            <a:off x="6967800" y="4277880"/>
            <a:ext cx="565560" cy="124560"/>
          </a:xfrm>
          <a:prstGeom prst="rect">
            <a:avLst/>
          </a:prstGeom>
          <a:solidFill>
            <a:srgbClr val="164E63"/>
          </a:solidFill>
          <a:ln w="12600">
            <a:solidFill>
              <a:srgbClr val="164E6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8" name="Text 133"/>
          <p:cNvSpPr/>
          <p:nvPr/>
        </p:nvSpPr>
        <p:spPr>
          <a:xfrm>
            <a:off x="6967800" y="4277880"/>
            <a:ext cx="565560" cy="12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" b="1" strike="noStrike" spc="-1">
                <a:solidFill>
                  <a:srgbClr val="7DD3FC"/>
                </a:solidFill>
                <a:latin typeface="Calibri"/>
                <a:ea typeface="Calibri"/>
              </a:rPr>
              <a:t>Docker</a:t>
            </a:r>
            <a:endParaRPr lang="en-US" sz="5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Shape 134"/>
          <p:cNvSpPr/>
          <p:nvPr/>
        </p:nvSpPr>
        <p:spPr>
          <a:xfrm>
            <a:off x="8339400" y="882000"/>
            <a:ext cx="711720" cy="3834360"/>
          </a:xfrm>
          <a:prstGeom prst="rect">
            <a:avLst/>
          </a:prstGeom>
          <a:solidFill>
            <a:srgbClr val="0F1218"/>
          </a:solidFill>
          <a:ln w="100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40" name="Text 135"/>
          <p:cNvSpPr/>
          <p:nvPr/>
        </p:nvSpPr>
        <p:spPr>
          <a:xfrm>
            <a:off x="8375760" y="1017000"/>
            <a:ext cx="67536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191">
                <a:solidFill>
                  <a:srgbClr val="374151"/>
                </a:solidFill>
                <a:latin typeface="Calibri"/>
                <a:ea typeface="Calibri"/>
              </a:rPr>
              <a:t>SCALE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Shape 135"/>
          <p:cNvSpPr/>
          <p:nvPr/>
        </p:nvSpPr>
        <p:spPr>
          <a:xfrm>
            <a:off x="8686800" y="1630080"/>
            <a:ext cx="360" cy="2937600"/>
          </a:xfrm>
          <a:prstGeom prst="line">
            <a:avLst/>
          </a:prstGeom>
          <a:ln w="12600">
            <a:solidFill>
              <a:srgbClr val="374151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42" name="Text 137"/>
          <p:cNvSpPr/>
          <p:nvPr/>
        </p:nvSpPr>
        <p:spPr>
          <a:xfrm>
            <a:off x="8526600" y="1367280"/>
            <a:ext cx="345960" cy="17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74151"/>
                </a:solidFill>
                <a:latin typeface="Calibri"/>
                <a:ea typeface="Calibri"/>
              </a:rPr>
              <a:t>↕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Text 138"/>
          <p:cNvSpPr/>
          <p:nvPr/>
        </p:nvSpPr>
        <p:spPr>
          <a:xfrm>
            <a:off x="8613000" y="2139840"/>
            <a:ext cx="50256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-1">
                <a:solidFill>
                  <a:schemeClr val="lt1"/>
                </a:solidFill>
                <a:latin typeface="Calibri"/>
                <a:ea typeface="Calibri"/>
              </a:rPr>
              <a:t>Add zones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-1">
                <a:solidFill>
                  <a:schemeClr val="lt1"/>
                </a:solidFill>
                <a:latin typeface="Calibri"/>
                <a:ea typeface="Calibri"/>
              </a:rPr>
              <a:t>↕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-1">
                <a:solidFill>
                  <a:schemeClr val="lt1"/>
                </a:solidFill>
                <a:latin typeface="Calibri"/>
                <a:ea typeface="Calibri"/>
              </a:rPr>
              <a:t>Plug into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-1">
                <a:solidFill>
                  <a:schemeClr val="lt1"/>
                </a:solidFill>
                <a:latin typeface="Calibri"/>
                <a:ea typeface="Calibri"/>
              </a:rPr>
              <a:t>same master node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Shape 136"/>
          <p:cNvSpPr/>
          <p:nvPr/>
        </p:nvSpPr>
        <p:spPr>
          <a:xfrm>
            <a:off x="0" y="4970520"/>
            <a:ext cx="9142560" cy="171360"/>
          </a:xfrm>
          <a:prstGeom prst="rect">
            <a:avLst/>
          </a:prstGeom>
          <a:solidFill>
            <a:srgbClr val="0A0A0A"/>
          </a:solidFill>
          <a:ln w="12600">
            <a:solidFill>
              <a:srgbClr val="0A0A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45" name="Shape 137"/>
          <p:cNvSpPr/>
          <p:nvPr/>
        </p:nvSpPr>
        <p:spPr>
          <a:xfrm>
            <a:off x="0" y="4654080"/>
            <a:ext cx="9144000" cy="360"/>
          </a:xfrm>
          <a:prstGeom prst="line">
            <a:avLst/>
          </a:prstGeom>
          <a:ln w="1908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46" name="Text 141"/>
          <p:cNvSpPr/>
          <p:nvPr/>
        </p:nvSpPr>
        <p:spPr>
          <a:xfrm>
            <a:off x="0" y="4762800"/>
            <a:ext cx="152244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D4E33"/>
                </a:solidFill>
                <a:latin typeface="Calibri"/>
                <a:ea typeface="Calibri"/>
              </a:rPr>
              <a:t>&lt;100ms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Text 142"/>
          <p:cNvSpPr/>
          <p:nvPr/>
        </p:nvSpPr>
        <p:spPr>
          <a:xfrm>
            <a:off x="0" y="4970520"/>
            <a:ext cx="1522440" cy="12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69">
                <a:solidFill>
                  <a:srgbClr val="6B7280"/>
                </a:solidFill>
                <a:latin typeface="Calibri"/>
                <a:ea typeface="Calibri"/>
              </a:rPr>
              <a:t>SENSOR → ALERT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Shape 138"/>
          <p:cNvSpPr/>
          <p:nvPr/>
        </p:nvSpPr>
        <p:spPr>
          <a:xfrm>
            <a:off x="1523880" y="4770360"/>
            <a:ext cx="360" cy="322920"/>
          </a:xfrm>
          <a:prstGeom prst="line">
            <a:avLst/>
          </a:prstGeom>
          <a:ln w="6480">
            <a:solidFill>
              <a:srgbClr val="2D37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49" name="Text 144"/>
          <p:cNvSpPr/>
          <p:nvPr/>
        </p:nvSpPr>
        <p:spPr>
          <a:xfrm>
            <a:off x="1523880" y="4762800"/>
            <a:ext cx="152244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D4E33"/>
                </a:solidFill>
                <a:latin typeface="Calibri"/>
                <a:ea typeface="Calibri"/>
              </a:rPr>
              <a:t>4.7ms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Text 145"/>
          <p:cNvSpPr/>
          <p:nvPr/>
        </p:nvSpPr>
        <p:spPr>
          <a:xfrm>
            <a:off x="1523880" y="4970520"/>
            <a:ext cx="1522440" cy="12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69">
                <a:solidFill>
                  <a:srgbClr val="6B7280"/>
                </a:solidFill>
                <a:latin typeface="Calibri"/>
                <a:ea typeface="Calibri"/>
              </a:rPr>
              <a:t>NPU INFERENCE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Shape 139"/>
          <p:cNvSpPr/>
          <p:nvPr/>
        </p:nvSpPr>
        <p:spPr>
          <a:xfrm>
            <a:off x="3047760" y="4770360"/>
            <a:ext cx="360" cy="322920"/>
          </a:xfrm>
          <a:prstGeom prst="line">
            <a:avLst/>
          </a:prstGeom>
          <a:ln w="6480">
            <a:solidFill>
              <a:srgbClr val="2D37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52" name="Text 147"/>
          <p:cNvSpPr/>
          <p:nvPr/>
        </p:nvSpPr>
        <p:spPr>
          <a:xfrm>
            <a:off x="3048120" y="4762800"/>
            <a:ext cx="152244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200" b="1" strike="noStrike" spc="-1">
                <a:solidFill>
                  <a:srgbClr val="ED4E33"/>
                </a:solidFill>
                <a:latin typeface="Calibri"/>
                <a:ea typeface="Calibri"/>
              </a:rPr>
              <a:t>50×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Text 148"/>
          <p:cNvSpPr/>
          <p:nvPr/>
        </p:nvSpPr>
        <p:spPr>
          <a:xfrm>
            <a:off x="3048120" y="4970520"/>
            <a:ext cx="1522440" cy="12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69">
                <a:solidFill>
                  <a:srgbClr val="6B7280"/>
                </a:solidFill>
                <a:latin typeface="Calibri"/>
                <a:ea typeface="Calibri"/>
              </a:rPr>
              <a:t>NODES PER ZONE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Shape 140"/>
          <p:cNvSpPr/>
          <p:nvPr/>
        </p:nvSpPr>
        <p:spPr>
          <a:xfrm>
            <a:off x="4572000" y="4770360"/>
            <a:ext cx="360" cy="322920"/>
          </a:xfrm>
          <a:prstGeom prst="line">
            <a:avLst/>
          </a:prstGeom>
          <a:ln w="6480">
            <a:solidFill>
              <a:srgbClr val="2D37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55" name="Text 150"/>
          <p:cNvSpPr/>
          <p:nvPr/>
        </p:nvSpPr>
        <p:spPr>
          <a:xfrm>
            <a:off x="4572000" y="4762800"/>
            <a:ext cx="152244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D4E33"/>
                </a:solidFill>
                <a:latin typeface="Calibri"/>
                <a:ea typeface="Calibri"/>
              </a:rPr>
              <a:t>₹3,499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Text 151"/>
          <p:cNvSpPr/>
          <p:nvPr/>
        </p:nvSpPr>
        <p:spPr>
          <a:xfrm>
            <a:off x="4572000" y="4970520"/>
            <a:ext cx="1522440" cy="12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69">
                <a:solidFill>
                  <a:srgbClr val="6B7280"/>
                </a:solidFill>
                <a:latin typeface="Calibri"/>
                <a:ea typeface="Calibri"/>
              </a:rPr>
              <a:t>PER SENSOR NOPDE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Shape 141"/>
          <p:cNvSpPr/>
          <p:nvPr/>
        </p:nvSpPr>
        <p:spPr>
          <a:xfrm>
            <a:off x="6095880" y="4770360"/>
            <a:ext cx="360" cy="322920"/>
          </a:xfrm>
          <a:prstGeom prst="line">
            <a:avLst/>
          </a:prstGeom>
          <a:ln w="6480">
            <a:solidFill>
              <a:srgbClr val="2D37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58" name="Text 153"/>
          <p:cNvSpPr/>
          <p:nvPr/>
        </p:nvSpPr>
        <p:spPr>
          <a:xfrm>
            <a:off x="6095880" y="4762800"/>
            <a:ext cx="152244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D4E33"/>
                </a:solidFill>
                <a:latin typeface="Calibri"/>
                <a:ea typeface="Calibri"/>
              </a:rPr>
              <a:t>ZERO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 154"/>
          <p:cNvSpPr/>
          <p:nvPr/>
        </p:nvSpPr>
        <p:spPr>
          <a:xfrm>
            <a:off x="6095880" y="4970520"/>
            <a:ext cx="1522440" cy="12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69">
                <a:solidFill>
                  <a:srgbClr val="6B7280"/>
                </a:solidFill>
                <a:latin typeface="Calibri"/>
                <a:ea typeface="Calibri"/>
              </a:rPr>
              <a:t>CLOUD DEPENDENCY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Shape 142"/>
          <p:cNvSpPr/>
          <p:nvPr/>
        </p:nvSpPr>
        <p:spPr>
          <a:xfrm>
            <a:off x="7619760" y="4770360"/>
            <a:ext cx="360" cy="322920"/>
          </a:xfrm>
          <a:prstGeom prst="line">
            <a:avLst/>
          </a:prstGeom>
          <a:ln w="6480">
            <a:solidFill>
              <a:srgbClr val="2D374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61" name="Text 156"/>
          <p:cNvSpPr/>
          <p:nvPr/>
        </p:nvSpPr>
        <p:spPr>
          <a:xfrm>
            <a:off x="7620120" y="4762800"/>
            <a:ext cx="152244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ED4E33"/>
                </a:solidFill>
                <a:latin typeface="Calibri"/>
                <a:ea typeface="Calibri"/>
              </a:rPr>
              <a:t>50 TOPS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" name="Text 157"/>
          <p:cNvSpPr/>
          <p:nvPr/>
        </p:nvSpPr>
        <p:spPr>
          <a:xfrm>
            <a:off x="7620120" y="4970520"/>
            <a:ext cx="1522440" cy="12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69">
                <a:solidFill>
                  <a:srgbClr val="6B7280"/>
                </a:solidFill>
                <a:latin typeface="Calibri"/>
                <a:ea typeface="Calibri"/>
              </a:rPr>
              <a:t>AMD XDNA NPU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63" name="Google Shape;130;p22"/>
          <p:cNvPicPr/>
          <p:nvPr/>
        </p:nvPicPr>
        <p:blipFill>
          <a:blip r:embed="rId3"/>
          <a:srcRect b="89083"/>
          <a:stretch/>
        </p:blipFill>
        <p:spPr>
          <a:xfrm>
            <a:off x="0" y="0"/>
            <a:ext cx="9142200" cy="559800"/>
          </a:xfrm>
          <a:prstGeom prst="rect">
            <a:avLst/>
          </a:prstGeom>
          <a:ln w="0">
            <a:noFill/>
          </a:ln>
        </p:spPr>
      </p:pic>
      <p:sp>
        <p:nvSpPr>
          <p:cNvPr id="564" name="Text 6"/>
          <p:cNvSpPr/>
          <p:nvPr/>
        </p:nvSpPr>
        <p:spPr>
          <a:xfrm>
            <a:off x="4538160" y="3973320"/>
            <a:ext cx="547200" cy="12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i="1" strike="noStrike" spc="-1">
                <a:solidFill>
                  <a:srgbClr val="FFFFFF"/>
                </a:solidFill>
                <a:latin typeface="Calibri"/>
                <a:ea typeface="Calibri"/>
              </a:rPr>
              <a:t>Socket.IO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TextBox 564"/>
          <p:cNvSpPr txBox="1"/>
          <p:nvPr/>
        </p:nvSpPr>
        <p:spPr>
          <a:xfrm>
            <a:off x="98280" y="472320"/>
            <a:ext cx="5008680" cy="27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100" b="1" strike="noStrike" spc="-1" dirty="0">
                <a:solidFill>
                  <a:srgbClr val="FFFFFF"/>
                </a:solidFill>
                <a:latin typeface="Calibri"/>
                <a:ea typeface="Calibri"/>
              </a:rPr>
              <a:t>Architecture diagram</a:t>
            </a:r>
            <a:endParaRPr lang="en-US" sz="11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Text 16"/>
          <p:cNvSpPr/>
          <p:nvPr/>
        </p:nvSpPr>
        <p:spPr>
          <a:xfrm>
            <a:off x="365760" y="64080"/>
            <a:ext cx="73008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3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67" name="Text 20"/>
          <p:cNvSpPr/>
          <p:nvPr/>
        </p:nvSpPr>
        <p:spPr>
          <a:xfrm>
            <a:off x="777240" y="64080"/>
            <a:ext cx="18144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⊿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Text 39"/>
          <p:cNvSpPr/>
          <p:nvPr/>
        </p:nvSpPr>
        <p:spPr>
          <a:xfrm>
            <a:off x="7132320" y="146160"/>
            <a:ext cx="191880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Calibri"/>
              </a:rPr>
              <a:t>Powered by H2S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Text 43"/>
          <p:cNvSpPr/>
          <p:nvPr/>
        </p:nvSpPr>
        <p:spPr>
          <a:xfrm>
            <a:off x="292680" y="548640"/>
            <a:ext cx="8557200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1620" b="1" strike="noStrike" spc="-1">
                <a:solidFill>
                  <a:schemeClr val="dk1"/>
                </a:solidFill>
                <a:latin typeface="Poppins"/>
                <a:ea typeface="Poppins"/>
              </a:rPr>
              <a:t>Technologies to be used in the solution</a:t>
            </a:r>
            <a:endParaRPr lang="en-US" sz="16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22"/>
          <p:cNvSpPr/>
          <p:nvPr/>
        </p:nvSpPr>
        <p:spPr>
          <a:xfrm>
            <a:off x="270360" y="1004040"/>
            <a:ext cx="2787480" cy="3061800"/>
          </a:xfrm>
          <a:prstGeom prst="rect">
            <a:avLst/>
          </a:prstGeom>
          <a:solidFill>
            <a:srgbClr val="EEF3FF"/>
          </a:solidFill>
          <a:ln w="6480">
            <a:solidFill>
              <a:srgbClr val="E5E7EB"/>
            </a:solidFill>
            <a:round/>
          </a:ln>
          <a:effectLst>
            <a:outerShdw blurRad="101520" dist="25455" dir="81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71" name="Shape 77"/>
          <p:cNvSpPr/>
          <p:nvPr/>
        </p:nvSpPr>
        <p:spPr>
          <a:xfrm>
            <a:off x="255960" y="895680"/>
            <a:ext cx="2769480" cy="69840"/>
          </a:xfrm>
          <a:prstGeom prst="rect">
            <a:avLst/>
          </a:prstGeom>
          <a:solidFill>
            <a:srgbClr val="2563EB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72" name="Shape 144"/>
          <p:cNvSpPr/>
          <p:nvPr/>
        </p:nvSpPr>
        <p:spPr>
          <a:xfrm>
            <a:off x="876240" y="996120"/>
            <a:ext cx="1461600" cy="181440"/>
          </a:xfrm>
          <a:prstGeom prst="rect">
            <a:avLst/>
          </a:prstGeom>
          <a:solidFill>
            <a:srgbClr val="2563EB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73" name="Text 50"/>
          <p:cNvSpPr/>
          <p:nvPr/>
        </p:nvSpPr>
        <p:spPr>
          <a:xfrm>
            <a:off x="822600" y="978120"/>
            <a:ext cx="1567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41">
                <a:solidFill>
                  <a:srgbClr val="FFFFFF"/>
                </a:solidFill>
                <a:latin typeface="Courier New"/>
                <a:ea typeface="Courier New"/>
              </a:rPr>
              <a:t>TIER 1 · SENSOR SLAVE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Text 54"/>
          <p:cNvSpPr/>
          <p:nvPr/>
        </p:nvSpPr>
        <p:spPr>
          <a:xfrm>
            <a:off x="750420" y="1220040"/>
            <a:ext cx="1959480" cy="2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109" dirty="0">
                <a:solidFill>
                  <a:srgbClr val="2563EB"/>
                </a:solidFill>
                <a:latin typeface="Courier New"/>
                <a:ea typeface="Courier New"/>
              </a:rPr>
              <a:t>SIGNAL PROCESSING STACK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145"/>
          <p:cNvSpPr/>
          <p:nvPr/>
        </p:nvSpPr>
        <p:spPr>
          <a:xfrm>
            <a:off x="3154680" y="914400"/>
            <a:ext cx="2897280" cy="3134880"/>
          </a:xfrm>
          <a:prstGeom prst="rect">
            <a:avLst/>
          </a:prstGeom>
          <a:noFill/>
          <a:ln w="19080">
            <a:noFill/>
          </a:ln>
          <a:effectLst>
            <a:outerShdw blurRad="177840" dist="37674" dir="8100000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76" name="Shape 146"/>
          <p:cNvSpPr/>
          <p:nvPr/>
        </p:nvSpPr>
        <p:spPr>
          <a:xfrm>
            <a:off x="3154680" y="895680"/>
            <a:ext cx="2897280" cy="6300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77" name="Shape 147"/>
          <p:cNvSpPr/>
          <p:nvPr/>
        </p:nvSpPr>
        <p:spPr>
          <a:xfrm>
            <a:off x="3781440" y="993600"/>
            <a:ext cx="1810800" cy="18144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78" name="Text 183"/>
          <p:cNvSpPr/>
          <p:nvPr/>
        </p:nvSpPr>
        <p:spPr>
          <a:xfrm>
            <a:off x="3896640" y="982440"/>
            <a:ext cx="162036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41">
                <a:solidFill>
                  <a:srgbClr val="FFFFFF"/>
                </a:solidFill>
                <a:latin typeface="Courier New"/>
                <a:ea typeface="Courier New"/>
              </a:rPr>
              <a:t>TIER 2 · AMD NPU INFERENCE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Text 184"/>
          <p:cNvSpPr/>
          <p:nvPr/>
        </p:nvSpPr>
        <p:spPr>
          <a:xfrm>
            <a:off x="3896640" y="1232616"/>
            <a:ext cx="1620360" cy="1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109" dirty="0">
                <a:solidFill>
                  <a:srgbClr val="ED4E33"/>
                </a:solidFill>
                <a:latin typeface="Courier New"/>
                <a:ea typeface="Courier New"/>
              </a:rPr>
              <a:t>AI &amp; EDGE INFERENCE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148"/>
          <p:cNvSpPr/>
          <p:nvPr/>
        </p:nvSpPr>
        <p:spPr>
          <a:xfrm>
            <a:off x="6224040" y="987480"/>
            <a:ext cx="2741760" cy="3061800"/>
          </a:xfrm>
          <a:prstGeom prst="rect">
            <a:avLst/>
          </a:prstGeom>
          <a:solidFill>
            <a:srgbClr val="F0FDF4"/>
          </a:solidFill>
          <a:ln w="6480">
            <a:solidFill>
              <a:srgbClr val="E5E7EB"/>
            </a:solidFill>
            <a:round/>
          </a:ln>
          <a:effectLst>
            <a:outerShdw blurRad="101520" dist="25455" dir="81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81" name="Shape 149"/>
          <p:cNvSpPr/>
          <p:nvPr/>
        </p:nvSpPr>
        <p:spPr>
          <a:xfrm>
            <a:off x="6216840" y="895680"/>
            <a:ext cx="2741760" cy="80280"/>
          </a:xfrm>
          <a:prstGeom prst="rect">
            <a:avLst/>
          </a:prstGeom>
          <a:solidFill>
            <a:srgbClr val="16A34A"/>
          </a:solidFill>
          <a:ln w="126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82" name="Shape 150"/>
          <p:cNvSpPr/>
          <p:nvPr/>
        </p:nvSpPr>
        <p:spPr>
          <a:xfrm>
            <a:off x="6844320" y="1018080"/>
            <a:ext cx="1461600" cy="181440"/>
          </a:xfrm>
          <a:prstGeom prst="rect">
            <a:avLst/>
          </a:prstGeom>
          <a:solidFill>
            <a:srgbClr val="16A34A"/>
          </a:solidFill>
          <a:ln w="126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83" name="Text 185"/>
          <p:cNvSpPr/>
          <p:nvPr/>
        </p:nvSpPr>
        <p:spPr>
          <a:xfrm>
            <a:off x="6844320" y="1004040"/>
            <a:ext cx="146160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41">
                <a:solidFill>
                  <a:srgbClr val="FFFFFF"/>
                </a:solidFill>
                <a:latin typeface="Courier New"/>
                <a:ea typeface="Courier New"/>
              </a:rPr>
              <a:t>TIER 3 · MASTER CONTROL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Text 186"/>
          <p:cNvSpPr/>
          <p:nvPr/>
        </p:nvSpPr>
        <p:spPr>
          <a:xfrm>
            <a:off x="6629515" y="1238040"/>
            <a:ext cx="199368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109" dirty="0">
                <a:solidFill>
                  <a:srgbClr val="16A34A"/>
                </a:solidFill>
                <a:latin typeface="Courier New"/>
                <a:ea typeface="Courier New"/>
              </a:rPr>
              <a:t>BACKEND &amp; VISUALIZATION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Text 187"/>
          <p:cNvSpPr/>
          <p:nvPr/>
        </p:nvSpPr>
        <p:spPr>
          <a:xfrm>
            <a:off x="384120" y="1554480"/>
            <a:ext cx="25452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-1">
                <a:solidFill>
                  <a:srgbClr val="FFFFFF"/>
                </a:solidFill>
                <a:latin typeface="Courier New"/>
                <a:ea typeface="Courier New"/>
              </a:rPr>
              <a:t>C++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Text 188"/>
          <p:cNvSpPr/>
          <p:nvPr/>
        </p:nvSpPr>
        <p:spPr>
          <a:xfrm>
            <a:off x="694800" y="1554480"/>
            <a:ext cx="2220480" cy="14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A1A1A"/>
                </a:solidFill>
                <a:latin typeface="Calibri"/>
                <a:ea typeface="Calibri"/>
              </a:rPr>
              <a:t>C++17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Text 189"/>
          <p:cNvSpPr/>
          <p:nvPr/>
        </p:nvSpPr>
        <p:spPr>
          <a:xfrm>
            <a:off x="694800" y="1700640"/>
            <a:ext cx="2220480" cy="12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4B5563"/>
                </a:solidFill>
                <a:latin typeface="Courier New"/>
                <a:ea typeface="Courier New"/>
              </a:rPr>
              <a:t>DSP core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152"/>
          <p:cNvSpPr/>
          <p:nvPr/>
        </p:nvSpPr>
        <p:spPr>
          <a:xfrm>
            <a:off x="384120" y="1869840"/>
            <a:ext cx="2531520" cy="9360"/>
          </a:xfrm>
          <a:prstGeom prst="rect">
            <a:avLst/>
          </a:prstGeom>
          <a:solidFill>
            <a:srgbClr val="E5E7EB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89" name="Shape 153"/>
          <p:cNvSpPr/>
          <p:nvPr/>
        </p:nvSpPr>
        <p:spPr>
          <a:xfrm>
            <a:off x="384120" y="1956960"/>
            <a:ext cx="254520" cy="254520"/>
          </a:xfrm>
          <a:prstGeom prst="rect">
            <a:avLst/>
          </a:prstGeom>
          <a:solidFill>
            <a:srgbClr val="333333"/>
          </a:solidFill>
          <a:ln w="1260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90" name="Text 190"/>
          <p:cNvSpPr/>
          <p:nvPr/>
        </p:nvSpPr>
        <p:spPr>
          <a:xfrm>
            <a:off x="384120" y="1956960"/>
            <a:ext cx="25452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FFFFFF"/>
                </a:solidFill>
                <a:latin typeface="Courier New"/>
                <a:ea typeface="Courier New"/>
              </a:rPr>
              <a:t>PA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Text 191"/>
          <p:cNvSpPr/>
          <p:nvPr/>
        </p:nvSpPr>
        <p:spPr>
          <a:xfrm>
            <a:off x="694800" y="1956960"/>
            <a:ext cx="2220480" cy="14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A1A1A"/>
                </a:solidFill>
                <a:latin typeface="Calibri"/>
                <a:ea typeface="Calibri"/>
              </a:rPr>
              <a:t>PortAudio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Text 192"/>
          <p:cNvSpPr/>
          <p:nvPr/>
        </p:nvSpPr>
        <p:spPr>
          <a:xfrm>
            <a:off x="694800" y="2103120"/>
            <a:ext cx="2220480" cy="12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4B5563"/>
                </a:solidFill>
                <a:latin typeface="Courier New"/>
                <a:ea typeface="Courier New"/>
              </a:rPr>
              <a:t>44.1kHz capture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154"/>
          <p:cNvSpPr/>
          <p:nvPr/>
        </p:nvSpPr>
        <p:spPr>
          <a:xfrm>
            <a:off x="384120" y="2272320"/>
            <a:ext cx="2531520" cy="9360"/>
          </a:xfrm>
          <a:prstGeom prst="rect">
            <a:avLst/>
          </a:prstGeom>
          <a:solidFill>
            <a:srgbClr val="E5E7EB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4" name="Text 193"/>
          <p:cNvSpPr/>
          <p:nvPr/>
        </p:nvSpPr>
        <p:spPr>
          <a:xfrm>
            <a:off x="384120" y="2359080"/>
            <a:ext cx="25452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-1">
                <a:solidFill>
                  <a:srgbClr val="FFFFFF"/>
                </a:solidFill>
                <a:latin typeface="Courier New"/>
                <a:ea typeface="Courier New"/>
              </a:rPr>
              <a:t>FFT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Text 194"/>
          <p:cNvSpPr/>
          <p:nvPr/>
        </p:nvSpPr>
        <p:spPr>
          <a:xfrm>
            <a:off x="694800" y="2359080"/>
            <a:ext cx="2220480" cy="14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A1A1A"/>
                </a:solidFill>
                <a:latin typeface="Calibri"/>
                <a:ea typeface="Calibri"/>
              </a:rPr>
              <a:t>FFTW3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Text 195"/>
          <p:cNvSpPr/>
          <p:nvPr/>
        </p:nvSpPr>
        <p:spPr>
          <a:xfrm>
            <a:off x="694800" y="2505600"/>
            <a:ext cx="2220480" cy="12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4B5563"/>
                </a:solidFill>
                <a:latin typeface="Courier New"/>
                <a:ea typeface="Courier New"/>
              </a:rPr>
              <a:t>2048-pt FFT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Shape 156"/>
          <p:cNvSpPr/>
          <p:nvPr/>
        </p:nvSpPr>
        <p:spPr>
          <a:xfrm>
            <a:off x="384120" y="2674800"/>
            <a:ext cx="2531520" cy="9360"/>
          </a:xfrm>
          <a:prstGeom prst="rect">
            <a:avLst/>
          </a:prstGeom>
          <a:solidFill>
            <a:srgbClr val="E5E7EB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8" name="Text 196"/>
          <p:cNvSpPr/>
          <p:nvPr/>
        </p:nvSpPr>
        <p:spPr>
          <a:xfrm>
            <a:off x="384120" y="2761560"/>
            <a:ext cx="25452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-1">
                <a:solidFill>
                  <a:srgbClr val="FFFFFF"/>
                </a:solidFill>
                <a:latin typeface="Courier New"/>
                <a:ea typeface="Courier New"/>
              </a:rPr>
              <a:t>ZMQ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Text 197"/>
          <p:cNvSpPr/>
          <p:nvPr/>
        </p:nvSpPr>
        <p:spPr>
          <a:xfrm>
            <a:off x="694800" y="2761560"/>
            <a:ext cx="2220480" cy="14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A1A1A"/>
                </a:solidFill>
                <a:latin typeface="Calibri"/>
                <a:ea typeface="Calibri"/>
              </a:rPr>
              <a:t>ZeroMQ PUB/SUB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Text 198"/>
          <p:cNvSpPr/>
          <p:nvPr/>
        </p:nvSpPr>
        <p:spPr>
          <a:xfrm>
            <a:off x="694800" y="2907720"/>
            <a:ext cx="2220480" cy="12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4B5563"/>
                </a:solidFill>
                <a:latin typeface="Courier New"/>
                <a:ea typeface="Courier New"/>
              </a:rPr>
              <a:t>intranet relay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Shape 158"/>
          <p:cNvSpPr/>
          <p:nvPr/>
        </p:nvSpPr>
        <p:spPr>
          <a:xfrm>
            <a:off x="384120" y="3076920"/>
            <a:ext cx="2531520" cy="9360"/>
          </a:xfrm>
          <a:prstGeom prst="rect">
            <a:avLst/>
          </a:prstGeom>
          <a:solidFill>
            <a:srgbClr val="E5E7EB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02" name="Text 199"/>
          <p:cNvSpPr/>
          <p:nvPr/>
        </p:nvSpPr>
        <p:spPr>
          <a:xfrm>
            <a:off x="384120" y="3163680"/>
            <a:ext cx="25452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FFFFFF"/>
                </a:solidFill>
                <a:latin typeface="Courier New"/>
                <a:ea typeface="Courier New"/>
              </a:rPr>
              <a:t>π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Text 200"/>
          <p:cNvSpPr/>
          <p:nvPr/>
        </p:nvSpPr>
        <p:spPr>
          <a:xfrm>
            <a:off x="694800" y="3163680"/>
            <a:ext cx="2220480" cy="14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A1A1A"/>
                </a:solidFill>
                <a:latin typeface="Calibri"/>
                <a:ea typeface="Calibri"/>
              </a:rPr>
              <a:t>Raspberry Pi Zero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Text 201"/>
          <p:cNvSpPr/>
          <p:nvPr/>
        </p:nvSpPr>
        <p:spPr>
          <a:xfrm>
            <a:off x="694800" y="3310200"/>
            <a:ext cx="2220480" cy="12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4B5563"/>
                </a:solidFill>
                <a:latin typeface="Courier New"/>
                <a:ea typeface="Courier New"/>
              </a:rPr>
              <a:t>ARM Cortex-A53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160"/>
          <p:cNvSpPr/>
          <p:nvPr/>
        </p:nvSpPr>
        <p:spPr>
          <a:xfrm>
            <a:off x="384120" y="3479400"/>
            <a:ext cx="2531520" cy="9360"/>
          </a:xfrm>
          <a:prstGeom prst="rect">
            <a:avLst/>
          </a:prstGeom>
          <a:solidFill>
            <a:srgbClr val="E5E7EB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06" name="Text 202"/>
          <p:cNvSpPr/>
          <p:nvPr/>
        </p:nvSpPr>
        <p:spPr>
          <a:xfrm>
            <a:off x="3282840" y="1517760"/>
            <a:ext cx="25452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85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07" name="Text 203"/>
          <p:cNvSpPr/>
          <p:nvPr/>
        </p:nvSpPr>
        <p:spPr>
          <a:xfrm>
            <a:off x="3593520" y="1517760"/>
            <a:ext cx="2330280" cy="14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A1A1A"/>
                </a:solidFill>
                <a:latin typeface="Calibri"/>
                <a:ea typeface="Calibri"/>
              </a:rPr>
              <a:t>AMD Ryzen™ AI NPU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Text 204"/>
          <p:cNvSpPr/>
          <p:nvPr/>
        </p:nvSpPr>
        <p:spPr>
          <a:xfrm>
            <a:off x="3593520" y="1664280"/>
            <a:ext cx="2330280" cy="12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4B5563"/>
                </a:solidFill>
                <a:latin typeface="Courier New"/>
                <a:ea typeface="Courier New"/>
              </a:rPr>
              <a:t>50 TOPS · 15W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Shape 162"/>
          <p:cNvSpPr/>
          <p:nvPr/>
        </p:nvSpPr>
        <p:spPr>
          <a:xfrm>
            <a:off x="3282840" y="1833480"/>
            <a:ext cx="2641320" cy="9360"/>
          </a:xfrm>
          <a:prstGeom prst="rect">
            <a:avLst/>
          </a:prstGeom>
          <a:solidFill>
            <a:srgbClr val="E5E7EB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10" name="Text 205"/>
          <p:cNvSpPr/>
          <p:nvPr/>
        </p:nvSpPr>
        <p:spPr>
          <a:xfrm>
            <a:off x="3282840" y="1920240"/>
            <a:ext cx="25452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FFFFFF"/>
                </a:solidFill>
                <a:latin typeface="Courier New"/>
                <a:ea typeface="Courier New"/>
              </a:rPr>
              <a:t>VA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 206"/>
          <p:cNvSpPr/>
          <p:nvPr/>
        </p:nvSpPr>
        <p:spPr>
          <a:xfrm>
            <a:off x="3593520" y="1920240"/>
            <a:ext cx="2330280" cy="14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A1A1A"/>
                </a:solidFill>
                <a:latin typeface="Calibri"/>
                <a:ea typeface="Calibri"/>
              </a:rPr>
              <a:t>Vitis™ AI Runtime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Text 207"/>
          <p:cNvSpPr/>
          <p:nvPr/>
        </p:nvSpPr>
        <p:spPr>
          <a:xfrm>
            <a:off x="3593520" y="2066400"/>
            <a:ext cx="2330280" cy="12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4B5563"/>
                </a:solidFill>
                <a:latin typeface="Courier New"/>
                <a:ea typeface="Courier New"/>
              </a:rPr>
              <a:t>NPU exec provider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Shape 164"/>
          <p:cNvSpPr/>
          <p:nvPr/>
        </p:nvSpPr>
        <p:spPr>
          <a:xfrm>
            <a:off x="3282840" y="2235600"/>
            <a:ext cx="2641320" cy="9360"/>
          </a:xfrm>
          <a:prstGeom prst="rect">
            <a:avLst/>
          </a:prstGeom>
          <a:solidFill>
            <a:srgbClr val="E5E7EB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14" name="Text 208"/>
          <p:cNvSpPr/>
          <p:nvPr/>
        </p:nvSpPr>
        <p:spPr>
          <a:xfrm>
            <a:off x="3282840" y="2322720"/>
            <a:ext cx="25452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85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15" name="Text 209"/>
          <p:cNvSpPr/>
          <p:nvPr/>
        </p:nvSpPr>
        <p:spPr>
          <a:xfrm>
            <a:off x="3593520" y="2322720"/>
            <a:ext cx="2330280" cy="14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A1A1A"/>
                </a:solidFill>
                <a:latin typeface="Calibri"/>
                <a:ea typeface="Calibri"/>
              </a:rPr>
              <a:t>ONNX Runtime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Text 210"/>
          <p:cNvSpPr/>
          <p:nvPr/>
        </p:nvSpPr>
        <p:spPr>
          <a:xfrm>
            <a:off x="3593520" y="2468880"/>
            <a:ext cx="2330280" cy="12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4B5563"/>
                </a:solidFill>
                <a:latin typeface="Courier New"/>
                <a:ea typeface="Courier New"/>
              </a:rPr>
              <a:t>cross-platform infer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Shape 166"/>
          <p:cNvSpPr/>
          <p:nvPr/>
        </p:nvSpPr>
        <p:spPr>
          <a:xfrm>
            <a:off x="3282840" y="2638080"/>
            <a:ext cx="2641320" cy="9360"/>
          </a:xfrm>
          <a:prstGeom prst="rect">
            <a:avLst/>
          </a:prstGeom>
          <a:solidFill>
            <a:srgbClr val="E5E7EB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18" name="Text 211"/>
          <p:cNvSpPr/>
          <p:nvPr/>
        </p:nvSpPr>
        <p:spPr>
          <a:xfrm>
            <a:off x="3282840" y="2724840"/>
            <a:ext cx="25452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85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19" name="Text 212"/>
          <p:cNvSpPr/>
          <p:nvPr/>
        </p:nvSpPr>
        <p:spPr>
          <a:xfrm>
            <a:off x="3593520" y="2724840"/>
            <a:ext cx="2330280" cy="14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A1A1A"/>
                </a:solidFill>
                <a:latin typeface="Calibri"/>
                <a:ea typeface="Calibri"/>
              </a:rPr>
              <a:t>PyTorch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Text 213"/>
          <p:cNvSpPr/>
          <p:nvPr/>
        </p:nvSpPr>
        <p:spPr>
          <a:xfrm>
            <a:off x="3593520" y="2871360"/>
            <a:ext cx="2330280" cy="12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4B5563"/>
                </a:solidFill>
                <a:latin typeface="Courier New"/>
                <a:ea typeface="Courier New"/>
              </a:rPr>
              <a:t>Offline model training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168"/>
          <p:cNvSpPr/>
          <p:nvPr/>
        </p:nvSpPr>
        <p:spPr>
          <a:xfrm>
            <a:off x="3282840" y="3040560"/>
            <a:ext cx="2641320" cy="9360"/>
          </a:xfrm>
          <a:prstGeom prst="rect">
            <a:avLst/>
          </a:prstGeom>
          <a:solidFill>
            <a:srgbClr val="E5E7EB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22" name="Text 214"/>
          <p:cNvSpPr/>
          <p:nvPr/>
        </p:nvSpPr>
        <p:spPr>
          <a:xfrm>
            <a:off x="3282840" y="3127320"/>
            <a:ext cx="25452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FFFFFF"/>
                </a:solidFill>
                <a:latin typeface="Courier New"/>
                <a:ea typeface="Courier New"/>
              </a:rPr>
              <a:t>LM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 215"/>
          <p:cNvSpPr/>
          <p:nvPr/>
        </p:nvSpPr>
        <p:spPr>
          <a:xfrm>
            <a:off x="3593520" y="3127320"/>
            <a:ext cx="2330280" cy="14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A1A1A"/>
                </a:solidFill>
                <a:latin typeface="Calibri"/>
                <a:ea typeface="Calibri"/>
              </a:rPr>
              <a:t>Ollama (Local LLM)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Text 216"/>
          <p:cNvSpPr/>
          <p:nvPr/>
        </p:nvSpPr>
        <p:spPr>
          <a:xfrm>
            <a:off x="3593520" y="3273480"/>
            <a:ext cx="2330280" cy="12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4B5563"/>
                </a:solidFill>
                <a:latin typeface="Courier New"/>
                <a:ea typeface="Courier New"/>
              </a:rPr>
              <a:t>Multi-language · offline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170"/>
          <p:cNvSpPr/>
          <p:nvPr/>
        </p:nvSpPr>
        <p:spPr>
          <a:xfrm>
            <a:off x="3282840" y="3442680"/>
            <a:ext cx="2641320" cy="9360"/>
          </a:xfrm>
          <a:prstGeom prst="rect">
            <a:avLst/>
          </a:prstGeom>
          <a:solidFill>
            <a:srgbClr val="E5E7EB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26" name="Text 218"/>
          <p:cNvSpPr/>
          <p:nvPr/>
        </p:nvSpPr>
        <p:spPr>
          <a:xfrm>
            <a:off x="6602040" y="1554480"/>
            <a:ext cx="2174760" cy="14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000" b="1" strike="noStrike" spc="-1">
                <a:solidFill>
                  <a:srgbClr val="1A1A1A"/>
                </a:solidFill>
                <a:latin typeface="Calibri"/>
                <a:ea typeface="Calibri"/>
              </a:rPr>
              <a:t>Ryzen 5 Edge Mini PC 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Text 219"/>
          <p:cNvSpPr/>
          <p:nvPr/>
        </p:nvSpPr>
        <p:spPr>
          <a:xfrm>
            <a:off x="6602040" y="1700640"/>
            <a:ext cx="2174760" cy="12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800" b="0" strike="noStrike" spc="-1">
                <a:solidFill>
                  <a:srgbClr val="4B5563"/>
                </a:solidFill>
                <a:latin typeface="Courier New"/>
                <a:ea typeface="Courier New"/>
              </a:rPr>
              <a:t>dashboard + aggregation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Shape 172"/>
          <p:cNvSpPr/>
          <p:nvPr/>
        </p:nvSpPr>
        <p:spPr>
          <a:xfrm>
            <a:off x="6291000" y="1869840"/>
            <a:ext cx="2485800" cy="9360"/>
          </a:xfrm>
          <a:prstGeom prst="rect">
            <a:avLst/>
          </a:prstGeom>
          <a:solidFill>
            <a:srgbClr val="E5E7EB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29" name="Text 220"/>
          <p:cNvSpPr/>
          <p:nvPr/>
        </p:nvSpPr>
        <p:spPr>
          <a:xfrm>
            <a:off x="6291000" y="1956960"/>
            <a:ext cx="25452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85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30" name="Text 221"/>
          <p:cNvSpPr/>
          <p:nvPr/>
        </p:nvSpPr>
        <p:spPr>
          <a:xfrm>
            <a:off x="6602040" y="1956960"/>
            <a:ext cx="2174760" cy="14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 222"/>
          <p:cNvSpPr/>
          <p:nvPr/>
        </p:nvSpPr>
        <p:spPr>
          <a:xfrm>
            <a:off x="6602040" y="2103120"/>
            <a:ext cx="2174760" cy="12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174"/>
          <p:cNvSpPr/>
          <p:nvPr/>
        </p:nvSpPr>
        <p:spPr>
          <a:xfrm>
            <a:off x="6291000" y="2272320"/>
            <a:ext cx="2485800" cy="9360"/>
          </a:xfrm>
          <a:prstGeom prst="rect">
            <a:avLst/>
          </a:prstGeom>
          <a:solidFill>
            <a:srgbClr val="E5E7EB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33" name="Text 223"/>
          <p:cNvSpPr/>
          <p:nvPr/>
        </p:nvSpPr>
        <p:spPr>
          <a:xfrm>
            <a:off x="6291000" y="2359080"/>
            <a:ext cx="25452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85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34" name="Text 224"/>
          <p:cNvSpPr/>
          <p:nvPr/>
        </p:nvSpPr>
        <p:spPr>
          <a:xfrm>
            <a:off x="6602040" y="1927080"/>
            <a:ext cx="2174760" cy="14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A1A1A"/>
                </a:solidFill>
                <a:latin typeface="Calibri"/>
                <a:ea typeface="Calibri"/>
              </a:rPr>
              <a:t>Node.js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Text 225"/>
          <p:cNvSpPr/>
          <p:nvPr/>
        </p:nvSpPr>
        <p:spPr>
          <a:xfrm>
            <a:off x="6602040" y="2073600"/>
            <a:ext cx="2174760" cy="12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4B5563"/>
                </a:solidFill>
                <a:latin typeface="Courier New"/>
                <a:ea typeface="Courier New"/>
              </a:rPr>
              <a:t>Socket.IO relay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Shape 176"/>
          <p:cNvSpPr/>
          <p:nvPr/>
        </p:nvSpPr>
        <p:spPr>
          <a:xfrm>
            <a:off x="6291000" y="2674800"/>
            <a:ext cx="2485800" cy="9360"/>
          </a:xfrm>
          <a:prstGeom prst="rect">
            <a:avLst/>
          </a:prstGeom>
          <a:solidFill>
            <a:srgbClr val="E5E7EB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37" name="Text 226"/>
          <p:cNvSpPr/>
          <p:nvPr/>
        </p:nvSpPr>
        <p:spPr>
          <a:xfrm rot="477600">
            <a:off x="6290640" y="2760480"/>
            <a:ext cx="25452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85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38" name="Text 227"/>
          <p:cNvSpPr/>
          <p:nvPr/>
        </p:nvSpPr>
        <p:spPr>
          <a:xfrm>
            <a:off x="6602040" y="2329560"/>
            <a:ext cx="2174760" cy="14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A1A1A"/>
                </a:solidFill>
                <a:latin typeface="Calibri"/>
                <a:ea typeface="Calibri"/>
              </a:rPr>
              <a:t>React + TypeScript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Text 228"/>
          <p:cNvSpPr/>
          <p:nvPr/>
        </p:nvSpPr>
        <p:spPr>
          <a:xfrm>
            <a:off x="6602040" y="2475720"/>
            <a:ext cx="2174760" cy="12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4B5563"/>
                </a:solidFill>
                <a:latin typeface="Courier New"/>
                <a:ea typeface="Courier New"/>
              </a:rPr>
              <a:t>live dashboard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Shape 178"/>
          <p:cNvSpPr/>
          <p:nvPr/>
        </p:nvSpPr>
        <p:spPr>
          <a:xfrm>
            <a:off x="6291000" y="3076920"/>
            <a:ext cx="2485800" cy="9360"/>
          </a:xfrm>
          <a:prstGeom prst="rect">
            <a:avLst/>
          </a:prstGeom>
          <a:solidFill>
            <a:srgbClr val="E5E7EB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41" name="Text 229"/>
          <p:cNvSpPr/>
          <p:nvPr/>
        </p:nvSpPr>
        <p:spPr>
          <a:xfrm>
            <a:off x="6291000" y="3163680"/>
            <a:ext cx="254520" cy="25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85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42" name="Text 230"/>
          <p:cNvSpPr/>
          <p:nvPr/>
        </p:nvSpPr>
        <p:spPr>
          <a:xfrm>
            <a:off x="6602040" y="2695680"/>
            <a:ext cx="2174760" cy="14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A1A1A"/>
                </a:solidFill>
                <a:latin typeface="Calibri"/>
                <a:ea typeface="Calibri"/>
              </a:rPr>
              <a:t>Docker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Text 231"/>
          <p:cNvSpPr/>
          <p:nvPr/>
        </p:nvSpPr>
        <p:spPr>
          <a:xfrm>
            <a:off x="6602040" y="2842200"/>
            <a:ext cx="2174760" cy="12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4B5563"/>
                </a:solidFill>
                <a:latin typeface="Courier New"/>
                <a:ea typeface="Courier New"/>
              </a:rPr>
              <a:t>containerized deploy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Shape 181"/>
          <p:cNvSpPr/>
          <p:nvPr/>
        </p:nvSpPr>
        <p:spPr>
          <a:xfrm>
            <a:off x="255960" y="4151520"/>
            <a:ext cx="8630640" cy="657000"/>
          </a:xfrm>
          <a:prstGeom prst="rect">
            <a:avLst/>
          </a:prstGeom>
          <a:solidFill>
            <a:srgbClr val="1A1A1A"/>
          </a:solidFill>
          <a:ln w="12600">
            <a:solidFill>
              <a:srgbClr val="1A1A1A"/>
            </a:solidFill>
            <a:round/>
          </a:ln>
          <a:effectLst>
            <a:outerShdw blurRad="101520" dist="25455" dir="8100000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45" name="Shape 182"/>
          <p:cNvSpPr/>
          <p:nvPr/>
        </p:nvSpPr>
        <p:spPr>
          <a:xfrm>
            <a:off x="402480" y="4242960"/>
            <a:ext cx="2193120" cy="236160"/>
          </a:xfrm>
          <a:prstGeom prst="rect">
            <a:avLst/>
          </a:prstGeom>
          <a:solidFill>
            <a:srgbClr val="2A2A2A"/>
          </a:solidFill>
          <a:ln w="1512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46" name="Text 232"/>
          <p:cNvSpPr/>
          <p:nvPr/>
        </p:nvSpPr>
        <p:spPr>
          <a:xfrm>
            <a:off x="402480" y="4242960"/>
            <a:ext cx="2193120" cy="23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93C5FD"/>
                </a:solidFill>
                <a:latin typeface="Courier New"/>
                <a:ea typeface="Courier New"/>
              </a:rPr>
              <a:t>Piezo → C++ DSP → ZeroMQ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Text 233"/>
          <p:cNvSpPr/>
          <p:nvPr/>
        </p:nvSpPr>
        <p:spPr>
          <a:xfrm>
            <a:off x="402480" y="4535280"/>
            <a:ext cx="2193120" cy="16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666666"/>
                </a:solidFill>
                <a:latin typeface="Courier New"/>
                <a:ea typeface="Courier New"/>
              </a:rPr>
              <a:t>Raspberry Pi Zero 2W · ₹2,600/node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Text 234"/>
          <p:cNvSpPr/>
          <p:nvPr/>
        </p:nvSpPr>
        <p:spPr>
          <a:xfrm>
            <a:off x="2944440" y="4270320"/>
            <a:ext cx="19980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2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49" name="Shape 184"/>
          <p:cNvSpPr/>
          <p:nvPr/>
        </p:nvSpPr>
        <p:spPr>
          <a:xfrm>
            <a:off x="3182040" y="4242960"/>
            <a:ext cx="2467440" cy="236160"/>
          </a:xfrm>
          <a:prstGeom prst="rect">
            <a:avLst/>
          </a:prstGeom>
          <a:solidFill>
            <a:srgbClr val="2A2A2A"/>
          </a:solidFill>
          <a:ln w="1512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50" name="Text 235"/>
          <p:cNvSpPr/>
          <p:nvPr/>
        </p:nvSpPr>
        <p:spPr>
          <a:xfrm>
            <a:off x="3182040" y="4242960"/>
            <a:ext cx="2467440" cy="23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CA5A5"/>
                </a:solidFill>
                <a:latin typeface="Courier New"/>
                <a:ea typeface="Courier New"/>
              </a:rPr>
              <a:t>ONNX → Vitis AI → NPU → Ollama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Text 236"/>
          <p:cNvSpPr/>
          <p:nvPr/>
        </p:nvSpPr>
        <p:spPr>
          <a:xfrm>
            <a:off x="3182040" y="4535280"/>
            <a:ext cx="2467440" cy="16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666666"/>
                </a:solidFill>
                <a:latin typeface="Courier New"/>
                <a:ea typeface="Courier New"/>
              </a:rPr>
              <a:t>AMD Ryzen AI · 50 nodes per unit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Text 237"/>
          <p:cNvSpPr/>
          <p:nvPr/>
        </p:nvSpPr>
        <p:spPr>
          <a:xfrm>
            <a:off x="6089760" y="4270320"/>
            <a:ext cx="19980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2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53" name="Shape 186"/>
          <p:cNvSpPr/>
          <p:nvPr/>
        </p:nvSpPr>
        <p:spPr>
          <a:xfrm>
            <a:off x="6327720" y="4242960"/>
            <a:ext cx="2193120" cy="236160"/>
          </a:xfrm>
          <a:prstGeom prst="rect">
            <a:avLst/>
          </a:prstGeom>
          <a:solidFill>
            <a:srgbClr val="2A2A2A"/>
          </a:solidFill>
          <a:ln w="1512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54" name="Text 238"/>
          <p:cNvSpPr/>
          <p:nvPr/>
        </p:nvSpPr>
        <p:spPr>
          <a:xfrm>
            <a:off x="6327720" y="4242960"/>
            <a:ext cx="2193120" cy="23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86EFAC"/>
                </a:solidFill>
                <a:latin typeface="Courier New"/>
                <a:ea typeface="Courier New"/>
              </a:rPr>
              <a:t>React Dashboard → Alerts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Text 239"/>
          <p:cNvSpPr/>
          <p:nvPr/>
        </p:nvSpPr>
        <p:spPr>
          <a:xfrm>
            <a:off x="6327720" y="4535280"/>
            <a:ext cx="2193120" cy="16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700" b="0" strike="noStrike" spc="-1">
                <a:solidFill>
                  <a:srgbClr val="666666"/>
                </a:solidFill>
                <a:latin typeface="Courier New"/>
                <a:ea typeface="Courier New"/>
              </a:rPr>
              <a:t>Ryzen 5 Edge · dashboard + alerts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187"/>
          <p:cNvSpPr/>
          <p:nvPr/>
        </p:nvSpPr>
        <p:spPr>
          <a:xfrm>
            <a:off x="0" y="5097960"/>
            <a:ext cx="9142560" cy="4428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657" name="Google Shape;130;p22"/>
          <p:cNvPicPr/>
          <p:nvPr/>
        </p:nvPicPr>
        <p:blipFill>
          <a:blip r:embed="rId3"/>
          <a:srcRect b="89083"/>
          <a:stretch/>
        </p:blipFill>
        <p:spPr>
          <a:xfrm>
            <a:off x="0" y="0"/>
            <a:ext cx="9142200" cy="559800"/>
          </a:xfrm>
          <a:prstGeom prst="rect">
            <a:avLst/>
          </a:prstGeom>
          <a:ln w="0">
            <a:noFill/>
          </a:ln>
        </p:spPr>
      </p:pic>
      <p:pic>
        <p:nvPicPr>
          <p:cNvPr id="658" name="Picture 7"/>
          <p:cNvPicPr/>
          <p:nvPr/>
        </p:nvPicPr>
        <p:blipFill>
          <a:blip r:embed="rId4"/>
          <a:stretch/>
        </p:blipFill>
        <p:spPr>
          <a:xfrm>
            <a:off x="6291000" y="2770920"/>
            <a:ext cx="217440" cy="178920"/>
          </a:xfrm>
          <a:prstGeom prst="rect">
            <a:avLst/>
          </a:prstGeom>
          <a:ln w="0">
            <a:noFill/>
          </a:ln>
        </p:spPr>
      </p:pic>
      <p:pic>
        <p:nvPicPr>
          <p:cNvPr id="659" name="Picture 9"/>
          <p:cNvPicPr/>
          <p:nvPr/>
        </p:nvPicPr>
        <p:blipFill>
          <a:blip r:embed="rId5"/>
          <a:stretch/>
        </p:blipFill>
        <p:spPr>
          <a:xfrm>
            <a:off x="6264720" y="2364840"/>
            <a:ext cx="306720" cy="254520"/>
          </a:xfrm>
          <a:prstGeom prst="rect">
            <a:avLst/>
          </a:prstGeom>
          <a:ln w="0">
            <a:noFill/>
          </a:ln>
        </p:spPr>
      </p:pic>
      <p:pic>
        <p:nvPicPr>
          <p:cNvPr id="660" name="Picture 11"/>
          <p:cNvPicPr/>
          <p:nvPr/>
        </p:nvPicPr>
        <p:blipFill>
          <a:blip r:embed="rId6"/>
          <a:stretch/>
        </p:blipFill>
        <p:spPr>
          <a:xfrm>
            <a:off x="6291000" y="1962720"/>
            <a:ext cx="226800" cy="224280"/>
          </a:xfrm>
          <a:prstGeom prst="rect">
            <a:avLst/>
          </a:prstGeom>
          <a:ln w="0">
            <a:noFill/>
          </a:ln>
        </p:spPr>
      </p:pic>
      <p:pic>
        <p:nvPicPr>
          <p:cNvPr id="661" name="Picture 17"/>
          <p:cNvPicPr/>
          <p:nvPr/>
        </p:nvPicPr>
        <p:blipFill>
          <a:blip r:embed="rId7"/>
          <a:stretch/>
        </p:blipFill>
        <p:spPr>
          <a:xfrm>
            <a:off x="3229920" y="1590840"/>
            <a:ext cx="285840" cy="127800"/>
          </a:xfrm>
          <a:prstGeom prst="rect">
            <a:avLst/>
          </a:prstGeom>
          <a:ln w="0">
            <a:noFill/>
          </a:ln>
        </p:spPr>
      </p:pic>
      <p:pic>
        <p:nvPicPr>
          <p:cNvPr id="662" name="Picture 19"/>
          <p:cNvPicPr/>
          <p:nvPr/>
        </p:nvPicPr>
        <p:blipFill>
          <a:blip r:embed="rId8"/>
          <a:stretch/>
        </p:blipFill>
        <p:spPr>
          <a:xfrm>
            <a:off x="3246480" y="1983240"/>
            <a:ext cx="254520" cy="128520"/>
          </a:xfrm>
          <a:prstGeom prst="rect">
            <a:avLst/>
          </a:prstGeom>
          <a:ln w="0">
            <a:noFill/>
          </a:ln>
        </p:spPr>
      </p:pic>
      <p:pic>
        <p:nvPicPr>
          <p:cNvPr id="663" name="Picture 21"/>
          <p:cNvPicPr/>
          <p:nvPr/>
        </p:nvPicPr>
        <p:blipFill>
          <a:blip r:embed="rId9"/>
          <a:stretch/>
        </p:blipFill>
        <p:spPr>
          <a:xfrm>
            <a:off x="3271320" y="2694960"/>
            <a:ext cx="277200" cy="299520"/>
          </a:xfrm>
          <a:prstGeom prst="rect">
            <a:avLst/>
          </a:prstGeom>
          <a:ln w="0">
            <a:noFill/>
          </a:ln>
        </p:spPr>
      </p:pic>
      <p:pic>
        <p:nvPicPr>
          <p:cNvPr id="664" name="Picture 23"/>
          <p:cNvPicPr/>
          <p:nvPr/>
        </p:nvPicPr>
        <p:blipFill>
          <a:blip r:embed="rId10"/>
          <a:stretch/>
        </p:blipFill>
        <p:spPr>
          <a:xfrm>
            <a:off x="3270960" y="3069720"/>
            <a:ext cx="278280" cy="334800"/>
          </a:xfrm>
          <a:prstGeom prst="rect">
            <a:avLst/>
          </a:prstGeom>
          <a:ln w="0">
            <a:noFill/>
          </a:ln>
        </p:spPr>
      </p:pic>
      <p:pic>
        <p:nvPicPr>
          <p:cNvPr id="665" name="Picture 25"/>
          <p:cNvPicPr/>
          <p:nvPr/>
        </p:nvPicPr>
        <p:blipFill>
          <a:blip r:embed="rId11"/>
          <a:stretch/>
        </p:blipFill>
        <p:spPr>
          <a:xfrm>
            <a:off x="3226680" y="2315160"/>
            <a:ext cx="291960" cy="287280"/>
          </a:xfrm>
          <a:prstGeom prst="rect">
            <a:avLst/>
          </a:prstGeom>
          <a:ln w="0">
            <a:noFill/>
          </a:ln>
        </p:spPr>
      </p:pic>
      <p:pic>
        <p:nvPicPr>
          <p:cNvPr id="666" name="Picture 27"/>
          <p:cNvPicPr/>
          <p:nvPr/>
        </p:nvPicPr>
        <p:blipFill>
          <a:blip r:embed="rId12"/>
          <a:stretch/>
        </p:blipFill>
        <p:spPr>
          <a:xfrm>
            <a:off x="384480" y="1539720"/>
            <a:ext cx="254160" cy="263880"/>
          </a:xfrm>
          <a:prstGeom prst="rect">
            <a:avLst/>
          </a:prstGeom>
          <a:ln w="0">
            <a:noFill/>
          </a:ln>
        </p:spPr>
      </p:pic>
      <p:pic>
        <p:nvPicPr>
          <p:cNvPr id="667" name="Picture 6" descr="Raspberry Pi Logo png images | PNGEgg"/>
          <p:cNvPicPr/>
          <p:nvPr/>
        </p:nvPicPr>
        <p:blipFill>
          <a:blip r:embed="rId13"/>
          <a:stretch/>
        </p:blipFill>
        <p:spPr>
          <a:xfrm>
            <a:off x="376200" y="3127320"/>
            <a:ext cx="270360" cy="270360"/>
          </a:xfrm>
          <a:prstGeom prst="rect">
            <a:avLst/>
          </a:prstGeom>
          <a:ln w="0">
            <a:noFill/>
          </a:ln>
        </p:spPr>
      </p:pic>
      <p:pic>
        <p:nvPicPr>
          <p:cNvPr id="668" name="Picture 29"/>
          <p:cNvPicPr/>
          <p:nvPr/>
        </p:nvPicPr>
        <p:blipFill>
          <a:blip r:embed="rId14"/>
          <a:stretch/>
        </p:blipFill>
        <p:spPr>
          <a:xfrm>
            <a:off x="329040" y="2839320"/>
            <a:ext cx="254520" cy="93960"/>
          </a:xfrm>
          <a:prstGeom prst="rect">
            <a:avLst/>
          </a:prstGeom>
          <a:ln w="0">
            <a:noFill/>
          </a:ln>
        </p:spPr>
      </p:pic>
      <p:pic>
        <p:nvPicPr>
          <p:cNvPr id="669" name="Picture 31"/>
          <p:cNvPicPr/>
          <p:nvPr/>
        </p:nvPicPr>
        <p:blipFill>
          <a:blip r:embed="rId15"/>
          <a:stretch/>
        </p:blipFill>
        <p:spPr>
          <a:xfrm>
            <a:off x="351360" y="2449800"/>
            <a:ext cx="268920" cy="95400"/>
          </a:xfrm>
          <a:prstGeom prst="rect">
            <a:avLst/>
          </a:prstGeom>
          <a:ln w="0">
            <a:noFill/>
          </a:ln>
        </p:spPr>
      </p:pic>
      <p:cxnSp>
        <p:nvCxnSpPr>
          <p:cNvPr id="670" name="Straight Arrow Connector 33"/>
          <p:cNvCxnSpPr/>
          <p:nvPr/>
        </p:nvCxnSpPr>
        <p:spPr>
          <a:xfrm>
            <a:off x="2691360" y="4374720"/>
            <a:ext cx="369000" cy="1080"/>
          </a:xfrm>
          <a:prstGeom prst="straightConnector1">
            <a:avLst/>
          </a:prstGeom>
          <a:ln w="0">
            <a:solidFill>
              <a:srgbClr val="FFFFFF"/>
            </a:solidFill>
            <a:tailEnd type="triangle" w="med" len="med"/>
          </a:ln>
        </p:spPr>
      </p:cxnSp>
      <p:cxnSp>
        <p:nvCxnSpPr>
          <p:cNvPr id="671" name="Straight Arrow Connector 35"/>
          <p:cNvCxnSpPr/>
          <p:nvPr/>
        </p:nvCxnSpPr>
        <p:spPr>
          <a:xfrm>
            <a:off x="5821920" y="4370040"/>
            <a:ext cx="403200" cy="1080"/>
          </a:xfrm>
          <a:prstGeom prst="straightConnector1">
            <a:avLst/>
          </a:prstGeom>
          <a:ln w="0">
            <a:solidFill>
              <a:srgbClr val="FFFFFF"/>
            </a:solidFill>
            <a:tailEnd type="triangl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4D4905A-50FC-9C8D-03BD-2509416062D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32830" y="1581059"/>
            <a:ext cx="212690" cy="189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Text 299"/>
          <p:cNvSpPr/>
          <p:nvPr/>
        </p:nvSpPr>
        <p:spPr>
          <a:xfrm>
            <a:off x="6856920" y="910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188">
                <a:solidFill>
                  <a:srgbClr val="666666"/>
                </a:solidFill>
                <a:latin typeface="Courier New"/>
                <a:ea typeface="Courier New"/>
              </a:rPr>
              <a:t>POWERED BY H2S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Text 300"/>
          <p:cNvSpPr/>
          <p:nvPr/>
        </p:nvSpPr>
        <p:spPr>
          <a:xfrm>
            <a:off x="255600" y="566280"/>
            <a:ext cx="8629560" cy="23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A1A1A"/>
                </a:solidFill>
                <a:latin typeface="Calibri"/>
                <a:ea typeface="Calibri"/>
              </a:rPr>
              <a:t>Strategic Usage of AMD </a:t>
            </a:r>
            <a:r>
              <a:rPr lang="en-GB" sz="1620" b="1" strike="noStrike" spc="-1">
                <a:solidFill>
                  <a:schemeClr val="dk1"/>
                </a:solidFill>
                <a:latin typeface="Poppins"/>
                <a:ea typeface="Poppins"/>
              </a:rPr>
              <a:t>Products/Solutions</a:t>
            </a:r>
            <a:endParaRPr lang="en-US" sz="16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Text 301"/>
          <p:cNvSpPr/>
          <p:nvPr/>
        </p:nvSpPr>
        <p:spPr>
          <a:xfrm>
            <a:off x="255600" y="767880"/>
            <a:ext cx="8629560" cy="18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38">
                <a:solidFill>
                  <a:srgbClr val="9CA3AF"/>
                </a:solidFill>
                <a:latin typeface="Courier New"/>
                <a:ea typeface="Courier New"/>
              </a:rPr>
              <a:t>Native Integration Across Inference and Aggregation Layers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450"/>
          <p:cNvSpPr/>
          <p:nvPr/>
        </p:nvSpPr>
        <p:spPr>
          <a:xfrm>
            <a:off x="255240" y="978120"/>
            <a:ext cx="8629920" cy="7200"/>
          </a:xfrm>
          <a:prstGeom prst="rect">
            <a:avLst/>
          </a:prstGeom>
          <a:solidFill>
            <a:srgbClr val="E5E7EB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00" rIns="90000" bIns="-36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76" name="Shape 451"/>
          <p:cNvSpPr/>
          <p:nvPr/>
        </p:nvSpPr>
        <p:spPr>
          <a:xfrm>
            <a:off x="255240" y="1033200"/>
            <a:ext cx="2832840" cy="3335040"/>
          </a:xfrm>
          <a:prstGeom prst="rect">
            <a:avLst/>
          </a:prstGeom>
          <a:solidFill>
            <a:srgbClr val="EFF6FF"/>
          </a:solidFill>
          <a:ln w="6480">
            <a:solidFill>
              <a:srgbClr val="E5E7EB"/>
            </a:solidFill>
            <a:round/>
          </a:ln>
          <a:effectLst>
            <a:outerShdw blurRad="101520" dist="25455" dir="81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77" name="Shape 452"/>
          <p:cNvSpPr/>
          <p:nvPr/>
        </p:nvSpPr>
        <p:spPr>
          <a:xfrm>
            <a:off x="3227400" y="1032480"/>
            <a:ext cx="2832480" cy="3335760"/>
          </a:xfrm>
          <a:prstGeom prst="rect">
            <a:avLst/>
          </a:prstGeom>
          <a:solidFill>
            <a:srgbClr val="FFFBF8"/>
          </a:solidFill>
          <a:ln w="19080">
            <a:solidFill>
              <a:srgbClr val="ED4E33"/>
            </a:solidFill>
            <a:round/>
          </a:ln>
          <a:effectLst>
            <a:outerShdw blurRad="152280" dist="37674" dir="8100000" rotWithShape="0">
              <a:srgbClr val="000000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78" name="Shape 453"/>
          <p:cNvSpPr/>
          <p:nvPr/>
        </p:nvSpPr>
        <p:spPr>
          <a:xfrm>
            <a:off x="6198480" y="1033200"/>
            <a:ext cx="2832840" cy="3335040"/>
          </a:xfrm>
          <a:prstGeom prst="rect">
            <a:avLst/>
          </a:prstGeom>
          <a:solidFill>
            <a:srgbClr val="F0FDF4"/>
          </a:solidFill>
          <a:ln w="6480">
            <a:solidFill>
              <a:srgbClr val="E5E7EB"/>
            </a:solidFill>
            <a:round/>
          </a:ln>
          <a:effectLst>
            <a:outerShdw blurRad="101520" dist="25455" dir="81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79" name="Shape 454"/>
          <p:cNvSpPr/>
          <p:nvPr/>
        </p:nvSpPr>
        <p:spPr>
          <a:xfrm>
            <a:off x="255240" y="1032480"/>
            <a:ext cx="2832840" cy="473760"/>
          </a:xfrm>
          <a:prstGeom prst="rect">
            <a:avLst/>
          </a:prstGeom>
          <a:solidFill>
            <a:srgbClr val="2563EB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80" name="Text 378"/>
          <p:cNvSpPr/>
          <p:nvPr/>
        </p:nvSpPr>
        <p:spPr>
          <a:xfrm>
            <a:off x="365400" y="1069560"/>
            <a:ext cx="2704320" cy="14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137">
                <a:solidFill>
                  <a:srgbClr val="BFDBFE"/>
                </a:solidFill>
                <a:latin typeface="Courier New"/>
                <a:ea typeface="Courier New"/>
              </a:rPr>
              <a:t>EDGE AI · TIER 2</a:t>
            </a:r>
            <a:endParaRPr lang="en-U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Text 604"/>
          <p:cNvSpPr/>
          <p:nvPr/>
        </p:nvSpPr>
        <p:spPr>
          <a:xfrm>
            <a:off x="365400" y="1215720"/>
            <a:ext cx="270432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AMD Ryzen™ AI (XDNA NPU)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Shape 455"/>
          <p:cNvSpPr/>
          <p:nvPr/>
        </p:nvSpPr>
        <p:spPr>
          <a:xfrm>
            <a:off x="3227040" y="1032480"/>
            <a:ext cx="2832840" cy="473760"/>
          </a:xfrm>
          <a:prstGeom prst="rect">
            <a:avLst/>
          </a:prstGeom>
          <a:solidFill>
            <a:srgbClr val="1A1A1A"/>
          </a:solidFill>
          <a:ln w="12600">
            <a:solidFill>
              <a:srgbClr val="1A1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83" name="Text 605"/>
          <p:cNvSpPr/>
          <p:nvPr/>
        </p:nvSpPr>
        <p:spPr>
          <a:xfrm>
            <a:off x="3336840" y="1069560"/>
            <a:ext cx="2704320" cy="14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137">
                <a:solidFill>
                  <a:srgbClr val="888888"/>
                </a:solidFill>
                <a:latin typeface="Courier New"/>
                <a:ea typeface="Courier New"/>
              </a:rPr>
              <a:t>FULL-STACK AMD SOFTWARE</a:t>
            </a:r>
            <a:endParaRPr lang="en-U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Text 606"/>
          <p:cNvSpPr/>
          <p:nvPr/>
        </p:nvSpPr>
        <p:spPr>
          <a:xfrm>
            <a:off x="3336840" y="1215720"/>
            <a:ext cx="270432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AMD AI Software Ecosystem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456"/>
          <p:cNvSpPr/>
          <p:nvPr/>
        </p:nvSpPr>
        <p:spPr>
          <a:xfrm>
            <a:off x="6198480" y="1032480"/>
            <a:ext cx="2832840" cy="473760"/>
          </a:xfrm>
          <a:prstGeom prst="rect">
            <a:avLst/>
          </a:prstGeom>
          <a:solidFill>
            <a:srgbClr val="16A34A"/>
          </a:solidFill>
          <a:ln w="126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86" name="Text 607"/>
          <p:cNvSpPr/>
          <p:nvPr/>
        </p:nvSpPr>
        <p:spPr>
          <a:xfrm>
            <a:off x="6308280" y="1069560"/>
            <a:ext cx="2704320" cy="14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137">
                <a:solidFill>
                  <a:srgbClr val="BBF7D0"/>
                </a:solidFill>
                <a:latin typeface="Courier New"/>
                <a:ea typeface="Courier New"/>
              </a:rPr>
              <a:t>EDGE COMPUTE · TIER 3</a:t>
            </a:r>
            <a:endParaRPr lang="en-U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Text 608"/>
          <p:cNvSpPr/>
          <p:nvPr/>
        </p:nvSpPr>
        <p:spPr>
          <a:xfrm>
            <a:off x="6308640" y="1215720"/>
            <a:ext cx="2704320" cy="2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Ryzen 5 Edge Mini PC (Dashboard)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Shape 457"/>
          <p:cNvSpPr/>
          <p:nvPr/>
        </p:nvSpPr>
        <p:spPr>
          <a:xfrm>
            <a:off x="328320" y="1599840"/>
            <a:ext cx="2686680" cy="89388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  <a:effectLst>
            <a:outerShdw blurRad="101520" dist="25455" dir="81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89" name="Shape 458"/>
          <p:cNvSpPr/>
          <p:nvPr/>
        </p:nvSpPr>
        <p:spPr>
          <a:xfrm>
            <a:off x="328680" y="1599480"/>
            <a:ext cx="52920" cy="894240"/>
          </a:xfrm>
          <a:prstGeom prst="rect">
            <a:avLst/>
          </a:prstGeom>
          <a:solidFill>
            <a:srgbClr val="2563EB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90" name="Text 609"/>
          <p:cNvSpPr/>
          <p:nvPr/>
        </p:nvSpPr>
        <p:spPr>
          <a:xfrm>
            <a:off x="438480" y="1654560"/>
            <a:ext cx="2539800" cy="12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86">
                <a:solidFill>
                  <a:srgbClr val="2563EB"/>
                </a:solidFill>
                <a:latin typeface="Courier New"/>
                <a:ea typeface="Courier New"/>
              </a:rPr>
              <a:t>ROLE IN RESONANCE</a:t>
            </a:r>
            <a:endParaRPr lang="en-U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Text 610"/>
          <p:cNvSpPr/>
          <p:nvPr/>
        </p:nvSpPr>
        <p:spPr>
          <a:xfrm>
            <a:off x="438480" y="1801080"/>
            <a:ext cx="2539800" cy="61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99"/>
              </a:spcAft>
              <a:tabLst>
                <a:tab pos="0" algn="l"/>
              </a:tabLst>
            </a:pPr>
            <a:r>
              <a:rPr lang="en-US" sz="800" b="1" strike="noStrike" spc="-1">
                <a:solidFill>
                  <a:srgbClr val="2563EB"/>
                </a:solidFill>
                <a:latin typeface="Calibri"/>
                <a:ea typeface="Calibri"/>
              </a:rPr>
              <a:t>▸ </a:t>
            </a:r>
            <a:r>
              <a:rPr lang="en-US" sz="800" b="0" strike="noStrike" spc="-1">
                <a:solidFill>
                  <a:srgbClr val="374151"/>
                </a:solidFill>
                <a:latin typeface="Calibri"/>
                <a:ea typeface="Calibri"/>
              </a:rPr>
              <a:t>Runs ConvAutoencoder inference on spectrograms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9"/>
              </a:spcAft>
              <a:tabLst>
                <a:tab pos="0" algn="l"/>
              </a:tabLst>
            </a:pPr>
            <a:r>
              <a:rPr lang="en-US" sz="800" b="1" strike="noStrike" spc="-1">
                <a:solidFill>
                  <a:srgbClr val="2563EB"/>
                </a:solidFill>
                <a:latin typeface="Calibri"/>
                <a:ea typeface="Calibri"/>
              </a:rPr>
              <a:t>▸ </a:t>
            </a:r>
            <a:r>
              <a:rPr lang="en-US" sz="800" b="0" strike="noStrike" spc="-1">
                <a:solidFill>
                  <a:srgbClr val="374151"/>
                </a:solidFill>
                <a:latin typeface="Calibri"/>
                <a:ea typeface="Calibri"/>
              </a:rPr>
              <a:t>4–5ms anomaly detection latency per sample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9"/>
              </a:spcAft>
              <a:tabLst>
                <a:tab pos="0" algn="l"/>
              </a:tabLst>
            </a:pPr>
            <a:r>
              <a:rPr lang="en-US" sz="800" b="1" strike="noStrike" spc="-1">
                <a:solidFill>
                  <a:srgbClr val="2563EB"/>
                </a:solidFill>
                <a:latin typeface="Calibri"/>
                <a:ea typeface="Calibri"/>
              </a:rPr>
              <a:t>▸ </a:t>
            </a:r>
            <a:r>
              <a:rPr lang="en-US" sz="800" b="0" strike="noStrike" spc="-1">
                <a:solidFill>
                  <a:srgbClr val="374151"/>
                </a:solidFill>
                <a:latin typeface="Calibri"/>
                <a:ea typeface="Calibri"/>
              </a:rPr>
              <a:t>Serves 50 sensor nodes simultaneously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9"/>
              </a:spcAft>
              <a:tabLst>
                <a:tab pos="0" algn="l"/>
              </a:tabLst>
            </a:pPr>
            <a:r>
              <a:rPr lang="en-US" sz="800" b="1" strike="noStrike" spc="-1">
                <a:solidFill>
                  <a:srgbClr val="2563EB"/>
                </a:solidFill>
                <a:latin typeface="Calibri"/>
                <a:ea typeface="Calibri"/>
              </a:rPr>
              <a:t>▸ </a:t>
            </a:r>
            <a:r>
              <a:rPr lang="en-US" sz="800" b="0" strike="noStrike" spc="-1">
                <a:solidFill>
                  <a:srgbClr val="374151"/>
                </a:solidFill>
                <a:latin typeface="Calibri"/>
                <a:ea typeface="Calibri"/>
              </a:rPr>
              <a:t>15–28W TDP — always-on industrial deployment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Shape 459"/>
          <p:cNvSpPr/>
          <p:nvPr/>
        </p:nvSpPr>
        <p:spPr>
          <a:xfrm>
            <a:off x="328320" y="2568960"/>
            <a:ext cx="2686680" cy="692640"/>
          </a:xfrm>
          <a:prstGeom prst="rect">
            <a:avLst/>
          </a:prstGeom>
          <a:solidFill>
            <a:srgbClr val="1A1A1A"/>
          </a:solidFill>
          <a:ln w="12600">
            <a:solidFill>
              <a:srgbClr val="1A1A1A"/>
            </a:solidFill>
            <a:round/>
          </a:ln>
          <a:effectLst>
            <a:outerShdw blurRad="101520" dist="25455" dir="81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93" name="Text 611"/>
          <p:cNvSpPr/>
          <p:nvPr/>
        </p:nvSpPr>
        <p:spPr>
          <a:xfrm>
            <a:off x="402120" y="2632680"/>
            <a:ext cx="2612880" cy="12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86">
                <a:solidFill>
                  <a:srgbClr val="777777"/>
                </a:solidFill>
                <a:latin typeface="Courier New"/>
                <a:ea typeface="Courier New"/>
              </a:rPr>
              <a:t>AMD SOFTWARE USED</a:t>
            </a:r>
            <a:endParaRPr lang="en-U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Text 612"/>
          <p:cNvSpPr/>
          <p:nvPr/>
        </p:nvSpPr>
        <p:spPr>
          <a:xfrm>
            <a:off x="402120" y="2760840"/>
            <a:ext cx="2612880" cy="16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D4E33"/>
                </a:solidFill>
                <a:latin typeface="Calibri"/>
                <a:ea typeface="Calibri"/>
              </a:rPr>
              <a:t>Vitis™ AI Runtime + ONNX Runtime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Text 613"/>
          <p:cNvSpPr/>
          <p:nvPr/>
        </p:nvSpPr>
        <p:spPr>
          <a:xfrm>
            <a:off x="402120" y="2934360"/>
            <a:ext cx="261288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FFFFFF"/>
                </a:solidFill>
                <a:latin typeface="Courier New"/>
                <a:ea typeface="Courier New"/>
              </a:rPr>
              <a:t>Vitis AI Runtime</a:t>
            </a:r>
            <a:r>
              <a:rPr lang="en-US" sz="750" b="0" strike="noStrike" spc="-1">
                <a:solidFill>
                  <a:srgbClr val="BBBBBB"/>
                </a:solidFill>
                <a:latin typeface="Courier New"/>
                <a:ea typeface="Courier New"/>
              </a:rPr>
              <a:t> — NPU execution provider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FFFFFF"/>
                </a:solidFill>
                <a:latin typeface="Courier New"/>
                <a:ea typeface="Courier New"/>
              </a:rPr>
              <a:t>ONNX Runtime</a:t>
            </a:r>
            <a:r>
              <a:rPr lang="en-US" sz="750" b="0" strike="noStrike" spc="-1">
                <a:solidFill>
                  <a:srgbClr val="BBBBBB"/>
                </a:solidFill>
                <a:latin typeface="Courier New"/>
                <a:ea typeface="Courier New"/>
              </a:rPr>
              <a:t> — Vitis AI EP for inference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-1">
                <a:solidFill>
                  <a:srgbClr val="FFFFFF"/>
                </a:solidFill>
                <a:latin typeface="Courier New"/>
                <a:ea typeface="Courier New"/>
              </a:rPr>
              <a:t>AMD NPU Driver Stack</a:t>
            </a:r>
            <a:r>
              <a:rPr lang="en-US" sz="750" b="0" strike="noStrike" spc="-1">
                <a:solidFill>
                  <a:srgbClr val="BBBBBB"/>
                </a:solidFill>
                <a:latin typeface="Courier New"/>
                <a:ea typeface="Courier New"/>
              </a:rPr>
              <a:t> — XDNA management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Shape 460"/>
          <p:cNvSpPr/>
          <p:nvPr/>
        </p:nvSpPr>
        <p:spPr>
          <a:xfrm>
            <a:off x="328320" y="3336840"/>
            <a:ext cx="2686680" cy="78408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  <a:effectLst>
            <a:outerShdw blurRad="101520" dist="25455" dir="81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97" name="Shape 461"/>
          <p:cNvSpPr/>
          <p:nvPr/>
        </p:nvSpPr>
        <p:spPr>
          <a:xfrm>
            <a:off x="328680" y="3336840"/>
            <a:ext cx="52920" cy="784440"/>
          </a:xfrm>
          <a:prstGeom prst="rect">
            <a:avLst/>
          </a:prstGeom>
          <a:solidFill>
            <a:srgbClr val="2563EB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98" name="Text 614"/>
          <p:cNvSpPr/>
          <p:nvPr/>
        </p:nvSpPr>
        <p:spPr>
          <a:xfrm>
            <a:off x="438480" y="3391560"/>
            <a:ext cx="2612880" cy="12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86">
                <a:solidFill>
                  <a:srgbClr val="2563EB"/>
                </a:solidFill>
                <a:latin typeface="Courier New"/>
                <a:ea typeface="Courier New"/>
              </a:rPr>
              <a:t>WHY AMD vs ALTERNATIVES</a:t>
            </a:r>
            <a:endParaRPr lang="en-U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Text 615"/>
          <p:cNvSpPr/>
          <p:nvPr/>
        </p:nvSpPr>
        <p:spPr>
          <a:xfrm>
            <a:off x="438480" y="3574440"/>
            <a:ext cx="656640" cy="12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6B7280"/>
                </a:solidFill>
                <a:latin typeface="Courier New"/>
                <a:ea typeface="Courier New"/>
              </a:rPr>
              <a:t>Ryzen AI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462"/>
          <p:cNvSpPr/>
          <p:nvPr/>
        </p:nvSpPr>
        <p:spPr>
          <a:xfrm>
            <a:off x="1115280" y="3592800"/>
            <a:ext cx="1497960" cy="90000"/>
          </a:xfrm>
          <a:prstGeom prst="rect">
            <a:avLst/>
          </a:prstGeom>
          <a:solidFill>
            <a:srgbClr val="E5E7EB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01" name="Shape 463"/>
          <p:cNvSpPr/>
          <p:nvPr/>
        </p:nvSpPr>
        <p:spPr>
          <a:xfrm>
            <a:off x="1115280" y="3592800"/>
            <a:ext cx="1347840" cy="9000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02" name="Text 616"/>
          <p:cNvSpPr/>
          <p:nvPr/>
        </p:nvSpPr>
        <p:spPr>
          <a:xfrm>
            <a:off x="2468160" y="3574440"/>
            <a:ext cx="510120" cy="12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-1">
                <a:solidFill>
                  <a:srgbClr val="ED4E33"/>
                </a:solidFill>
                <a:latin typeface="Courier New"/>
                <a:ea typeface="Courier New"/>
              </a:rPr>
              <a:t>50 TOPS ✓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Text 617"/>
          <p:cNvSpPr/>
          <p:nvPr/>
        </p:nvSpPr>
        <p:spPr>
          <a:xfrm>
            <a:off x="438480" y="3748320"/>
            <a:ext cx="656640" cy="12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6B7280"/>
                </a:solidFill>
                <a:latin typeface="Courier New"/>
                <a:ea typeface="Courier New"/>
              </a:rPr>
              <a:t>Jetson Orin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Shape 464"/>
          <p:cNvSpPr/>
          <p:nvPr/>
        </p:nvSpPr>
        <p:spPr>
          <a:xfrm>
            <a:off x="1115280" y="3766320"/>
            <a:ext cx="1497960" cy="90000"/>
          </a:xfrm>
          <a:prstGeom prst="rect">
            <a:avLst/>
          </a:prstGeom>
          <a:solidFill>
            <a:srgbClr val="E5E7EB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05" name="Shape 465"/>
          <p:cNvSpPr/>
          <p:nvPr/>
        </p:nvSpPr>
        <p:spPr>
          <a:xfrm>
            <a:off x="1115280" y="3766320"/>
            <a:ext cx="777960" cy="90000"/>
          </a:xfrm>
          <a:prstGeom prst="rect">
            <a:avLst/>
          </a:prstGeom>
          <a:solidFill>
            <a:srgbClr val="555555"/>
          </a:solidFill>
          <a:ln w="12600">
            <a:solidFill>
              <a:srgbClr val="5555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06" name="Text 618"/>
          <p:cNvSpPr/>
          <p:nvPr/>
        </p:nvSpPr>
        <p:spPr>
          <a:xfrm>
            <a:off x="2504160" y="3748320"/>
            <a:ext cx="510120" cy="12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9CA3AF"/>
                </a:solidFill>
                <a:latin typeface="Courier New"/>
                <a:ea typeface="Courier New"/>
              </a:rPr>
              <a:t>ARM only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Text 619"/>
          <p:cNvSpPr/>
          <p:nvPr/>
        </p:nvSpPr>
        <p:spPr>
          <a:xfrm>
            <a:off x="438480" y="3921840"/>
            <a:ext cx="656640" cy="12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6B7280"/>
                </a:solidFill>
                <a:latin typeface="Courier New"/>
                <a:ea typeface="Courier New"/>
              </a:rPr>
              <a:t>Core Ultra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Shape 466"/>
          <p:cNvSpPr/>
          <p:nvPr/>
        </p:nvSpPr>
        <p:spPr>
          <a:xfrm>
            <a:off x="1115280" y="3940200"/>
            <a:ext cx="1497960" cy="90000"/>
          </a:xfrm>
          <a:prstGeom prst="rect">
            <a:avLst/>
          </a:prstGeom>
          <a:solidFill>
            <a:srgbClr val="E5E7EB"/>
          </a:solidFill>
          <a:ln w="126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09" name="Shape 467"/>
          <p:cNvSpPr/>
          <p:nvPr/>
        </p:nvSpPr>
        <p:spPr>
          <a:xfrm>
            <a:off x="1115280" y="3940200"/>
            <a:ext cx="568080" cy="90000"/>
          </a:xfrm>
          <a:prstGeom prst="rect">
            <a:avLst/>
          </a:prstGeom>
          <a:solidFill>
            <a:srgbClr val="888888"/>
          </a:solidFill>
          <a:ln w="12600">
            <a:solidFill>
              <a:srgbClr val="8888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10" name="Text 620"/>
          <p:cNvSpPr/>
          <p:nvPr/>
        </p:nvSpPr>
        <p:spPr>
          <a:xfrm>
            <a:off x="2504160" y="3921840"/>
            <a:ext cx="510120" cy="12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9CA3AF"/>
                </a:solidFill>
                <a:latin typeface="Courier New"/>
                <a:ea typeface="Courier New"/>
              </a:rPr>
              <a:t>No Vitis AI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Shape 468"/>
          <p:cNvSpPr/>
          <p:nvPr/>
        </p:nvSpPr>
        <p:spPr>
          <a:xfrm>
            <a:off x="3300120" y="1599840"/>
            <a:ext cx="2686680" cy="6609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  <a:effectLst>
            <a:outerShdw blurRad="101520" dist="25455" dir="81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12" name="Shape 469"/>
          <p:cNvSpPr/>
          <p:nvPr/>
        </p:nvSpPr>
        <p:spPr>
          <a:xfrm>
            <a:off x="3300120" y="1599480"/>
            <a:ext cx="52920" cy="66132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13" name="Text 621"/>
          <p:cNvSpPr/>
          <p:nvPr/>
        </p:nvSpPr>
        <p:spPr>
          <a:xfrm>
            <a:off x="3409920" y="1636560"/>
            <a:ext cx="2539800" cy="13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66">
                <a:solidFill>
                  <a:srgbClr val="ED4E33"/>
                </a:solidFill>
                <a:latin typeface="Courier New"/>
                <a:ea typeface="Courier New"/>
              </a:rPr>
              <a:t>VITIS™ AI RUNTIME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Text 622"/>
          <p:cNvSpPr/>
          <p:nvPr/>
        </p:nvSpPr>
        <p:spPr>
          <a:xfrm>
            <a:off x="3409920" y="1773720"/>
            <a:ext cx="2539800" cy="441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ED4E33"/>
                </a:solidFill>
                <a:latin typeface="Calibri"/>
                <a:ea typeface="Calibri"/>
              </a:rPr>
              <a:t>▸ </a:t>
            </a:r>
            <a:r>
              <a:rPr lang="en-US" sz="800" b="0" strike="noStrike" spc="-1">
                <a:solidFill>
                  <a:srgbClr val="374151"/>
                </a:solidFill>
                <a:latin typeface="Calibri"/>
                <a:ea typeface="Calibri"/>
              </a:rPr>
              <a:t>ONNX execution provider for XDNA NPU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ED4E33"/>
                </a:solidFill>
                <a:latin typeface="Calibri"/>
                <a:ea typeface="Calibri"/>
              </a:rPr>
              <a:t>▸ </a:t>
            </a:r>
            <a:r>
              <a:rPr lang="en-US" sz="800" b="0" strike="noStrike" spc="-1">
                <a:solidFill>
                  <a:srgbClr val="374151"/>
                </a:solidFill>
                <a:latin typeface="Calibri"/>
                <a:ea typeface="Calibri"/>
              </a:rPr>
              <a:t>Hardware-accelerated, deterministic inference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ED4E33"/>
                </a:solidFill>
                <a:latin typeface="Calibri"/>
                <a:ea typeface="Calibri"/>
              </a:rPr>
              <a:t>▸ </a:t>
            </a:r>
            <a:r>
              <a:rPr lang="en-US" sz="800" b="0" strike="noStrike" spc="-1">
                <a:solidFill>
                  <a:srgbClr val="374151"/>
                </a:solidFill>
                <a:latin typeface="Calibri"/>
                <a:ea typeface="Calibri"/>
              </a:rPr>
              <a:t>Sub-5ms latency per spectrogram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Shape 470"/>
          <p:cNvSpPr/>
          <p:nvPr/>
        </p:nvSpPr>
        <p:spPr>
          <a:xfrm>
            <a:off x="3300120" y="2354400"/>
            <a:ext cx="2686680" cy="5007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  <a:effectLst>
            <a:outerShdw blurRad="101520" dist="25455" dir="81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16" name="Shape 471"/>
          <p:cNvSpPr/>
          <p:nvPr/>
        </p:nvSpPr>
        <p:spPr>
          <a:xfrm>
            <a:off x="3300120" y="2354040"/>
            <a:ext cx="52920" cy="501120"/>
          </a:xfrm>
          <a:prstGeom prst="rect">
            <a:avLst/>
          </a:prstGeom>
          <a:solidFill>
            <a:srgbClr val="7C3AED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17" name="Text 623"/>
          <p:cNvSpPr/>
          <p:nvPr/>
        </p:nvSpPr>
        <p:spPr>
          <a:xfrm>
            <a:off x="3409920" y="2390400"/>
            <a:ext cx="2539800" cy="13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66">
                <a:solidFill>
                  <a:srgbClr val="7C3AED"/>
                </a:solidFill>
                <a:latin typeface="Courier New"/>
                <a:ea typeface="Courier New"/>
              </a:rPr>
              <a:t>ROCm  ·  OPTIONAL / ENTERPRISE UPGRADE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Text 624"/>
          <p:cNvSpPr/>
          <p:nvPr/>
        </p:nvSpPr>
        <p:spPr>
          <a:xfrm>
            <a:off x="3409920" y="2527560"/>
            <a:ext cx="2539800" cy="28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7C3AED"/>
                </a:solidFill>
                <a:latin typeface="Calibri"/>
                <a:ea typeface="Calibri"/>
              </a:rPr>
              <a:t>▸ </a:t>
            </a:r>
            <a:r>
              <a:rPr lang="en-US" sz="800" b="0" strike="noStrike" spc="-1">
                <a:solidFill>
                  <a:srgbClr val="374151"/>
                </a:solidFill>
                <a:latin typeface="Calibri"/>
                <a:ea typeface="Calibri"/>
              </a:rPr>
              <a:t>GPU compute fallback for batch analytics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7C3AED"/>
                </a:solidFill>
                <a:latin typeface="Calibri"/>
                <a:ea typeface="Calibri"/>
              </a:rPr>
              <a:t>▸ </a:t>
            </a:r>
            <a:r>
              <a:rPr lang="en-US" sz="800" b="0" strike="noStrike" spc="-1">
                <a:solidFill>
                  <a:srgbClr val="374151"/>
                </a:solidFill>
                <a:latin typeface="Calibri"/>
                <a:ea typeface="Calibri"/>
              </a:rPr>
              <a:t>Historical spectrogram batch reprocessing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Shape 472"/>
          <p:cNvSpPr/>
          <p:nvPr/>
        </p:nvSpPr>
        <p:spPr>
          <a:xfrm>
            <a:off x="3300120" y="2948760"/>
            <a:ext cx="2686680" cy="5007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  <a:effectLst>
            <a:outerShdw blurRad="101520" dist="25455" dir="81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20" name="Shape 473"/>
          <p:cNvSpPr/>
          <p:nvPr/>
        </p:nvSpPr>
        <p:spPr>
          <a:xfrm>
            <a:off x="3300120" y="2948400"/>
            <a:ext cx="52920" cy="50112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21" name="Text 625"/>
          <p:cNvSpPr/>
          <p:nvPr/>
        </p:nvSpPr>
        <p:spPr>
          <a:xfrm>
            <a:off x="3409920" y="2984760"/>
            <a:ext cx="2539800" cy="13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66">
                <a:solidFill>
                  <a:srgbClr val="0891B2"/>
                </a:solidFill>
                <a:latin typeface="Courier New"/>
                <a:ea typeface="Courier New"/>
              </a:rPr>
              <a:t>AMD uPROF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Text 626"/>
          <p:cNvSpPr/>
          <p:nvPr/>
        </p:nvSpPr>
        <p:spPr>
          <a:xfrm>
            <a:off x="3409920" y="3121920"/>
            <a:ext cx="2539800" cy="28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0891B2"/>
                </a:solidFill>
                <a:latin typeface="Calibri"/>
                <a:ea typeface="Calibri"/>
              </a:rPr>
              <a:t>▸ </a:t>
            </a:r>
            <a:r>
              <a:rPr lang="en-US" sz="800" b="0" strike="noStrike" spc="-1">
                <a:solidFill>
                  <a:srgbClr val="374151"/>
                </a:solidFill>
                <a:latin typeface="Calibri"/>
                <a:ea typeface="Calibri"/>
              </a:rPr>
              <a:t>Edge inference performance profiling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0891B2"/>
                </a:solidFill>
                <a:latin typeface="Calibri"/>
                <a:ea typeface="Calibri"/>
              </a:rPr>
              <a:t>▸ </a:t>
            </a:r>
            <a:r>
              <a:rPr lang="en-US" sz="800" b="0" strike="noStrike" spc="-1">
                <a:solidFill>
                  <a:srgbClr val="374151"/>
                </a:solidFill>
                <a:latin typeface="Calibri"/>
                <a:ea typeface="Calibri"/>
              </a:rPr>
              <a:t>NPU utilization &amp; latency monitoring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Shape 474"/>
          <p:cNvSpPr/>
          <p:nvPr/>
        </p:nvSpPr>
        <p:spPr>
          <a:xfrm>
            <a:off x="3300120" y="3542760"/>
            <a:ext cx="2686680" cy="734400"/>
          </a:xfrm>
          <a:prstGeom prst="rect">
            <a:avLst/>
          </a:prstGeom>
          <a:solidFill>
            <a:srgbClr val="1A1A1A"/>
          </a:solidFill>
          <a:ln w="12600">
            <a:solidFill>
              <a:srgbClr val="1A1A1A"/>
            </a:solidFill>
            <a:round/>
          </a:ln>
          <a:effectLst>
            <a:outerShdw blurRad="101520" dist="25455" dir="81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24" name="Text 627"/>
          <p:cNvSpPr/>
          <p:nvPr/>
        </p:nvSpPr>
        <p:spPr>
          <a:xfrm>
            <a:off x="3373920" y="3597480"/>
            <a:ext cx="2612880" cy="12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137">
                <a:solidFill>
                  <a:srgbClr val="666666"/>
                </a:solidFill>
                <a:latin typeface="Courier New"/>
                <a:ea typeface="Courier New"/>
              </a:rPr>
              <a:t>AMD SILICON DATA FLOW</a:t>
            </a:r>
            <a:endParaRPr lang="en-U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Shape 475"/>
          <p:cNvSpPr/>
          <p:nvPr/>
        </p:nvSpPr>
        <p:spPr>
          <a:xfrm>
            <a:off x="3336840" y="3780000"/>
            <a:ext cx="638640" cy="309240"/>
          </a:xfrm>
          <a:prstGeom prst="rect">
            <a:avLst/>
          </a:prstGeom>
          <a:solidFill>
            <a:srgbClr val="1E3A5F"/>
          </a:solidFill>
          <a:ln w="1908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26" name="Text 628"/>
          <p:cNvSpPr/>
          <p:nvPr/>
        </p:nvSpPr>
        <p:spPr>
          <a:xfrm>
            <a:off x="3336840" y="3807720"/>
            <a:ext cx="638280" cy="16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93C5FD"/>
                </a:solidFill>
                <a:latin typeface="Calibri"/>
                <a:ea typeface="Calibri"/>
              </a:rPr>
              <a:t>Pi Zero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Text 629"/>
          <p:cNvSpPr/>
          <p:nvPr/>
        </p:nvSpPr>
        <p:spPr>
          <a:xfrm>
            <a:off x="3336840" y="3944880"/>
            <a:ext cx="638280" cy="12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666666"/>
                </a:solidFill>
                <a:latin typeface="Courier New"/>
                <a:ea typeface="Courier New"/>
              </a:rPr>
              <a:t>DSP+ZMQ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Shape 476"/>
          <p:cNvSpPr/>
          <p:nvPr/>
        </p:nvSpPr>
        <p:spPr>
          <a:xfrm>
            <a:off x="4013640" y="3926520"/>
            <a:ext cx="181440" cy="16560"/>
          </a:xfrm>
          <a:prstGeom prst="rect">
            <a:avLst/>
          </a:prstGeom>
          <a:solidFill>
            <a:srgbClr val="2563EB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29" name="Text 630"/>
          <p:cNvSpPr/>
          <p:nvPr/>
        </p:nvSpPr>
        <p:spPr>
          <a:xfrm>
            <a:off x="4159080" y="3844080"/>
            <a:ext cx="162720" cy="18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2563EB"/>
                </a:solidFill>
                <a:latin typeface="Calibri"/>
                <a:ea typeface="Calibri"/>
              </a:rPr>
              <a:t>▶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Text 631"/>
          <p:cNvSpPr/>
          <p:nvPr/>
        </p:nvSpPr>
        <p:spPr>
          <a:xfrm>
            <a:off x="4013640" y="4051080"/>
            <a:ext cx="272520" cy="10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-1">
                <a:solidFill>
                  <a:schemeClr val="lt1"/>
                </a:solidFill>
                <a:latin typeface="Courier New"/>
                <a:ea typeface="Courier New"/>
              </a:rPr>
              <a:t>ZMQ PUB</a:t>
            </a:r>
            <a:endParaRPr lang="en-U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Shape 477"/>
          <p:cNvSpPr/>
          <p:nvPr/>
        </p:nvSpPr>
        <p:spPr>
          <a:xfrm>
            <a:off x="4323960" y="3780000"/>
            <a:ext cx="638640" cy="309240"/>
          </a:xfrm>
          <a:prstGeom prst="rect">
            <a:avLst/>
          </a:prstGeom>
          <a:solidFill>
            <a:srgbClr val="3D1A0A"/>
          </a:solidFill>
          <a:ln w="1908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32" name="Text 632"/>
          <p:cNvSpPr/>
          <p:nvPr/>
        </p:nvSpPr>
        <p:spPr>
          <a:xfrm>
            <a:off x="4324320" y="3807720"/>
            <a:ext cx="638280" cy="16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ED4E33"/>
                </a:solidFill>
                <a:latin typeface="Calibri"/>
                <a:ea typeface="Calibri"/>
              </a:rPr>
              <a:t>Ryzen AI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Text 633"/>
          <p:cNvSpPr/>
          <p:nvPr/>
        </p:nvSpPr>
        <p:spPr>
          <a:xfrm>
            <a:off x="4324320" y="3944880"/>
            <a:ext cx="638280" cy="12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666666"/>
                </a:solidFill>
                <a:latin typeface="Courier New"/>
                <a:ea typeface="Courier New"/>
              </a:rPr>
              <a:t>XDNA NPU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Shape 478"/>
          <p:cNvSpPr/>
          <p:nvPr/>
        </p:nvSpPr>
        <p:spPr>
          <a:xfrm>
            <a:off x="5001120" y="3926520"/>
            <a:ext cx="181440" cy="1656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6640" rIns="90000" bIns="-266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35" name="Text 634"/>
          <p:cNvSpPr/>
          <p:nvPr/>
        </p:nvSpPr>
        <p:spPr>
          <a:xfrm>
            <a:off x="5146920" y="3844080"/>
            <a:ext cx="162720" cy="18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ED4E33"/>
                </a:solidFill>
                <a:latin typeface="Calibri"/>
                <a:ea typeface="Calibri"/>
              </a:rPr>
              <a:t>▶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Text 635"/>
          <p:cNvSpPr/>
          <p:nvPr/>
        </p:nvSpPr>
        <p:spPr>
          <a:xfrm>
            <a:off x="5001120" y="4036680"/>
            <a:ext cx="272520" cy="10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-1">
                <a:solidFill>
                  <a:schemeClr val="lt1"/>
                </a:solidFill>
                <a:latin typeface="Courier New"/>
                <a:ea typeface="Courier New"/>
              </a:rPr>
              <a:t>JSON alert</a:t>
            </a:r>
            <a:endParaRPr lang="en-U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Shape 479"/>
          <p:cNvSpPr/>
          <p:nvPr/>
        </p:nvSpPr>
        <p:spPr>
          <a:xfrm>
            <a:off x="5311440" y="3780000"/>
            <a:ext cx="638640" cy="309240"/>
          </a:xfrm>
          <a:prstGeom prst="rect">
            <a:avLst/>
          </a:prstGeom>
          <a:solidFill>
            <a:srgbClr val="0A2E14"/>
          </a:solidFill>
          <a:ln w="1908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38" name="Text 636"/>
          <p:cNvSpPr/>
          <p:nvPr/>
        </p:nvSpPr>
        <p:spPr>
          <a:xfrm>
            <a:off x="5311800" y="3807720"/>
            <a:ext cx="638280" cy="16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4ADE80"/>
                </a:solidFill>
                <a:latin typeface="Calibri"/>
                <a:ea typeface="Calibri"/>
              </a:rPr>
              <a:t>Ryzen 5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Text 637"/>
          <p:cNvSpPr/>
          <p:nvPr/>
        </p:nvSpPr>
        <p:spPr>
          <a:xfrm>
            <a:off x="5311800" y="3944880"/>
            <a:ext cx="638280" cy="12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666666"/>
                </a:solidFill>
                <a:latin typeface="Courier New"/>
                <a:ea typeface="Courier New"/>
              </a:rPr>
              <a:t>Dashboard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480"/>
          <p:cNvSpPr/>
          <p:nvPr/>
        </p:nvSpPr>
        <p:spPr>
          <a:xfrm>
            <a:off x="6271560" y="1599840"/>
            <a:ext cx="2686680" cy="89388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  <a:effectLst>
            <a:outerShdw blurRad="101520" dist="25455" dir="81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1" name="Shape 481"/>
          <p:cNvSpPr/>
          <p:nvPr/>
        </p:nvSpPr>
        <p:spPr>
          <a:xfrm>
            <a:off x="6271920" y="1599480"/>
            <a:ext cx="52920" cy="894240"/>
          </a:xfrm>
          <a:prstGeom prst="rect">
            <a:avLst/>
          </a:prstGeom>
          <a:solidFill>
            <a:srgbClr val="16A34A"/>
          </a:solidFill>
          <a:ln w="126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42" name="Text 638"/>
          <p:cNvSpPr/>
          <p:nvPr/>
        </p:nvSpPr>
        <p:spPr>
          <a:xfrm>
            <a:off x="6381720" y="1654560"/>
            <a:ext cx="2539800" cy="12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86">
                <a:solidFill>
                  <a:srgbClr val="16A34A"/>
                </a:solidFill>
                <a:latin typeface="Courier New"/>
                <a:ea typeface="Courier New"/>
              </a:rPr>
              <a:t>ROLE IN RESONANCE</a:t>
            </a:r>
            <a:endParaRPr lang="en-U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Text 639"/>
          <p:cNvSpPr/>
          <p:nvPr/>
        </p:nvSpPr>
        <p:spPr>
          <a:xfrm>
            <a:off x="6381720" y="1801080"/>
            <a:ext cx="2539800" cy="61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99"/>
              </a:spcAft>
              <a:tabLst>
                <a:tab pos="0" algn="l"/>
              </a:tabLst>
            </a:pPr>
            <a:r>
              <a:rPr lang="en-US" sz="800" b="1" strike="noStrike" spc="-1">
                <a:solidFill>
                  <a:srgbClr val="16A34A"/>
                </a:solidFill>
                <a:latin typeface="Calibri"/>
                <a:ea typeface="Calibri"/>
              </a:rPr>
              <a:t>▸ </a:t>
            </a:r>
            <a:r>
              <a:rPr lang="en-US" sz="800" b="0" strike="noStrike" spc="-1">
                <a:solidFill>
                  <a:srgbClr val="374151"/>
                </a:solidFill>
                <a:latin typeface="Calibri"/>
                <a:ea typeface="Calibri"/>
              </a:rPr>
              <a:t>Aggregates anomaly data from all Tier 2 zones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9"/>
              </a:spcAft>
              <a:tabLst>
                <a:tab pos="0" algn="l"/>
              </a:tabLst>
            </a:pPr>
            <a:r>
              <a:rPr lang="en-US" sz="800" b="1" strike="noStrike" spc="-1">
                <a:solidFill>
                  <a:srgbClr val="16A34A"/>
                </a:solidFill>
                <a:latin typeface="Calibri"/>
                <a:ea typeface="Calibri"/>
              </a:rPr>
              <a:t>▸ </a:t>
            </a:r>
            <a:r>
              <a:rPr lang="en-US" sz="800" b="0" strike="noStrike" spc="-1">
                <a:solidFill>
                  <a:srgbClr val="374151"/>
                </a:solidFill>
                <a:latin typeface="Calibri"/>
                <a:ea typeface="Calibri"/>
              </a:rPr>
              <a:t>Hosts Node.js + React dashboard backend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9"/>
              </a:spcAft>
              <a:tabLst>
                <a:tab pos="0" algn="l"/>
              </a:tabLst>
            </a:pPr>
            <a:r>
              <a:rPr lang="en-US" sz="800" b="1" strike="noStrike" spc="-1">
                <a:solidFill>
                  <a:srgbClr val="16A34A"/>
                </a:solidFill>
                <a:latin typeface="Calibri"/>
                <a:ea typeface="Calibri"/>
              </a:rPr>
              <a:t>▸ </a:t>
            </a:r>
            <a:r>
              <a:rPr lang="en-US" sz="800" b="0" strike="noStrike" spc="-1">
                <a:solidFill>
                  <a:srgbClr val="374151"/>
                </a:solidFill>
                <a:latin typeface="Calibri"/>
                <a:ea typeface="Calibri"/>
              </a:rPr>
              <a:t>Stores historical vibration archives on NVMe SSD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9"/>
              </a:spcAft>
              <a:tabLst>
                <a:tab pos="0" algn="l"/>
              </a:tabLst>
            </a:pPr>
            <a:r>
              <a:rPr lang="en-US" sz="800" b="1" strike="noStrike" spc="-1">
                <a:solidFill>
                  <a:srgbClr val="16A34A"/>
                </a:solidFill>
                <a:latin typeface="Calibri"/>
                <a:ea typeface="Calibri"/>
              </a:rPr>
              <a:t>▸ </a:t>
            </a:r>
            <a:r>
              <a:rPr lang="en-US" sz="800" b="0" strike="noStrike" spc="-1">
                <a:solidFill>
                  <a:srgbClr val="374151"/>
                </a:solidFill>
                <a:latin typeface="Calibri"/>
                <a:ea typeface="Calibri"/>
              </a:rPr>
              <a:t>Triggers plant-level alerts — SMS, siren, email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482"/>
          <p:cNvSpPr/>
          <p:nvPr/>
        </p:nvSpPr>
        <p:spPr>
          <a:xfrm>
            <a:off x="6271560" y="2568960"/>
            <a:ext cx="2686680" cy="692640"/>
          </a:xfrm>
          <a:prstGeom prst="rect">
            <a:avLst/>
          </a:prstGeom>
          <a:solidFill>
            <a:srgbClr val="1A1A1A"/>
          </a:solidFill>
          <a:ln w="12600">
            <a:solidFill>
              <a:srgbClr val="1A1A1A"/>
            </a:solidFill>
            <a:round/>
          </a:ln>
          <a:effectLst>
            <a:outerShdw blurRad="101520" dist="25455" dir="81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45" name="Text 640"/>
          <p:cNvSpPr/>
          <p:nvPr/>
        </p:nvSpPr>
        <p:spPr>
          <a:xfrm>
            <a:off x="6345360" y="2632680"/>
            <a:ext cx="2612880" cy="12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86">
                <a:solidFill>
                  <a:srgbClr val="777777"/>
                </a:solidFill>
                <a:latin typeface="Courier New"/>
                <a:ea typeface="Courier New"/>
              </a:rPr>
              <a:t>AMD HARDWARE</a:t>
            </a:r>
            <a:endParaRPr lang="en-U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Text 641"/>
          <p:cNvSpPr/>
          <p:nvPr/>
        </p:nvSpPr>
        <p:spPr>
          <a:xfrm>
            <a:off x="6345360" y="2760840"/>
            <a:ext cx="2612880" cy="16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4ADE80"/>
                </a:solidFill>
                <a:latin typeface="Calibri"/>
                <a:ea typeface="Calibri"/>
              </a:rPr>
              <a:t>Ryzen 5 7530U Mini PC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Text 642"/>
          <p:cNvSpPr/>
          <p:nvPr/>
        </p:nvSpPr>
        <p:spPr>
          <a:xfrm>
            <a:off x="6345360" y="2934360"/>
            <a:ext cx="261288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BBBBBB"/>
                </a:solidFill>
                <a:latin typeface="Arial"/>
                <a:ea typeface="DejaVu Sans"/>
              </a:rPr>
              <a:t>6-core / 12-thread  —  Zen 3 architecture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BBBBBB"/>
                </a:solidFill>
                <a:latin typeface="Arial"/>
                <a:ea typeface="DejaVu Sans"/>
              </a:rPr>
              <a:t>16GB DDR4  —  dashboard + ZMQ relay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strike="noStrike" spc="-1">
                <a:solidFill>
                  <a:srgbClr val="BBBBBB"/>
                </a:solidFill>
                <a:latin typeface="Arial"/>
                <a:ea typeface="DejaVu Sans"/>
              </a:rPr>
              <a:t>256GB NVMe SSD  —  vibration archive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Shape 483"/>
          <p:cNvSpPr/>
          <p:nvPr/>
        </p:nvSpPr>
        <p:spPr>
          <a:xfrm>
            <a:off x="6271560" y="3336840"/>
            <a:ext cx="2686680" cy="78408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  <a:effectLst>
            <a:outerShdw blurRad="101520" dist="25455" dir="81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9" name="Shape 484"/>
          <p:cNvSpPr/>
          <p:nvPr/>
        </p:nvSpPr>
        <p:spPr>
          <a:xfrm>
            <a:off x="6271920" y="3336840"/>
            <a:ext cx="52920" cy="784440"/>
          </a:xfrm>
          <a:prstGeom prst="rect">
            <a:avLst/>
          </a:prstGeom>
          <a:solidFill>
            <a:srgbClr val="16A34A"/>
          </a:solidFill>
          <a:ln w="126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50" name="Text 643"/>
          <p:cNvSpPr/>
          <p:nvPr/>
        </p:nvSpPr>
        <p:spPr>
          <a:xfrm>
            <a:off x="6381720" y="3391560"/>
            <a:ext cx="2612880" cy="12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86">
                <a:solidFill>
                  <a:srgbClr val="16A34A"/>
                </a:solidFill>
                <a:latin typeface="Courier New"/>
                <a:ea typeface="Courier New"/>
              </a:rPr>
              <a:t>WHY SEPARATE MASTER NODE</a:t>
            </a:r>
            <a:endParaRPr lang="en-U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Text 644"/>
          <p:cNvSpPr/>
          <p:nvPr/>
        </p:nvSpPr>
        <p:spPr>
          <a:xfrm>
            <a:off x="6381720" y="3556080"/>
            <a:ext cx="2539800" cy="51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99"/>
              </a:spcAft>
              <a:tabLst>
                <a:tab pos="0" algn="l"/>
              </a:tabLst>
            </a:pPr>
            <a:r>
              <a:rPr lang="en-US" sz="750" b="0" strike="noStrike" spc="-1">
                <a:solidFill>
                  <a:srgbClr val="069A2E"/>
                </a:solidFill>
                <a:latin typeface="Calibri"/>
                <a:ea typeface="DejaVu Sans"/>
              </a:rPr>
              <a:t>▸</a:t>
            </a:r>
            <a:r>
              <a:rPr lang="en-US" sz="750" b="0" strike="noStrike" spc="-1">
                <a:solidFill>
                  <a:srgbClr val="1C1C1C"/>
                </a:solidFill>
                <a:latin typeface="Calibri"/>
                <a:ea typeface="DejaVu Sans"/>
              </a:rPr>
              <a:t> Dashboard isolation  — dedicated UI + relay compute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9"/>
              </a:spcAft>
              <a:tabLst>
                <a:tab pos="0" algn="l"/>
              </a:tabLst>
            </a:pPr>
            <a:r>
              <a:rPr lang="en-US" sz="750" b="0" strike="noStrike" spc="-1">
                <a:solidFill>
                  <a:srgbClr val="069A2E"/>
                </a:solidFill>
                <a:latin typeface="Calibri"/>
                <a:ea typeface="DejaVu Sans"/>
              </a:rPr>
              <a:t>▸ </a:t>
            </a:r>
            <a:r>
              <a:rPr lang="en-US" sz="750" b="0" strike="noStrike" spc="-1">
                <a:solidFill>
                  <a:srgbClr val="1C1C1C"/>
                </a:solidFill>
                <a:latin typeface="Calibri"/>
                <a:ea typeface="DejaVu Sans"/>
              </a:rPr>
              <a:t>Always-on ZMQ relay  — independent from inference node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9"/>
              </a:spcAft>
              <a:tabLst>
                <a:tab pos="0" algn="l"/>
              </a:tabLst>
            </a:pPr>
            <a:r>
              <a:rPr lang="en-US" sz="750" b="0" strike="noStrike" spc="-1">
                <a:solidFill>
                  <a:srgbClr val="069A2E"/>
                </a:solidFill>
                <a:latin typeface="Calibri"/>
                <a:ea typeface="DejaVu Sans"/>
              </a:rPr>
              <a:t>▸ </a:t>
            </a:r>
            <a:r>
              <a:rPr lang="en-US" sz="750" b="0" strike="noStrike" spc="-1">
                <a:solidFill>
                  <a:srgbClr val="1C1C1C"/>
                </a:solidFill>
                <a:latin typeface="Calibri"/>
                <a:ea typeface="DejaVu Sans"/>
              </a:rPr>
              <a:t>Fault isolation  — NPU failure won't kill dashboard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9"/>
              </a:spcAft>
              <a:tabLst>
                <a:tab pos="0" algn="l"/>
              </a:tabLst>
            </a:pPr>
            <a:r>
              <a:rPr lang="en-US" sz="750" b="1" strike="noStrike" spc="-1">
                <a:solidFill>
                  <a:srgbClr val="66BB88"/>
                </a:solidFill>
                <a:latin typeface="Arial"/>
                <a:ea typeface="DejaVu Sans"/>
              </a:rPr>
              <a:t>▸ EPYC recommended for multi-factory  ·  50+ zones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Shape 485"/>
          <p:cNvSpPr/>
          <p:nvPr/>
        </p:nvSpPr>
        <p:spPr>
          <a:xfrm>
            <a:off x="360" y="4425120"/>
            <a:ext cx="9141840" cy="309240"/>
          </a:xfrm>
          <a:prstGeom prst="rect">
            <a:avLst/>
          </a:prstGeom>
          <a:solidFill>
            <a:srgbClr val="1A1A1A"/>
          </a:solidFill>
          <a:ln w="12600">
            <a:solidFill>
              <a:srgbClr val="1A1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53" name="Shape 486"/>
          <p:cNvSpPr/>
          <p:nvPr/>
        </p:nvSpPr>
        <p:spPr>
          <a:xfrm>
            <a:off x="255240" y="4479480"/>
            <a:ext cx="34920" cy="19944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54" name="Text 645"/>
          <p:cNvSpPr/>
          <p:nvPr/>
        </p:nvSpPr>
        <p:spPr>
          <a:xfrm>
            <a:off x="383760" y="4470480"/>
            <a:ext cx="8410320" cy="21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ED4E33"/>
                </a:solidFill>
                <a:latin typeface="Calibri"/>
                <a:ea typeface="Calibri"/>
              </a:rPr>
              <a:t>AMD silicon appears exactly where performance matters</a:t>
            </a:r>
            <a:r>
              <a:rPr lang="en-US" sz="850" b="0" strike="noStrike" spc="-1">
                <a:solidFill>
                  <a:srgbClr val="CCCCCC"/>
                </a:solidFill>
                <a:latin typeface="Calibri"/>
                <a:ea typeface="Calibri"/>
              </a:rPr>
              <a:t> — inference (Ryzen AI NPU) and aggregation (Ryzen 5 Edge) — EPYC reserved for multi-factory enterprise scale.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Shape 487"/>
          <p:cNvSpPr/>
          <p:nvPr/>
        </p:nvSpPr>
        <p:spPr>
          <a:xfrm>
            <a:off x="360" y="4744800"/>
            <a:ext cx="9141840" cy="299880"/>
          </a:xfrm>
          <a:prstGeom prst="rect">
            <a:avLst/>
          </a:prstGeom>
          <a:solidFill>
            <a:srgbClr val="111111"/>
          </a:solidFill>
          <a:ln w="1260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56" name="Text 646"/>
          <p:cNvSpPr/>
          <p:nvPr/>
        </p:nvSpPr>
        <p:spPr>
          <a:xfrm>
            <a:off x="0" y="4772160"/>
            <a:ext cx="1522080" cy="14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ourier New"/>
                <a:ea typeface="Courier New"/>
              </a:rPr>
              <a:t>50 TOPS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Text 647"/>
          <p:cNvSpPr/>
          <p:nvPr/>
        </p:nvSpPr>
        <p:spPr>
          <a:xfrm>
            <a:off x="0" y="4909320"/>
            <a:ext cx="1522080" cy="10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66">
                <a:solidFill>
                  <a:srgbClr val="666666"/>
                </a:solidFill>
                <a:latin typeface="Courier New"/>
                <a:ea typeface="Courier New"/>
              </a:rPr>
              <a:t>XDNA NPU</a:t>
            </a:r>
            <a:endParaRPr lang="en-U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Shape 488"/>
          <p:cNvSpPr/>
          <p:nvPr/>
        </p:nvSpPr>
        <p:spPr>
          <a:xfrm>
            <a:off x="1523520" y="4781160"/>
            <a:ext cx="4680" cy="227160"/>
          </a:xfrm>
          <a:prstGeom prst="rect">
            <a:avLst/>
          </a:prstGeom>
          <a:solidFill>
            <a:srgbClr val="333333"/>
          </a:solidFill>
          <a:ln w="1260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59" name="Text 648"/>
          <p:cNvSpPr/>
          <p:nvPr/>
        </p:nvSpPr>
        <p:spPr>
          <a:xfrm>
            <a:off x="1523520" y="4772160"/>
            <a:ext cx="1522080" cy="14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ourier New"/>
                <a:ea typeface="Courier New"/>
              </a:rPr>
              <a:t>4.7ms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Text 649"/>
          <p:cNvSpPr/>
          <p:nvPr/>
        </p:nvSpPr>
        <p:spPr>
          <a:xfrm>
            <a:off x="1523520" y="4909320"/>
            <a:ext cx="1522080" cy="10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66">
                <a:solidFill>
                  <a:srgbClr val="666666"/>
                </a:solidFill>
                <a:latin typeface="Courier New"/>
                <a:ea typeface="Courier New"/>
              </a:rPr>
              <a:t>NPU INFERENCE</a:t>
            </a:r>
            <a:endParaRPr lang="en-U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Shape 489"/>
          <p:cNvSpPr/>
          <p:nvPr/>
        </p:nvSpPr>
        <p:spPr>
          <a:xfrm>
            <a:off x="3047400" y="4781160"/>
            <a:ext cx="4680" cy="227160"/>
          </a:xfrm>
          <a:prstGeom prst="rect">
            <a:avLst/>
          </a:prstGeom>
          <a:solidFill>
            <a:srgbClr val="333333"/>
          </a:solidFill>
          <a:ln w="1260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62" name="Text 650"/>
          <p:cNvSpPr/>
          <p:nvPr/>
        </p:nvSpPr>
        <p:spPr>
          <a:xfrm>
            <a:off x="3047400" y="4772160"/>
            <a:ext cx="1522080" cy="14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ourier New"/>
                <a:ea typeface="Courier New"/>
              </a:rPr>
              <a:t>15–28W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Text 651"/>
          <p:cNvSpPr/>
          <p:nvPr/>
        </p:nvSpPr>
        <p:spPr>
          <a:xfrm>
            <a:off x="3047400" y="4909320"/>
            <a:ext cx="1522080" cy="10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66">
                <a:solidFill>
                  <a:srgbClr val="666666"/>
                </a:solidFill>
                <a:latin typeface="Courier New"/>
                <a:ea typeface="Courier New"/>
              </a:rPr>
              <a:t>EDGE TDP</a:t>
            </a:r>
            <a:endParaRPr lang="en-U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Shape 490"/>
          <p:cNvSpPr/>
          <p:nvPr/>
        </p:nvSpPr>
        <p:spPr>
          <a:xfrm>
            <a:off x="4571280" y="4781160"/>
            <a:ext cx="4680" cy="227160"/>
          </a:xfrm>
          <a:prstGeom prst="rect">
            <a:avLst/>
          </a:prstGeom>
          <a:solidFill>
            <a:srgbClr val="333333"/>
          </a:solidFill>
          <a:ln w="1260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65" name="Text 652"/>
          <p:cNvSpPr/>
          <p:nvPr/>
        </p:nvSpPr>
        <p:spPr>
          <a:xfrm>
            <a:off x="4571640" y="4772160"/>
            <a:ext cx="1522080" cy="14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ourier New"/>
                <a:ea typeface="Courier New"/>
              </a:rPr>
              <a:t>₹72,999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Text 653"/>
          <p:cNvSpPr/>
          <p:nvPr/>
        </p:nvSpPr>
        <p:spPr>
          <a:xfrm>
            <a:off x="4571640" y="4909320"/>
            <a:ext cx="1522080" cy="10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66">
                <a:solidFill>
                  <a:srgbClr val="666666"/>
                </a:solidFill>
                <a:latin typeface="Courier New"/>
                <a:ea typeface="Courier New"/>
              </a:rPr>
              <a:t>MASTER NODE</a:t>
            </a:r>
            <a:endParaRPr lang="en-U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Shape 491"/>
          <p:cNvSpPr/>
          <p:nvPr/>
        </p:nvSpPr>
        <p:spPr>
          <a:xfrm>
            <a:off x="6095160" y="4781160"/>
            <a:ext cx="4680" cy="227160"/>
          </a:xfrm>
          <a:prstGeom prst="rect">
            <a:avLst/>
          </a:prstGeom>
          <a:solidFill>
            <a:srgbClr val="333333"/>
          </a:solidFill>
          <a:ln w="1260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68" name="Text 654"/>
          <p:cNvSpPr/>
          <p:nvPr/>
        </p:nvSpPr>
        <p:spPr>
          <a:xfrm>
            <a:off x="6095160" y="4772160"/>
            <a:ext cx="1522080" cy="14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ourier New"/>
                <a:ea typeface="Courier New"/>
              </a:rPr>
              <a:t>x86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Text 655"/>
          <p:cNvSpPr/>
          <p:nvPr/>
        </p:nvSpPr>
        <p:spPr>
          <a:xfrm>
            <a:off x="6095160" y="4909320"/>
            <a:ext cx="1522080" cy="10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66">
                <a:solidFill>
                  <a:srgbClr val="666666"/>
                </a:solidFill>
                <a:latin typeface="Courier New"/>
                <a:ea typeface="Courier New"/>
              </a:rPr>
              <a:t>NO ARM REWRITE</a:t>
            </a:r>
            <a:endParaRPr lang="en-U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Shape 492"/>
          <p:cNvSpPr/>
          <p:nvPr/>
        </p:nvSpPr>
        <p:spPr>
          <a:xfrm>
            <a:off x="7619040" y="4781160"/>
            <a:ext cx="4680" cy="227160"/>
          </a:xfrm>
          <a:prstGeom prst="rect">
            <a:avLst/>
          </a:prstGeom>
          <a:solidFill>
            <a:srgbClr val="333333"/>
          </a:solidFill>
          <a:ln w="1260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71" name="Text 656"/>
          <p:cNvSpPr/>
          <p:nvPr/>
        </p:nvSpPr>
        <p:spPr>
          <a:xfrm>
            <a:off x="7619040" y="4772160"/>
            <a:ext cx="1522080" cy="14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ourier New"/>
                <a:ea typeface="Courier New"/>
              </a:rPr>
              <a:t>ZERO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Text 657"/>
          <p:cNvSpPr/>
          <p:nvPr/>
        </p:nvSpPr>
        <p:spPr>
          <a:xfrm>
            <a:off x="7619040" y="4909320"/>
            <a:ext cx="1522080" cy="10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strike="noStrike" spc="66">
                <a:solidFill>
                  <a:srgbClr val="666666"/>
                </a:solidFill>
                <a:latin typeface="Courier New"/>
                <a:ea typeface="Courier New"/>
              </a:rPr>
              <a:t>CLOUD DEPENDENCY</a:t>
            </a:r>
            <a:endParaRPr lang="en-US" sz="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Shape 493"/>
          <p:cNvSpPr/>
          <p:nvPr/>
        </p:nvSpPr>
        <p:spPr>
          <a:xfrm>
            <a:off x="360" y="5046480"/>
            <a:ext cx="9141840" cy="5292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774" name="Google Shape;130;p 2"/>
          <p:cNvPicPr/>
          <p:nvPr/>
        </p:nvPicPr>
        <p:blipFill>
          <a:blip r:embed="rId3"/>
          <a:srcRect b="89083"/>
          <a:stretch/>
        </p:blipFill>
        <p:spPr>
          <a:xfrm>
            <a:off x="0" y="0"/>
            <a:ext cx="9141480" cy="5594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Shape 321"/>
          <p:cNvSpPr/>
          <p:nvPr/>
        </p:nvSpPr>
        <p:spPr>
          <a:xfrm>
            <a:off x="73080" y="484047"/>
            <a:ext cx="1937880" cy="3785040"/>
          </a:xfrm>
          <a:prstGeom prst="rect">
            <a:avLst/>
          </a:prstGeom>
          <a:solidFill>
            <a:srgbClr val="0A0B10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82" name="Shape 322"/>
          <p:cNvSpPr/>
          <p:nvPr/>
        </p:nvSpPr>
        <p:spPr>
          <a:xfrm>
            <a:off x="73080" y="484047"/>
            <a:ext cx="1937880" cy="328320"/>
          </a:xfrm>
          <a:prstGeom prst="rect">
            <a:avLst/>
          </a:prstGeom>
          <a:solidFill>
            <a:srgbClr val="0F1D42"/>
          </a:solidFill>
          <a:ln w="12600">
            <a:solidFill>
              <a:srgbClr val="0F1D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83" name="Text 379"/>
          <p:cNvSpPr/>
          <p:nvPr/>
        </p:nvSpPr>
        <p:spPr>
          <a:xfrm>
            <a:off x="146160" y="511407"/>
            <a:ext cx="1809720" cy="15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Calibri"/>
              </a:rPr>
              <a:t>TIER 1 — SENSOR NODE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4" name="Text 380"/>
          <p:cNvSpPr/>
          <p:nvPr/>
        </p:nvSpPr>
        <p:spPr>
          <a:xfrm>
            <a:off x="146160" y="666927"/>
            <a:ext cx="180972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93C5FD"/>
                </a:solidFill>
                <a:latin typeface="Calibri"/>
                <a:ea typeface="Calibri"/>
              </a:rPr>
              <a:t>Per machine  ·  Pi Zero 2W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5" name="Shape 323"/>
          <p:cNvSpPr/>
          <p:nvPr/>
        </p:nvSpPr>
        <p:spPr>
          <a:xfrm>
            <a:off x="73080" y="831447"/>
            <a:ext cx="1937880" cy="163800"/>
          </a:xfrm>
          <a:prstGeom prst="rect">
            <a:avLst/>
          </a:prstGeom>
          <a:solidFill>
            <a:srgbClr val="0F1018"/>
          </a:solidFill>
          <a:ln w="3960">
            <a:solidFill>
              <a:srgbClr val="1E22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86" name="Text 381"/>
          <p:cNvSpPr/>
          <p:nvPr/>
        </p:nvSpPr>
        <p:spPr>
          <a:xfrm>
            <a:off x="128160" y="858807"/>
            <a:ext cx="891000" cy="10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1" strike="noStrike" spc="46">
                <a:solidFill>
                  <a:srgbClr val="6B7280"/>
                </a:solidFill>
                <a:latin typeface="Calibri"/>
                <a:ea typeface="Calibri"/>
              </a:rPr>
              <a:t>COMPONENT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7" name="Text 382"/>
          <p:cNvSpPr/>
          <p:nvPr/>
        </p:nvSpPr>
        <p:spPr>
          <a:xfrm>
            <a:off x="1001520" y="858807"/>
            <a:ext cx="600120" cy="10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1" strike="noStrike" spc="46">
                <a:solidFill>
                  <a:srgbClr val="6B7280"/>
                </a:solidFill>
                <a:latin typeface="Calibri"/>
                <a:ea typeface="Calibri"/>
              </a:rPr>
              <a:t>SPEC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8" name="Text 383"/>
          <p:cNvSpPr/>
          <p:nvPr/>
        </p:nvSpPr>
        <p:spPr>
          <a:xfrm>
            <a:off x="1584000" y="858807"/>
            <a:ext cx="445320" cy="10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1" strike="noStrike" spc="46">
                <a:solidFill>
                  <a:srgbClr val="6B7280"/>
                </a:solidFill>
                <a:latin typeface="Calibri"/>
                <a:ea typeface="Calibri"/>
              </a:rPr>
              <a:t>₹ COST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9" name="Shape 324"/>
          <p:cNvSpPr/>
          <p:nvPr/>
        </p:nvSpPr>
        <p:spPr>
          <a:xfrm>
            <a:off x="73080" y="995967"/>
            <a:ext cx="1937880" cy="25992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90" name="Shape 325"/>
          <p:cNvSpPr/>
          <p:nvPr/>
        </p:nvSpPr>
        <p:spPr>
          <a:xfrm>
            <a:off x="73080" y="995967"/>
            <a:ext cx="26640" cy="259920"/>
          </a:xfrm>
          <a:prstGeom prst="rect">
            <a:avLst/>
          </a:prstGeom>
          <a:solidFill>
            <a:srgbClr val="2563EB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91" name="Text 384"/>
          <p:cNvSpPr/>
          <p:nvPr/>
        </p:nvSpPr>
        <p:spPr>
          <a:xfrm>
            <a:off x="137160" y="103268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Raspberry Pi Zero 2W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2" name="Text 385"/>
          <p:cNvSpPr/>
          <p:nvPr/>
        </p:nvSpPr>
        <p:spPr>
          <a:xfrm>
            <a:off x="1001520" y="103268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Quad-core ARM @1GHz  512MB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3" name="Text 386"/>
          <p:cNvSpPr/>
          <p:nvPr/>
        </p:nvSpPr>
        <p:spPr>
          <a:xfrm>
            <a:off x="1584000" y="103268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93C5FD"/>
                </a:solidFill>
                <a:latin typeface="Calibri"/>
                <a:ea typeface="Calibri"/>
              </a:rPr>
              <a:t>₹1,299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4" name="Shape 326"/>
          <p:cNvSpPr/>
          <p:nvPr/>
        </p:nvSpPr>
        <p:spPr>
          <a:xfrm>
            <a:off x="73080" y="1256607"/>
            <a:ext cx="1937880" cy="259920"/>
          </a:xfrm>
          <a:prstGeom prst="rect">
            <a:avLst/>
          </a:prstGeom>
          <a:solidFill>
            <a:srgbClr val="0A0B11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95" name="Shape 327"/>
          <p:cNvSpPr/>
          <p:nvPr/>
        </p:nvSpPr>
        <p:spPr>
          <a:xfrm>
            <a:off x="73080" y="1256607"/>
            <a:ext cx="26640" cy="259920"/>
          </a:xfrm>
          <a:prstGeom prst="rect">
            <a:avLst/>
          </a:prstGeom>
          <a:solidFill>
            <a:srgbClr val="4B5563"/>
          </a:solidFill>
          <a:ln w="12600">
            <a:solidFill>
              <a:srgbClr val="4B556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96" name="Text 387"/>
          <p:cNvSpPr/>
          <p:nvPr/>
        </p:nvSpPr>
        <p:spPr>
          <a:xfrm>
            <a:off x="137160" y="129332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USB Audio Adapter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7" name="Text 388"/>
          <p:cNvSpPr/>
          <p:nvPr/>
        </p:nvSpPr>
        <p:spPr>
          <a:xfrm>
            <a:off x="1001520" y="129332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C-Media CM108  44.1kHz  TRRS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8" name="Text 389"/>
          <p:cNvSpPr/>
          <p:nvPr/>
        </p:nvSpPr>
        <p:spPr>
          <a:xfrm>
            <a:off x="1584000" y="129332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CD34D"/>
                </a:solidFill>
                <a:latin typeface="Calibri"/>
                <a:ea typeface="Calibri"/>
              </a:rPr>
              <a:t>₹299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9" name="Shape 328"/>
          <p:cNvSpPr/>
          <p:nvPr/>
        </p:nvSpPr>
        <p:spPr>
          <a:xfrm>
            <a:off x="73080" y="1517247"/>
            <a:ext cx="1937880" cy="25992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00" name="Shape 329"/>
          <p:cNvSpPr/>
          <p:nvPr/>
        </p:nvSpPr>
        <p:spPr>
          <a:xfrm>
            <a:off x="73080" y="1517247"/>
            <a:ext cx="26640" cy="25992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01" name="Text 390"/>
          <p:cNvSpPr/>
          <p:nvPr/>
        </p:nvSpPr>
        <p:spPr>
          <a:xfrm>
            <a:off x="137160" y="155360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Piezo Disc 35mm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2" name="Text 391"/>
          <p:cNvSpPr/>
          <p:nvPr/>
        </p:nvSpPr>
        <p:spPr>
          <a:xfrm>
            <a:off x="1001520" y="155360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PZT ceramic  35mm dia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3" name="Text 392"/>
          <p:cNvSpPr/>
          <p:nvPr/>
        </p:nvSpPr>
        <p:spPr>
          <a:xfrm>
            <a:off x="1584000" y="155360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CD34D"/>
                </a:solidFill>
                <a:latin typeface="Calibri"/>
                <a:ea typeface="Calibri"/>
              </a:rPr>
              <a:t>₹80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4" name="Shape 330"/>
          <p:cNvSpPr/>
          <p:nvPr/>
        </p:nvSpPr>
        <p:spPr>
          <a:xfrm>
            <a:off x="73080" y="1777887"/>
            <a:ext cx="1937880" cy="259920"/>
          </a:xfrm>
          <a:prstGeom prst="rect">
            <a:avLst/>
          </a:prstGeom>
          <a:solidFill>
            <a:srgbClr val="0A0B11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05" name="Shape 331"/>
          <p:cNvSpPr/>
          <p:nvPr/>
        </p:nvSpPr>
        <p:spPr>
          <a:xfrm>
            <a:off x="73080" y="1777887"/>
            <a:ext cx="26640" cy="259920"/>
          </a:xfrm>
          <a:prstGeom prst="rect">
            <a:avLst/>
          </a:prstGeom>
          <a:solidFill>
            <a:srgbClr val="374151"/>
          </a:solidFill>
          <a:ln w="1260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06" name="Text 393"/>
          <p:cNvSpPr/>
          <p:nvPr/>
        </p:nvSpPr>
        <p:spPr>
          <a:xfrm>
            <a:off x="137160" y="181424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1.2MΩ Bias Resistor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7" name="Text 394"/>
          <p:cNvSpPr/>
          <p:nvPr/>
        </p:nvSpPr>
        <p:spPr>
          <a:xfrm>
            <a:off x="1001520" y="181424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1/4W carbon film  ±5%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8" name="Text 395"/>
          <p:cNvSpPr/>
          <p:nvPr/>
        </p:nvSpPr>
        <p:spPr>
          <a:xfrm>
            <a:off x="1584000" y="181424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6B7280"/>
                </a:solidFill>
                <a:latin typeface="Calibri"/>
                <a:ea typeface="Calibri"/>
              </a:rPr>
              <a:t>₹2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9" name="Shape 332"/>
          <p:cNvSpPr/>
          <p:nvPr/>
        </p:nvSpPr>
        <p:spPr>
          <a:xfrm>
            <a:off x="73080" y="2038527"/>
            <a:ext cx="1937880" cy="25992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10" name="Shape 333"/>
          <p:cNvSpPr/>
          <p:nvPr/>
        </p:nvSpPr>
        <p:spPr>
          <a:xfrm>
            <a:off x="73080" y="2038527"/>
            <a:ext cx="26640" cy="259920"/>
          </a:xfrm>
          <a:prstGeom prst="rect">
            <a:avLst/>
          </a:prstGeom>
          <a:solidFill>
            <a:srgbClr val="374151"/>
          </a:solidFill>
          <a:ln w="1260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11" name="Text 396"/>
          <p:cNvSpPr/>
          <p:nvPr/>
        </p:nvSpPr>
        <p:spPr>
          <a:xfrm>
            <a:off x="137160" y="207488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1µF Cap (DC block)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2" name="Text 397"/>
          <p:cNvSpPr/>
          <p:nvPr/>
        </p:nvSpPr>
        <p:spPr>
          <a:xfrm>
            <a:off x="1001520" y="207488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25V electrolytic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3" name="Text 398"/>
          <p:cNvSpPr/>
          <p:nvPr/>
        </p:nvSpPr>
        <p:spPr>
          <a:xfrm>
            <a:off x="1584000" y="207488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6B7280"/>
                </a:solidFill>
                <a:latin typeface="Calibri"/>
                <a:ea typeface="Calibri"/>
              </a:rPr>
              <a:t>₹8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4" name="Shape 334"/>
          <p:cNvSpPr/>
          <p:nvPr/>
        </p:nvSpPr>
        <p:spPr>
          <a:xfrm>
            <a:off x="73080" y="2299167"/>
            <a:ext cx="1937880" cy="259920"/>
          </a:xfrm>
          <a:prstGeom prst="rect">
            <a:avLst/>
          </a:prstGeom>
          <a:solidFill>
            <a:srgbClr val="0A0B11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15" name="Shape 335"/>
          <p:cNvSpPr/>
          <p:nvPr/>
        </p:nvSpPr>
        <p:spPr>
          <a:xfrm>
            <a:off x="73080" y="2299167"/>
            <a:ext cx="26640" cy="259920"/>
          </a:xfrm>
          <a:prstGeom prst="rect">
            <a:avLst/>
          </a:prstGeom>
          <a:solidFill>
            <a:srgbClr val="16A34A"/>
          </a:solidFill>
          <a:ln w="126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16" name="Text 399"/>
          <p:cNvSpPr/>
          <p:nvPr/>
        </p:nvSpPr>
        <p:spPr>
          <a:xfrm>
            <a:off x="137160" y="233552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2N3819 JFET Buffer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7" name="Text 400"/>
          <p:cNvSpPr/>
          <p:nvPr/>
        </p:nvSpPr>
        <p:spPr>
          <a:xfrm>
            <a:off x="1001520" y="233552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N-ch TO-92  impedance ↑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8" name="Text 401"/>
          <p:cNvSpPr/>
          <p:nvPr/>
        </p:nvSpPr>
        <p:spPr>
          <a:xfrm>
            <a:off x="1584000" y="233552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86EFAC"/>
                </a:solidFill>
                <a:latin typeface="Calibri"/>
                <a:ea typeface="Calibri"/>
              </a:rPr>
              <a:t>₹20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9" name="Shape 336"/>
          <p:cNvSpPr/>
          <p:nvPr/>
        </p:nvSpPr>
        <p:spPr>
          <a:xfrm>
            <a:off x="73080" y="2559447"/>
            <a:ext cx="1937880" cy="25992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20" name="Shape 337"/>
          <p:cNvSpPr/>
          <p:nvPr/>
        </p:nvSpPr>
        <p:spPr>
          <a:xfrm>
            <a:off x="73080" y="2559447"/>
            <a:ext cx="26640" cy="259920"/>
          </a:xfrm>
          <a:prstGeom prst="rect">
            <a:avLst/>
          </a:prstGeom>
          <a:solidFill>
            <a:srgbClr val="374151"/>
          </a:solidFill>
          <a:ln w="1260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21" name="Text 442"/>
          <p:cNvSpPr/>
          <p:nvPr/>
        </p:nvSpPr>
        <p:spPr>
          <a:xfrm>
            <a:off x="137160" y="259616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TRRS 3.5mm Jack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2" name="Text 443"/>
          <p:cNvSpPr/>
          <p:nvPr/>
        </p:nvSpPr>
        <p:spPr>
          <a:xfrm>
            <a:off x="1001520" y="259616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Panel mount  stereo+mic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3" name="Text 444"/>
          <p:cNvSpPr/>
          <p:nvPr/>
        </p:nvSpPr>
        <p:spPr>
          <a:xfrm>
            <a:off x="1584000" y="259616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6B7280"/>
                </a:solidFill>
                <a:latin typeface="Calibri"/>
                <a:ea typeface="Calibri"/>
              </a:rPr>
              <a:t>₹25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4" name="Shape 338"/>
          <p:cNvSpPr/>
          <p:nvPr/>
        </p:nvSpPr>
        <p:spPr>
          <a:xfrm>
            <a:off x="73080" y="2820087"/>
            <a:ext cx="1937880" cy="259920"/>
          </a:xfrm>
          <a:prstGeom prst="rect">
            <a:avLst/>
          </a:prstGeom>
          <a:solidFill>
            <a:srgbClr val="0A0B11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25" name="Shape 339"/>
          <p:cNvSpPr/>
          <p:nvPr/>
        </p:nvSpPr>
        <p:spPr>
          <a:xfrm>
            <a:off x="73080" y="2820087"/>
            <a:ext cx="26640" cy="259920"/>
          </a:xfrm>
          <a:prstGeom prst="rect">
            <a:avLst/>
          </a:prstGeom>
          <a:solidFill>
            <a:srgbClr val="374151"/>
          </a:solidFill>
          <a:ln w="1260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26" name="Text 445"/>
          <p:cNvSpPr/>
          <p:nvPr/>
        </p:nvSpPr>
        <p:spPr>
          <a:xfrm>
            <a:off x="137160" y="285680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MicroSD 16GB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7" name="Text 446"/>
          <p:cNvSpPr/>
          <p:nvPr/>
        </p:nvSpPr>
        <p:spPr>
          <a:xfrm>
            <a:off x="1001520" y="285680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Class 10  OS + software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8" name="Text 447"/>
          <p:cNvSpPr/>
          <p:nvPr/>
        </p:nvSpPr>
        <p:spPr>
          <a:xfrm>
            <a:off x="1584000" y="285680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6B7280"/>
                </a:solidFill>
                <a:latin typeface="Calibri"/>
                <a:ea typeface="Calibri"/>
              </a:rPr>
              <a:t>₹249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9" name="Shape 363"/>
          <p:cNvSpPr/>
          <p:nvPr/>
        </p:nvSpPr>
        <p:spPr>
          <a:xfrm>
            <a:off x="73080" y="3080727"/>
            <a:ext cx="1937880" cy="25992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30" name="Shape 364"/>
          <p:cNvSpPr/>
          <p:nvPr/>
        </p:nvSpPr>
        <p:spPr>
          <a:xfrm>
            <a:off x="73080" y="3080727"/>
            <a:ext cx="26640" cy="259920"/>
          </a:xfrm>
          <a:prstGeom prst="rect">
            <a:avLst/>
          </a:prstGeom>
          <a:solidFill>
            <a:srgbClr val="374151"/>
          </a:solidFill>
          <a:ln w="1260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31" name="Text 448"/>
          <p:cNvSpPr/>
          <p:nvPr/>
        </p:nvSpPr>
        <p:spPr>
          <a:xfrm>
            <a:off x="137160" y="311744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5V 2A USB PSU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2" name="Text 449"/>
          <p:cNvSpPr/>
          <p:nvPr/>
        </p:nvSpPr>
        <p:spPr>
          <a:xfrm>
            <a:off x="1001520" y="311744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10W  continuous duty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3" name="Text 450"/>
          <p:cNvSpPr/>
          <p:nvPr/>
        </p:nvSpPr>
        <p:spPr>
          <a:xfrm>
            <a:off x="1584000" y="311744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6B7280"/>
                </a:solidFill>
                <a:latin typeface="Calibri"/>
                <a:ea typeface="Calibri"/>
              </a:rPr>
              <a:t>₹249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4" name="Shape 365"/>
          <p:cNvSpPr/>
          <p:nvPr/>
        </p:nvSpPr>
        <p:spPr>
          <a:xfrm>
            <a:off x="73080" y="3341367"/>
            <a:ext cx="1937880" cy="259920"/>
          </a:xfrm>
          <a:prstGeom prst="rect">
            <a:avLst/>
          </a:prstGeom>
          <a:solidFill>
            <a:srgbClr val="0A0B11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35" name="Shape 366"/>
          <p:cNvSpPr/>
          <p:nvPr/>
        </p:nvSpPr>
        <p:spPr>
          <a:xfrm>
            <a:off x="73080" y="3341367"/>
            <a:ext cx="26640" cy="259920"/>
          </a:xfrm>
          <a:prstGeom prst="rect">
            <a:avLst/>
          </a:prstGeom>
          <a:solidFill>
            <a:srgbClr val="374151"/>
          </a:solidFill>
          <a:ln w="1260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36" name="Text 451"/>
          <p:cNvSpPr/>
          <p:nvPr/>
        </p:nvSpPr>
        <p:spPr>
          <a:xfrm>
            <a:off x="137160" y="337808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Enclosure + mount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7" name="Text 452"/>
          <p:cNvSpPr/>
          <p:nvPr/>
        </p:nvSpPr>
        <p:spPr>
          <a:xfrm>
            <a:off x="1001520" y="337808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ABS box  neodymium magnet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8" name="Text 453"/>
          <p:cNvSpPr/>
          <p:nvPr/>
        </p:nvSpPr>
        <p:spPr>
          <a:xfrm>
            <a:off x="1584000" y="337808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6B7280"/>
                </a:solidFill>
                <a:latin typeface="Calibri"/>
                <a:ea typeface="Calibri"/>
              </a:rPr>
              <a:t>₹200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9" name="Shape 367"/>
          <p:cNvSpPr/>
          <p:nvPr/>
        </p:nvSpPr>
        <p:spPr>
          <a:xfrm>
            <a:off x="73080" y="3602007"/>
            <a:ext cx="1937880" cy="25992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40" name="Shape 368"/>
          <p:cNvSpPr/>
          <p:nvPr/>
        </p:nvSpPr>
        <p:spPr>
          <a:xfrm>
            <a:off x="73080" y="3602007"/>
            <a:ext cx="26640" cy="259920"/>
          </a:xfrm>
          <a:prstGeom prst="rect">
            <a:avLst/>
          </a:prstGeom>
          <a:solidFill>
            <a:srgbClr val="374151"/>
          </a:solidFill>
          <a:ln w="1260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41" name="Text 454"/>
          <p:cNvSpPr/>
          <p:nvPr/>
        </p:nvSpPr>
        <p:spPr>
          <a:xfrm>
            <a:off x="137160" y="363872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PCB + misc wiring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2" name="Text 455"/>
          <p:cNvSpPr/>
          <p:nvPr/>
        </p:nvSpPr>
        <p:spPr>
          <a:xfrm>
            <a:off x="1001520" y="363872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Perfboard  solder  jumpers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3" name="Text 456"/>
          <p:cNvSpPr/>
          <p:nvPr/>
        </p:nvSpPr>
        <p:spPr>
          <a:xfrm>
            <a:off x="1584000" y="363872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6B7280"/>
                </a:solidFill>
                <a:latin typeface="Calibri"/>
                <a:ea typeface="Calibri"/>
              </a:rPr>
              <a:t>₹60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4" name="Shape 369"/>
          <p:cNvSpPr/>
          <p:nvPr/>
        </p:nvSpPr>
        <p:spPr>
          <a:xfrm>
            <a:off x="73080" y="3862647"/>
            <a:ext cx="1937880" cy="236880"/>
          </a:xfrm>
          <a:prstGeom prst="rect">
            <a:avLst/>
          </a:prstGeom>
          <a:solidFill>
            <a:srgbClr val="14150E"/>
          </a:solidFill>
          <a:ln w="648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45" name="Text 457"/>
          <p:cNvSpPr/>
          <p:nvPr/>
        </p:nvSpPr>
        <p:spPr>
          <a:xfrm>
            <a:off x="146160" y="3917367"/>
            <a:ext cx="1065600" cy="13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strike="noStrike" spc="-1">
                <a:solidFill>
                  <a:srgbClr val="6B7280"/>
                </a:solidFill>
                <a:latin typeface="Calibri"/>
                <a:ea typeface="Calibri"/>
              </a:rPr>
              <a:t>BOM COST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6" name="Text 458"/>
          <p:cNvSpPr/>
          <p:nvPr/>
        </p:nvSpPr>
        <p:spPr>
          <a:xfrm>
            <a:off x="1139400" y="3899367"/>
            <a:ext cx="813600" cy="16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CD34D"/>
                </a:solidFill>
                <a:latin typeface="Calibri"/>
                <a:ea typeface="Calibri"/>
              </a:rPr>
              <a:t>₹2,491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7" name="Shape 370"/>
          <p:cNvSpPr/>
          <p:nvPr/>
        </p:nvSpPr>
        <p:spPr>
          <a:xfrm>
            <a:off x="73080" y="4118607"/>
            <a:ext cx="1937880" cy="236880"/>
          </a:xfrm>
          <a:prstGeom prst="rect">
            <a:avLst/>
          </a:prstGeom>
          <a:solidFill>
            <a:srgbClr val="0F1D42"/>
          </a:solidFill>
          <a:ln w="1008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48" name="Text 459"/>
          <p:cNvSpPr/>
          <p:nvPr/>
        </p:nvSpPr>
        <p:spPr>
          <a:xfrm>
            <a:off x="146160" y="4173687"/>
            <a:ext cx="1065600" cy="13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strike="noStrike" spc="-1">
                <a:solidFill>
                  <a:srgbClr val="FFFFFF"/>
                </a:solidFill>
                <a:latin typeface="Calibri"/>
                <a:ea typeface="Calibri"/>
              </a:rPr>
              <a:t>OUR PRICE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9" name="Text 460"/>
          <p:cNvSpPr/>
          <p:nvPr/>
        </p:nvSpPr>
        <p:spPr>
          <a:xfrm>
            <a:off x="1139400" y="4155327"/>
            <a:ext cx="813600" cy="16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2563EB"/>
                </a:solidFill>
                <a:latin typeface="Calibri"/>
                <a:ea typeface="Calibri"/>
              </a:rPr>
              <a:t>₹3,499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0" name="Shape 371"/>
          <p:cNvSpPr/>
          <p:nvPr/>
        </p:nvSpPr>
        <p:spPr>
          <a:xfrm>
            <a:off x="2103120" y="484047"/>
            <a:ext cx="1937880" cy="3785040"/>
          </a:xfrm>
          <a:prstGeom prst="rect">
            <a:avLst/>
          </a:prstGeom>
          <a:solidFill>
            <a:srgbClr val="0A0B10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51" name="Shape 372"/>
          <p:cNvSpPr/>
          <p:nvPr/>
        </p:nvSpPr>
        <p:spPr>
          <a:xfrm>
            <a:off x="2103120" y="484047"/>
            <a:ext cx="1937880" cy="328320"/>
          </a:xfrm>
          <a:prstGeom prst="rect">
            <a:avLst/>
          </a:prstGeom>
          <a:solidFill>
            <a:srgbClr val="7A1E0A"/>
          </a:solidFill>
          <a:ln w="12600">
            <a:solidFill>
              <a:srgbClr val="7A1E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52" name="Text 461"/>
          <p:cNvSpPr/>
          <p:nvPr/>
        </p:nvSpPr>
        <p:spPr>
          <a:xfrm>
            <a:off x="2176200" y="511407"/>
            <a:ext cx="1809720" cy="15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Calibri"/>
              </a:rPr>
              <a:t>TIER 2 — AMD NPU NODE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3" name="Text 462"/>
          <p:cNvSpPr/>
          <p:nvPr/>
        </p:nvSpPr>
        <p:spPr>
          <a:xfrm>
            <a:off x="2176200" y="666927"/>
            <a:ext cx="180972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FCA5A5"/>
                </a:solidFill>
                <a:latin typeface="Calibri"/>
                <a:ea typeface="Calibri"/>
              </a:rPr>
              <a:t>Per zone  ·  up to 50 machines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4" name="Shape 373"/>
          <p:cNvSpPr/>
          <p:nvPr/>
        </p:nvSpPr>
        <p:spPr>
          <a:xfrm>
            <a:off x="2103120" y="831447"/>
            <a:ext cx="1937880" cy="163800"/>
          </a:xfrm>
          <a:prstGeom prst="rect">
            <a:avLst/>
          </a:prstGeom>
          <a:solidFill>
            <a:srgbClr val="0F1018"/>
          </a:solidFill>
          <a:ln w="3960">
            <a:solidFill>
              <a:srgbClr val="1E22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55" name="Text 463"/>
          <p:cNvSpPr/>
          <p:nvPr/>
        </p:nvSpPr>
        <p:spPr>
          <a:xfrm>
            <a:off x="2157840" y="858807"/>
            <a:ext cx="891000" cy="10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1" strike="noStrike" spc="46">
                <a:solidFill>
                  <a:srgbClr val="6B7280"/>
                </a:solidFill>
                <a:latin typeface="Calibri"/>
                <a:ea typeface="Calibri"/>
              </a:rPr>
              <a:t>COMPONENT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6" name="Text 464"/>
          <p:cNvSpPr/>
          <p:nvPr/>
        </p:nvSpPr>
        <p:spPr>
          <a:xfrm>
            <a:off x="3031560" y="858807"/>
            <a:ext cx="600120" cy="10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1" strike="noStrike" spc="46">
                <a:solidFill>
                  <a:srgbClr val="6B7280"/>
                </a:solidFill>
                <a:latin typeface="Calibri"/>
                <a:ea typeface="Calibri"/>
              </a:rPr>
              <a:t>SPEC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7" name="Text 465"/>
          <p:cNvSpPr/>
          <p:nvPr/>
        </p:nvSpPr>
        <p:spPr>
          <a:xfrm>
            <a:off x="3614040" y="858807"/>
            <a:ext cx="445320" cy="10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1" strike="noStrike" spc="46">
                <a:solidFill>
                  <a:srgbClr val="6B7280"/>
                </a:solidFill>
                <a:latin typeface="Calibri"/>
                <a:ea typeface="Calibri"/>
              </a:rPr>
              <a:t>₹ COST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8" name="Shape 374"/>
          <p:cNvSpPr/>
          <p:nvPr/>
        </p:nvSpPr>
        <p:spPr>
          <a:xfrm>
            <a:off x="2103120" y="995967"/>
            <a:ext cx="1937880" cy="25992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59" name="Shape 375"/>
          <p:cNvSpPr/>
          <p:nvPr/>
        </p:nvSpPr>
        <p:spPr>
          <a:xfrm>
            <a:off x="2103120" y="995967"/>
            <a:ext cx="26640" cy="25992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60" name="Text 466"/>
          <p:cNvSpPr/>
          <p:nvPr/>
        </p:nvSpPr>
        <p:spPr>
          <a:xfrm>
            <a:off x="2167200" y="103268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Ryzen AI Mini PC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1" name="Text 467"/>
          <p:cNvSpPr/>
          <p:nvPr/>
        </p:nvSpPr>
        <p:spPr>
          <a:xfrm>
            <a:off x="3031560" y="103268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Ryzen AI 9 HX 370  16GB  512GB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2" name="Text 468"/>
          <p:cNvSpPr/>
          <p:nvPr/>
        </p:nvSpPr>
        <p:spPr>
          <a:xfrm>
            <a:off x="3614040" y="103268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ED4E33"/>
                </a:solidFill>
                <a:latin typeface="Calibri"/>
                <a:ea typeface="Calibri"/>
              </a:rPr>
              <a:t>₹74,999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3" name="Shape 376"/>
          <p:cNvSpPr/>
          <p:nvPr/>
        </p:nvSpPr>
        <p:spPr>
          <a:xfrm>
            <a:off x="2103120" y="1256607"/>
            <a:ext cx="1937880" cy="259920"/>
          </a:xfrm>
          <a:prstGeom prst="rect">
            <a:avLst/>
          </a:prstGeom>
          <a:solidFill>
            <a:srgbClr val="0A0B11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64" name="Shape 377"/>
          <p:cNvSpPr/>
          <p:nvPr/>
        </p:nvSpPr>
        <p:spPr>
          <a:xfrm>
            <a:off x="2103120" y="1256607"/>
            <a:ext cx="26640" cy="259920"/>
          </a:xfrm>
          <a:prstGeom prst="rect">
            <a:avLst/>
          </a:prstGeom>
          <a:solidFill>
            <a:srgbClr val="7A1E0A"/>
          </a:solidFill>
          <a:ln w="12600">
            <a:solidFill>
              <a:srgbClr val="7A1E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65" name="Text 469"/>
          <p:cNvSpPr/>
          <p:nvPr/>
        </p:nvSpPr>
        <p:spPr>
          <a:xfrm>
            <a:off x="2167200" y="129332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  └ AMD XDNA NPU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6" name="Text 470"/>
          <p:cNvSpPr/>
          <p:nvPr/>
        </p:nvSpPr>
        <p:spPr>
          <a:xfrm>
            <a:off x="3031560" y="129332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50 TOPS  ONNX + Vitis AI RT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7" name="Text 471"/>
          <p:cNvSpPr/>
          <p:nvPr/>
        </p:nvSpPr>
        <p:spPr>
          <a:xfrm>
            <a:off x="3614040" y="129332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6B7280"/>
                </a:solidFill>
                <a:latin typeface="Calibri"/>
                <a:ea typeface="Calibri"/>
              </a:rPr>
              <a:t>included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8" name="Shape 378"/>
          <p:cNvSpPr/>
          <p:nvPr/>
        </p:nvSpPr>
        <p:spPr>
          <a:xfrm>
            <a:off x="2103120" y="1517247"/>
            <a:ext cx="1937880" cy="25992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69" name="Shape 379"/>
          <p:cNvSpPr/>
          <p:nvPr/>
        </p:nvSpPr>
        <p:spPr>
          <a:xfrm>
            <a:off x="2103120" y="1517247"/>
            <a:ext cx="26640" cy="259920"/>
          </a:xfrm>
          <a:prstGeom prst="rect">
            <a:avLst/>
          </a:prstGeom>
          <a:solidFill>
            <a:srgbClr val="7A1E0A"/>
          </a:solidFill>
          <a:ln w="12600">
            <a:solidFill>
              <a:srgbClr val="7A1E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70" name="Text 472"/>
          <p:cNvSpPr/>
          <p:nvPr/>
        </p:nvSpPr>
        <p:spPr>
          <a:xfrm>
            <a:off x="2167200" y="155360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  └ 12-core CPU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1" name="Text 473"/>
          <p:cNvSpPr/>
          <p:nvPr/>
        </p:nvSpPr>
        <p:spPr>
          <a:xfrm>
            <a:off x="3031560" y="155360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Zen 5  up to 5.1GHz boost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2" name="Text 474"/>
          <p:cNvSpPr/>
          <p:nvPr/>
        </p:nvSpPr>
        <p:spPr>
          <a:xfrm>
            <a:off x="3614040" y="155360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6B7280"/>
                </a:solidFill>
                <a:latin typeface="Calibri"/>
                <a:ea typeface="Calibri"/>
              </a:rPr>
              <a:t>included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3" name="Shape 380"/>
          <p:cNvSpPr/>
          <p:nvPr/>
        </p:nvSpPr>
        <p:spPr>
          <a:xfrm>
            <a:off x="2103120" y="1777887"/>
            <a:ext cx="1937880" cy="259920"/>
          </a:xfrm>
          <a:prstGeom prst="rect">
            <a:avLst/>
          </a:prstGeom>
          <a:solidFill>
            <a:srgbClr val="0A0B11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74" name="Shape 381"/>
          <p:cNvSpPr/>
          <p:nvPr/>
        </p:nvSpPr>
        <p:spPr>
          <a:xfrm>
            <a:off x="2103120" y="1777887"/>
            <a:ext cx="26640" cy="259920"/>
          </a:xfrm>
          <a:prstGeom prst="rect">
            <a:avLst/>
          </a:prstGeom>
          <a:solidFill>
            <a:srgbClr val="7A1E0A"/>
          </a:solidFill>
          <a:ln w="12600">
            <a:solidFill>
              <a:srgbClr val="7A1E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75" name="Text 475"/>
          <p:cNvSpPr/>
          <p:nvPr/>
        </p:nvSpPr>
        <p:spPr>
          <a:xfrm>
            <a:off x="2167200" y="181424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  └ 16GB LPDDR5X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6" name="Text 476"/>
          <p:cNvSpPr/>
          <p:nvPr/>
        </p:nvSpPr>
        <p:spPr>
          <a:xfrm>
            <a:off x="3031560" y="181424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7500 MT/s  dual-channel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7" name="Text 477"/>
          <p:cNvSpPr/>
          <p:nvPr/>
        </p:nvSpPr>
        <p:spPr>
          <a:xfrm>
            <a:off x="3614040" y="181424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6B7280"/>
                </a:solidFill>
                <a:latin typeface="Calibri"/>
                <a:ea typeface="Calibri"/>
              </a:rPr>
              <a:t>included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8" name="Shape 382"/>
          <p:cNvSpPr/>
          <p:nvPr/>
        </p:nvSpPr>
        <p:spPr>
          <a:xfrm>
            <a:off x="2103120" y="2038527"/>
            <a:ext cx="1937880" cy="25992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79" name="Shape 383"/>
          <p:cNvSpPr/>
          <p:nvPr/>
        </p:nvSpPr>
        <p:spPr>
          <a:xfrm>
            <a:off x="2103120" y="2038527"/>
            <a:ext cx="26640" cy="259920"/>
          </a:xfrm>
          <a:prstGeom prst="rect">
            <a:avLst/>
          </a:prstGeom>
          <a:solidFill>
            <a:srgbClr val="7A1E0A"/>
          </a:solidFill>
          <a:ln w="12600">
            <a:solidFill>
              <a:srgbClr val="7A1E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80" name="Text 478"/>
          <p:cNvSpPr/>
          <p:nvPr/>
        </p:nvSpPr>
        <p:spPr>
          <a:xfrm>
            <a:off x="2167200" y="207488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  └ 512GB NVMe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1" name="Text 479"/>
          <p:cNvSpPr/>
          <p:nvPr/>
        </p:nvSpPr>
        <p:spPr>
          <a:xfrm>
            <a:off x="3031560" y="207488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PCIe 4.0  model storage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2" name="Text 480"/>
          <p:cNvSpPr/>
          <p:nvPr/>
        </p:nvSpPr>
        <p:spPr>
          <a:xfrm>
            <a:off x="3614040" y="207488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6B7280"/>
                </a:solidFill>
                <a:latin typeface="Calibri"/>
                <a:ea typeface="Calibri"/>
              </a:rPr>
              <a:t>included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3" name="Shape 384"/>
          <p:cNvSpPr/>
          <p:nvPr/>
        </p:nvSpPr>
        <p:spPr>
          <a:xfrm>
            <a:off x="2103120" y="2299167"/>
            <a:ext cx="1937880" cy="259920"/>
          </a:xfrm>
          <a:prstGeom prst="rect">
            <a:avLst/>
          </a:prstGeom>
          <a:solidFill>
            <a:srgbClr val="0A0B11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84" name="Shape 385"/>
          <p:cNvSpPr/>
          <p:nvPr/>
        </p:nvSpPr>
        <p:spPr>
          <a:xfrm>
            <a:off x="2103120" y="2299167"/>
            <a:ext cx="26640" cy="259920"/>
          </a:xfrm>
          <a:prstGeom prst="rect">
            <a:avLst/>
          </a:prstGeom>
          <a:solidFill>
            <a:srgbClr val="2563EB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85" name="Text 481"/>
          <p:cNvSpPr/>
          <p:nvPr/>
        </p:nvSpPr>
        <p:spPr>
          <a:xfrm>
            <a:off x="2167200" y="233552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2.5GbE Switch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6" name="Text 482"/>
          <p:cNvSpPr/>
          <p:nvPr/>
        </p:nvSpPr>
        <p:spPr>
          <a:xfrm>
            <a:off x="3031560" y="233552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TP-Link 8-port  factory LAN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7" name="Text 483"/>
          <p:cNvSpPr/>
          <p:nvPr/>
        </p:nvSpPr>
        <p:spPr>
          <a:xfrm>
            <a:off x="3614040" y="233552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93C5FD"/>
                </a:solidFill>
                <a:latin typeface="Calibri"/>
                <a:ea typeface="Calibri"/>
              </a:rPr>
              <a:t>₹3,499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8" name="Shape 386"/>
          <p:cNvSpPr/>
          <p:nvPr/>
        </p:nvSpPr>
        <p:spPr>
          <a:xfrm>
            <a:off x="2103120" y="2559447"/>
            <a:ext cx="1937880" cy="25992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89" name="Shape 387"/>
          <p:cNvSpPr/>
          <p:nvPr/>
        </p:nvSpPr>
        <p:spPr>
          <a:xfrm>
            <a:off x="2103120" y="2559447"/>
            <a:ext cx="26640" cy="259920"/>
          </a:xfrm>
          <a:prstGeom prst="rect">
            <a:avLst/>
          </a:prstGeom>
          <a:solidFill>
            <a:srgbClr val="374151"/>
          </a:solidFill>
          <a:ln w="1260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90" name="Text 484"/>
          <p:cNvSpPr/>
          <p:nvPr/>
        </p:nvSpPr>
        <p:spPr>
          <a:xfrm>
            <a:off x="2167200" y="259616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DIN-rail mount kit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1" name="Text 485"/>
          <p:cNvSpPr/>
          <p:nvPr/>
        </p:nvSpPr>
        <p:spPr>
          <a:xfrm>
            <a:off x="3031560" y="259616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For industrial cabinet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2" name="Text 486"/>
          <p:cNvSpPr/>
          <p:nvPr/>
        </p:nvSpPr>
        <p:spPr>
          <a:xfrm>
            <a:off x="3614040" y="259616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6B7280"/>
                </a:solidFill>
                <a:latin typeface="Calibri"/>
                <a:ea typeface="Calibri"/>
              </a:rPr>
              <a:t>₹999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3" name="Shape 388"/>
          <p:cNvSpPr/>
          <p:nvPr/>
        </p:nvSpPr>
        <p:spPr>
          <a:xfrm>
            <a:off x="2103120" y="2820087"/>
            <a:ext cx="1937880" cy="259920"/>
          </a:xfrm>
          <a:prstGeom prst="rect">
            <a:avLst/>
          </a:prstGeom>
          <a:solidFill>
            <a:srgbClr val="0A0B11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94" name="Shape 389"/>
          <p:cNvSpPr/>
          <p:nvPr/>
        </p:nvSpPr>
        <p:spPr>
          <a:xfrm>
            <a:off x="2103120" y="2820087"/>
            <a:ext cx="26640" cy="259920"/>
          </a:xfrm>
          <a:prstGeom prst="rect">
            <a:avLst/>
          </a:prstGeom>
          <a:solidFill>
            <a:srgbClr val="374151"/>
          </a:solidFill>
          <a:ln w="1260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95" name="Text 487"/>
          <p:cNvSpPr/>
          <p:nvPr/>
        </p:nvSpPr>
        <p:spPr>
          <a:xfrm>
            <a:off x="2167200" y="285680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Power supply (IPC)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6" name="Text 488"/>
          <p:cNvSpPr/>
          <p:nvPr/>
        </p:nvSpPr>
        <p:spPr>
          <a:xfrm>
            <a:off x="3031560" y="285680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12V 5A industrial grade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7" name="Text 489"/>
          <p:cNvSpPr/>
          <p:nvPr/>
        </p:nvSpPr>
        <p:spPr>
          <a:xfrm>
            <a:off x="3614040" y="285680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6B7280"/>
                </a:solidFill>
                <a:latin typeface="Calibri"/>
                <a:ea typeface="Calibri"/>
              </a:rPr>
              <a:t>₹999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8" name="Shape 390"/>
          <p:cNvSpPr/>
          <p:nvPr/>
        </p:nvSpPr>
        <p:spPr>
          <a:xfrm>
            <a:off x="2103120" y="3080727"/>
            <a:ext cx="1937880" cy="25992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99" name="Shape 391"/>
          <p:cNvSpPr/>
          <p:nvPr/>
        </p:nvSpPr>
        <p:spPr>
          <a:xfrm>
            <a:off x="2103120" y="3080727"/>
            <a:ext cx="26640" cy="259920"/>
          </a:xfrm>
          <a:prstGeom prst="rect">
            <a:avLst/>
          </a:prstGeom>
          <a:solidFill>
            <a:srgbClr val="374151"/>
          </a:solidFill>
          <a:ln w="1260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00" name="Text 490"/>
          <p:cNvSpPr/>
          <p:nvPr/>
        </p:nvSpPr>
        <p:spPr>
          <a:xfrm>
            <a:off x="2167200" y="311744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Ethernet patch cables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Text 491"/>
          <p:cNvSpPr/>
          <p:nvPr/>
        </p:nvSpPr>
        <p:spPr>
          <a:xfrm>
            <a:off x="3031560" y="311744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Cat6  3m × 8 per zone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2" name="Text 492"/>
          <p:cNvSpPr/>
          <p:nvPr/>
        </p:nvSpPr>
        <p:spPr>
          <a:xfrm>
            <a:off x="3614040" y="311744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6B7280"/>
                </a:solidFill>
                <a:latin typeface="Calibri"/>
                <a:ea typeface="Calibri"/>
              </a:rPr>
              <a:t>₹800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3" name="Shape 392"/>
          <p:cNvSpPr/>
          <p:nvPr/>
        </p:nvSpPr>
        <p:spPr>
          <a:xfrm>
            <a:off x="2103120" y="3341367"/>
            <a:ext cx="1937880" cy="259920"/>
          </a:xfrm>
          <a:prstGeom prst="rect">
            <a:avLst/>
          </a:prstGeom>
          <a:solidFill>
            <a:srgbClr val="0A0B11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04" name="Shape 393"/>
          <p:cNvSpPr/>
          <p:nvPr/>
        </p:nvSpPr>
        <p:spPr>
          <a:xfrm>
            <a:off x="2103120" y="3341367"/>
            <a:ext cx="26640" cy="259920"/>
          </a:xfrm>
          <a:prstGeom prst="rect">
            <a:avLst/>
          </a:prstGeom>
          <a:solidFill>
            <a:srgbClr val="16A34A"/>
          </a:solidFill>
          <a:ln w="126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05" name="Text 493"/>
          <p:cNvSpPr/>
          <p:nvPr/>
        </p:nvSpPr>
        <p:spPr>
          <a:xfrm>
            <a:off x="2167200" y="337808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Software stack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6" name="Text 494"/>
          <p:cNvSpPr/>
          <p:nvPr/>
        </p:nvSpPr>
        <p:spPr>
          <a:xfrm>
            <a:off x="3031560" y="337808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Ubuntu 22.04  Python  ZMQ  ONNX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7" name="Text 495"/>
          <p:cNvSpPr/>
          <p:nvPr/>
        </p:nvSpPr>
        <p:spPr>
          <a:xfrm>
            <a:off x="3614040" y="337808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86EFAC"/>
                </a:solidFill>
                <a:latin typeface="Calibri"/>
                <a:ea typeface="Calibri"/>
              </a:rPr>
              <a:t>₹0 (OSS)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8" name="Shape 394"/>
          <p:cNvSpPr/>
          <p:nvPr/>
        </p:nvSpPr>
        <p:spPr>
          <a:xfrm>
            <a:off x="2103120" y="3602007"/>
            <a:ext cx="1937880" cy="25992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09" name="Shape 395"/>
          <p:cNvSpPr/>
          <p:nvPr/>
        </p:nvSpPr>
        <p:spPr>
          <a:xfrm>
            <a:off x="2103120" y="3602007"/>
            <a:ext cx="26640" cy="259920"/>
          </a:xfrm>
          <a:prstGeom prst="rect">
            <a:avLst/>
          </a:prstGeom>
          <a:solidFill>
            <a:srgbClr val="16A34A"/>
          </a:solidFill>
          <a:ln w="126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10" name="Text 496"/>
          <p:cNvSpPr/>
          <p:nvPr/>
        </p:nvSpPr>
        <p:spPr>
          <a:xfrm>
            <a:off x="2167200" y="363872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Vitis AI Runtime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Text 497"/>
          <p:cNvSpPr/>
          <p:nvPr/>
        </p:nvSpPr>
        <p:spPr>
          <a:xfrm>
            <a:off x="3031560" y="363872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AMD official ONNX execution prov.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2" name="Text 498"/>
          <p:cNvSpPr/>
          <p:nvPr/>
        </p:nvSpPr>
        <p:spPr>
          <a:xfrm>
            <a:off x="3614040" y="363872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86EFAC"/>
                </a:solidFill>
                <a:latin typeface="Calibri"/>
                <a:ea typeface="Calibri"/>
              </a:rPr>
              <a:t>₹0 (free)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Shape 396"/>
          <p:cNvSpPr/>
          <p:nvPr/>
        </p:nvSpPr>
        <p:spPr>
          <a:xfrm>
            <a:off x="2103120" y="3862647"/>
            <a:ext cx="1937880" cy="236880"/>
          </a:xfrm>
          <a:prstGeom prst="rect">
            <a:avLst/>
          </a:prstGeom>
          <a:solidFill>
            <a:srgbClr val="14150E"/>
          </a:solidFill>
          <a:ln w="648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14" name="Text 499"/>
          <p:cNvSpPr/>
          <p:nvPr/>
        </p:nvSpPr>
        <p:spPr>
          <a:xfrm>
            <a:off x="2176200" y="3917367"/>
            <a:ext cx="1065600" cy="13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strike="noStrike" spc="-1">
                <a:solidFill>
                  <a:srgbClr val="6B7280"/>
                </a:solidFill>
                <a:latin typeface="Calibri"/>
                <a:ea typeface="Calibri"/>
              </a:rPr>
              <a:t>BOM COST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5" name="Text 500"/>
          <p:cNvSpPr/>
          <p:nvPr/>
        </p:nvSpPr>
        <p:spPr>
          <a:xfrm>
            <a:off x="3169440" y="3899367"/>
            <a:ext cx="813600" cy="16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CD34D"/>
                </a:solidFill>
                <a:latin typeface="Calibri"/>
                <a:ea typeface="Calibri"/>
              </a:rPr>
              <a:t>₹81,296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6" name="Shape 397"/>
          <p:cNvSpPr/>
          <p:nvPr/>
        </p:nvSpPr>
        <p:spPr>
          <a:xfrm>
            <a:off x="2103120" y="4118607"/>
            <a:ext cx="1937880" cy="236880"/>
          </a:xfrm>
          <a:prstGeom prst="rect">
            <a:avLst/>
          </a:prstGeom>
          <a:solidFill>
            <a:srgbClr val="7A1E0A"/>
          </a:solidFill>
          <a:ln w="1008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17" name="Text 501"/>
          <p:cNvSpPr/>
          <p:nvPr/>
        </p:nvSpPr>
        <p:spPr>
          <a:xfrm>
            <a:off x="2176200" y="4173687"/>
            <a:ext cx="1065600" cy="13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strike="noStrike" spc="-1">
                <a:solidFill>
                  <a:srgbClr val="FFFFFF"/>
                </a:solidFill>
                <a:latin typeface="Calibri"/>
                <a:ea typeface="Calibri"/>
              </a:rPr>
              <a:t>OUR PRICE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8" name="Text 502"/>
          <p:cNvSpPr/>
          <p:nvPr/>
        </p:nvSpPr>
        <p:spPr>
          <a:xfrm>
            <a:off x="3169440" y="4155327"/>
            <a:ext cx="813600" cy="16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ED4E33"/>
                </a:solidFill>
                <a:latin typeface="Calibri"/>
                <a:ea typeface="Calibri"/>
              </a:rPr>
              <a:t>₹89,999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9" name="Shape 398"/>
          <p:cNvSpPr/>
          <p:nvPr/>
        </p:nvSpPr>
        <p:spPr>
          <a:xfrm>
            <a:off x="4133160" y="484047"/>
            <a:ext cx="1937880" cy="3785040"/>
          </a:xfrm>
          <a:prstGeom prst="rect">
            <a:avLst/>
          </a:prstGeom>
          <a:solidFill>
            <a:srgbClr val="0A0B10"/>
          </a:solidFill>
          <a:ln w="126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20" name="Shape 399"/>
          <p:cNvSpPr/>
          <p:nvPr/>
        </p:nvSpPr>
        <p:spPr>
          <a:xfrm>
            <a:off x="4133160" y="484047"/>
            <a:ext cx="1937880" cy="328320"/>
          </a:xfrm>
          <a:prstGeom prst="rect">
            <a:avLst/>
          </a:prstGeom>
          <a:solidFill>
            <a:srgbClr val="0A2015"/>
          </a:solidFill>
          <a:ln w="12600">
            <a:solidFill>
              <a:srgbClr val="0A201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21" name="Text 503"/>
          <p:cNvSpPr/>
          <p:nvPr/>
        </p:nvSpPr>
        <p:spPr>
          <a:xfrm>
            <a:off x="4206240" y="511407"/>
            <a:ext cx="1809720" cy="15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Calibri"/>
              </a:rPr>
              <a:t>TIER 3 — MASTER NODE</a:t>
            </a:r>
            <a:endParaRPr lang="en-US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2" name="Text 504"/>
          <p:cNvSpPr/>
          <p:nvPr/>
        </p:nvSpPr>
        <p:spPr>
          <a:xfrm>
            <a:off x="4206240" y="666927"/>
            <a:ext cx="180972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86EFAC"/>
                </a:solidFill>
                <a:latin typeface="Calibri"/>
                <a:ea typeface="Calibri"/>
              </a:rPr>
              <a:t>Per factory  ·  dashboard + DB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3" name="Shape 400"/>
          <p:cNvSpPr/>
          <p:nvPr/>
        </p:nvSpPr>
        <p:spPr>
          <a:xfrm>
            <a:off x="4133160" y="831447"/>
            <a:ext cx="1937880" cy="163800"/>
          </a:xfrm>
          <a:prstGeom prst="rect">
            <a:avLst/>
          </a:prstGeom>
          <a:solidFill>
            <a:srgbClr val="0F1018"/>
          </a:solidFill>
          <a:ln w="3960">
            <a:solidFill>
              <a:srgbClr val="1E22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24" name="Text 505"/>
          <p:cNvSpPr/>
          <p:nvPr/>
        </p:nvSpPr>
        <p:spPr>
          <a:xfrm>
            <a:off x="4187880" y="858807"/>
            <a:ext cx="891000" cy="10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1" strike="noStrike" spc="46">
                <a:solidFill>
                  <a:srgbClr val="6B7280"/>
                </a:solidFill>
                <a:latin typeface="Calibri"/>
                <a:ea typeface="Calibri"/>
              </a:rPr>
              <a:t>COMPONENT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5" name="Text 506"/>
          <p:cNvSpPr/>
          <p:nvPr/>
        </p:nvSpPr>
        <p:spPr>
          <a:xfrm>
            <a:off x="5061240" y="858807"/>
            <a:ext cx="600120" cy="10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1" strike="noStrike" spc="46">
                <a:solidFill>
                  <a:srgbClr val="6B7280"/>
                </a:solidFill>
                <a:latin typeface="Calibri"/>
                <a:ea typeface="Calibri"/>
              </a:rPr>
              <a:t>SPEC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6" name="Text 507"/>
          <p:cNvSpPr/>
          <p:nvPr/>
        </p:nvSpPr>
        <p:spPr>
          <a:xfrm>
            <a:off x="5644080" y="858807"/>
            <a:ext cx="445320" cy="10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1" strike="noStrike" spc="46">
                <a:solidFill>
                  <a:srgbClr val="6B7280"/>
                </a:solidFill>
                <a:latin typeface="Calibri"/>
                <a:ea typeface="Calibri"/>
              </a:rPr>
              <a:t>₹ COST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7" name="Shape 401"/>
          <p:cNvSpPr/>
          <p:nvPr/>
        </p:nvSpPr>
        <p:spPr>
          <a:xfrm>
            <a:off x="4133160" y="995967"/>
            <a:ext cx="1937880" cy="25992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28" name="Shape 402"/>
          <p:cNvSpPr/>
          <p:nvPr/>
        </p:nvSpPr>
        <p:spPr>
          <a:xfrm>
            <a:off x="4133160" y="995967"/>
            <a:ext cx="26640" cy="259920"/>
          </a:xfrm>
          <a:prstGeom prst="rect">
            <a:avLst/>
          </a:prstGeom>
          <a:solidFill>
            <a:srgbClr val="16A34A"/>
          </a:solidFill>
          <a:ln w="126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29" name="Text 508"/>
          <p:cNvSpPr/>
          <p:nvPr/>
        </p:nvSpPr>
        <p:spPr>
          <a:xfrm>
            <a:off x="4197240" y="103268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★ Ryzen 5 Edge Mini PC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0" name="Text 509"/>
          <p:cNvSpPr/>
          <p:nvPr/>
        </p:nvSpPr>
        <p:spPr>
          <a:xfrm>
            <a:off x="5061240" y="103268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Ryzen 5  16GB  512GB  fanless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1" name="Text 510"/>
          <p:cNvSpPr/>
          <p:nvPr/>
        </p:nvSpPr>
        <p:spPr>
          <a:xfrm>
            <a:off x="5644080" y="103268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86EFAC"/>
                </a:solidFill>
                <a:latin typeface="Calibri"/>
                <a:ea typeface="Calibri"/>
              </a:rPr>
              <a:t>₹49,999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2" name="Shape 403"/>
          <p:cNvSpPr/>
          <p:nvPr/>
        </p:nvSpPr>
        <p:spPr>
          <a:xfrm>
            <a:off x="4133160" y="1256607"/>
            <a:ext cx="1937880" cy="259920"/>
          </a:xfrm>
          <a:prstGeom prst="rect">
            <a:avLst/>
          </a:prstGeom>
          <a:solidFill>
            <a:srgbClr val="0A0B11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33" name="Shape 404"/>
          <p:cNvSpPr/>
          <p:nvPr/>
        </p:nvSpPr>
        <p:spPr>
          <a:xfrm>
            <a:off x="4133160" y="1256607"/>
            <a:ext cx="26640" cy="259920"/>
          </a:xfrm>
          <a:prstGeom prst="rect">
            <a:avLst/>
          </a:prstGeom>
          <a:solidFill>
            <a:srgbClr val="0A2015"/>
          </a:solidFill>
          <a:ln w="12600">
            <a:solidFill>
              <a:srgbClr val="0A201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34" name="Text 511"/>
          <p:cNvSpPr/>
          <p:nvPr/>
        </p:nvSpPr>
        <p:spPr>
          <a:xfrm>
            <a:off x="4197240" y="129332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  └ Role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5" name="Text 512"/>
          <p:cNvSpPr/>
          <p:nvPr/>
        </p:nvSpPr>
        <p:spPr>
          <a:xfrm>
            <a:off x="5061240" y="129332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Node.js + dashboard only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ext 513"/>
          <p:cNvSpPr/>
          <p:nvPr/>
        </p:nvSpPr>
        <p:spPr>
          <a:xfrm>
            <a:off x="5644080" y="129332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86EFAC"/>
                </a:solidFill>
                <a:latin typeface="Calibri"/>
                <a:ea typeface="Calibri"/>
              </a:rPr>
              <a:t>optimal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7" name="Shape 405"/>
          <p:cNvSpPr/>
          <p:nvPr/>
        </p:nvSpPr>
        <p:spPr>
          <a:xfrm>
            <a:off x="4133160" y="1517247"/>
            <a:ext cx="1937880" cy="25992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38" name="Shape 406"/>
          <p:cNvSpPr/>
          <p:nvPr/>
        </p:nvSpPr>
        <p:spPr>
          <a:xfrm>
            <a:off x="4133160" y="1517247"/>
            <a:ext cx="26640" cy="259920"/>
          </a:xfrm>
          <a:prstGeom prst="rect">
            <a:avLst/>
          </a:prstGeom>
          <a:solidFill>
            <a:srgbClr val="7A1E0A"/>
          </a:solidFill>
          <a:ln w="12600">
            <a:solidFill>
              <a:srgbClr val="7A1E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39" name="Text 514"/>
          <p:cNvSpPr/>
          <p:nvPr/>
        </p:nvSpPr>
        <p:spPr>
          <a:xfrm>
            <a:off x="4197240" y="155360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  └ EPYC upgrade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0" name="Text 515"/>
          <p:cNvSpPr/>
          <p:nvPr/>
        </p:nvSpPr>
        <p:spPr>
          <a:xfrm>
            <a:off x="5061240" y="155360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Multi-factory  50+ zones  ROCm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1" name="Text 516"/>
          <p:cNvSpPr/>
          <p:nvPr/>
        </p:nvSpPr>
        <p:spPr>
          <a:xfrm>
            <a:off x="5644080" y="155360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6B7280"/>
                </a:solidFill>
                <a:latin typeface="Calibri"/>
                <a:ea typeface="Calibri"/>
              </a:rPr>
              <a:t>₹1,50,000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2" name="Shape 407"/>
          <p:cNvSpPr/>
          <p:nvPr/>
        </p:nvSpPr>
        <p:spPr>
          <a:xfrm>
            <a:off x="4133160" y="1777887"/>
            <a:ext cx="1937880" cy="259920"/>
          </a:xfrm>
          <a:prstGeom prst="rect">
            <a:avLst/>
          </a:prstGeom>
          <a:solidFill>
            <a:srgbClr val="0A0B11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43" name="Shape 408"/>
          <p:cNvSpPr/>
          <p:nvPr/>
        </p:nvSpPr>
        <p:spPr>
          <a:xfrm>
            <a:off x="4133160" y="1777887"/>
            <a:ext cx="26640" cy="259920"/>
          </a:xfrm>
          <a:prstGeom prst="rect">
            <a:avLst/>
          </a:prstGeom>
          <a:solidFill>
            <a:srgbClr val="0891B2"/>
          </a:solidFill>
          <a:ln w="12600">
            <a:solidFill>
              <a:srgbClr val="0891B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44" name="Text 517"/>
          <p:cNvSpPr/>
          <p:nvPr/>
        </p:nvSpPr>
        <p:spPr>
          <a:xfrm>
            <a:off x="4197240" y="181424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2TB NVMe SSD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Text 518"/>
          <p:cNvSpPr/>
          <p:nvPr/>
        </p:nvSpPr>
        <p:spPr>
          <a:xfrm>
            <a:off x="5061240" y="181424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Historical anomaly archive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6" name="Text 519"/>
          <p:cNvSpPr/>
          <p:nvPr/>
        </p:nvSpPr>
        <p:spPr>
          <a:xfrm>
            <a:off x="5644080" y="181424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7DD3FC"/>
                </a:solidFill>
                <a:latin typeface="Calibri"/>
                <a:ea typeface="Calibri"/>
              </a:rPr>
              <a:t>₹6,999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Shape 409"/>
          <p:cNvSpPr/>
          <p:nvPr/>
        </p:nvSpPr>
        <p:spPr>
          <a:xfrm>
            <a:off x="4133160" y="2038527"/>
            <a:ext cx="1937880" cy="25992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48" name="Shape 410"/>
          <p:cNvSpPr/>
          <p:nvPr/>
        </p:nvSpPr>
        <p:spPr>
          <a:xfrm>
            <a:off x="4133160" y="2038527"/>
            <a:ext cx="26640" cy="259920"/>
          </a:xfrm>
          <a:prstGeom prst="rect">
            <a:avLst/>
          </a:prstGeom>
          <a:solidFill>
            <a:srgbClr val="D97706"/>
          </a:solidFill>
          <a:ln w="1260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49" name="Text 520"/>
          <p:cNvSpPr/>
          <p:nvPr/>
        </p:nvSpPr>
        <p:spPr>
          <a:xfrm>
            <a:off x="4197240" y="207488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UPS (600VA)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0" name="Text 521"/>
          <p:cNvSpPr/>
          <p:nvPr/>
        </p:nvSpPr>
        <p:spPr>
          <a:xfrm>
            <a:off x="5061240" y="207488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APC BE600M1  12min runtime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1" name="Text 522"/>
          <p:cNvSpPr/>
          <p:nvPr/>
        </p:nvSpPr>
        <p:spPr>
          <a:xfrm>
            <a:off x="5644080" y="207488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CD34D"/>
                </a:solidFill>
                <a:latin typeface="Calibri"/>
                <a:ea typeface="Calibri"/>
              </a:rPr>
              <a:t>₹4,499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2" name="Shape 411"/>
          <p:cNvSpPr/>
          <p:nvPr/>
        </p:nvSpPr>
        <p:spPr>
          <a:xfrm>
            <a:off x="4133160" y="2299167"/>
            <a:ext cx="1937880" cy="259920"/>
          </a:xfrm>
          <a:prstGeom prst="rect">
            <a:avLst/>
          </a:prstGeom>
          <a:solidFill>
            <a:srgbClr val="0A0B11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53" name="Shape 412"/>
          <p:cNvSpPr/>
          <p:nvPr/>
        </p:nvSpPr>
        <p:spPr>
          <a:xfrm>
            <a:off x="4133160" y="2299167"/>
            <a:ext cx="26640" cy="259920"/>
          </a:xfrm>
          <a:prstGeom prst="rect">
            <a:avLst/>
          </a:prstGeom>
          <a:solidFill>
            <a:srgbClr val="2563EB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54" name="Text 523"/>
          <p:cNvSpPr/>
          <p:nvPr/>
        </p:nvSpPr>
        <p:spPr>
          <a:xfrm>
            <a:off x="4197240" y="233552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2.5GbE Switch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5" name="Text 524"/>
          <p:cNvSpPr/>
          <p:nvPr/>
        </p:nvSpPr>
        <p:spPr>
          <a:xfrm>
            <a:off x="5061240" y="233552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Industrial  ZMQ JSON payload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6" name="Text 525"/>
          <p:cNvSpPr/>
          <p:nvPr/>
        </p:nvSpPr>
        <p:spPr>
          <a:xfrm>
            <a:off x="5644080" y="233552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93C5FD"/>
                </a:solidFill>
                <a:latin typeface="Calibri"/>
                <a:ea typeface="Calibri"/>
              </a:rPr>
              <a:t>₹3,499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7" name="Shape 413"/>
          <p:cNvSpPr/>
          <p:nvPr/>
        </p:nvSpPr>
        <p:spPr>
          <a:xfrm>
            <a:off x="4133160" y="2559447"/>
            <a:ext cx="1937880" cy="25992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58" name="Shape 414"/>
          <p:cNvSpPr/>
          <p:nvPr/>
        </p:nvSpPr>
        <p:spPr>
          <a:xfrm>
            <a:off x="4133160" y="2559447"/>
            <a:ext cx="26640" cy="259920"/>
          </a:xfrm>
          <a:prstGeom prst="rect">
            <a:avLst/>
          </a:prstGeom>
          <a:solidFill>
            <a:srgbClr val="16A34A"/>
          </a:solidFill>
          <a:ln w="126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59" name="Text 526"/>
          <p:cNvSpPr/>
          <p:nvPr/>
        </p:nvSpPr>
        <p:spPr>
          <a:xfrm>
            <a:off x="4197240" y="259616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Software: Node.js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0" name="Text 527"/>
          <p:cNvSpPr/>
          <p:nvPr/>
        </p:nvSpPr>
        <p:spPr>
          <a:xfrm>
            <a:off x="5061240" y="259616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Express  Socket.IO  ZMQ SUB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1" name="Text 528"/>
          <p:cNvSpPr/>
          <p:nvPr/>
        </p:nvSpPr>
        <p:spPr>
          <a:xfrm>
            <a:off x="5644080" y="259616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86EFAC"/>
                </a:solidFill>
                <a:latin typeface="Calibri"/>
                <a:ea typeface="Calibri"/>
              </a:rPr>
              <a:t>₹0 (OSS)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2" name="Shape 415"/>
          <p:cNvSpPr/>
          <p:nvPr/>
        </p:nvSpPr>
        <p:spPr>
          <a:xfrm>
            <a:off x="4133160" y="2820087"/>
            <a:ext cx="1937880" cy="259920"/>
          </a:xfrm>
          <a:prstGeom prst="rect">
            <a:avLst/>
          </a:prstGeom>
          <a:solidFill>
            <a:srgbClr val="0A0B11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63" name="Shape 416"/>
          <p:cNvSpPr/>
          <p:nvPr/>
        </p:nvSpPr>
        <p:spPr>
          <a:xfrm>
            <a:off x="4133160" y="2820087"/>
            <a:ext cx="26640" cy="259920"/>
          </a:xfrm>
          <a:prstGeom prst="rect">
            <a:avLst/>
          </a:prstGeom>
          <a:solidFill>
            <a:srgbClr val="16A34A"/>
          </a:solidFill>
          <a:ln w="126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64" name="Text 529"/>
          <p:cNvSpPr/>
          <p:nvPr/>
        </p:nvSpPr>
        <p:spPr>
          <a:xfrm>
            <a:off x="4197240" y="285680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Software: React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5" name="Text 530"/>
          <p:cNvSpPr/>
          <p:nvPr/>
        </p:nvSpPr>
        <p:spPr>
          <a:xfrm>
            <a:off x="5061240" y="285680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TypeScript  Recharts  Docker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6" name="Text 531"/>
          <p:cNvSpPr/>
          <p:nvPr/>
        </p:nvSpPr>
        <p:spPr>
          <a:xfrm>
            <a:off x="5644080" y="285680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86EFAC"/>
                </a:solidFill>
                <a:latin typeface="Calibri"/>
                <a:ea typeface="Calibri"/>
              </a:rPr>
              <a:t>₹0 (OSS)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7" name="Shape 417"/>
          <p:cNvSpPr/>
          <p:nvPr/>
        </p:nvSpPr>
        <p:spPr>
          <a:xfrm>
            <a:off x="4133160" y="3080727"/>
            <a:ext cx="1937880" cy="25992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68" name="Shape 418"/>
          <p:cNvSpPr/>
          <p:nvPr/>
        </p:nvSpPr>
        <p:spPr>
          <a:xfrm>
            <a:off x="4133160" y="3080727"/>
            <a:ext cx="26640" cy="259920"/>
          </a:xfrm>
          <a:prstGeom prst="rect">
            <a:avLst/>
          </a:prstGeom>
          <a:solidFill>
            <a:srgbClr val="16A34A"/>
          </a:solidFill>
          <a:ln w="1260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69" name="Text 532"/>
          <p:cNvSpPr/>
          <p:nvPr/>
        </p:nvSpPr>
        <p:spPr>
          <a:xfrm>
            <a:off x="4197240" y="311744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Database: PostgreSQL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0" name="Text 533"/>
          <p:cNvSpPr/>
          <p:nvPr/>
        </p:nvSpPr>
        <p:spPr>
          <a:xfrm>
            <a:off x="5061240" y="311744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Anomaly history  trend data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1" name="Text 534"/>
          <p:cNvSpPr/>
          <p:nvPr/>
        </p:nvSpPr>
        <p:spPr>
          <a:xfrm>
            <a:off x="5644080" y="311744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86EFAC"/>
                </a:solidFill>
                <a:latin typeface="Calibri"/>
                <a:ea typeface="Calibri"/>
              </a:rPr>
              <a:t>₹0 (OSS)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2" name="Shape 419"/>
          <p:cNvSpPr/>
          <p:nvPr/>
        </p:nvSpPr>
        <p:spPr>
          <a:xfrm>
            <a:off x="4133160" y="3341367"/>
            <a:ext cx="1937880" cy="259920"/>
          </a:xfrm>
          <a:prstGeom prst="rect">
            <a:avLst/>
          </a:prstGeom>
          <a:solidFill>
            <a:srgbClr val="0A0B11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73" name="Shape 420"/>
          <p:cNvSpPr/>
          <p:nvPr/>
        </p:nvSpPr>
        <p:spPr>
          <a:xfrm>
            <a:off x="4133160" y="3341367"/>
            <a:ext cx="26640" cy="259920"/>
          </a:xfrm>
          <a:prstGeom prst="rect">
            <a:avLst/>
          </a:prstGeom>
          <a:solidFill>
            <a:srgbClr val="7C3AED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74" name="Text 535"/>
          <p:cNvSpPr/>
          <p:nvPr/>
        </p:nvSpPr>
        <p:spPr>
          <a:xfrm>
            <a:off x="4197240" y="337808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Ollama LLM (local)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5" name="Text 536"/>
          <p:cNvSpPr/>
          <p:nvPr/>
        </p:nvSpPr>
        <p:spPr>
          <a:xfrm>
            <a:off x="5061240" y="337808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Mistral 7B  offline  any lang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6" name="Text 537"/>
          <p:cNvSpPr/>
          <p:nvPr/>
        </p:nvSpPr>
        <p:spPr>
          <a:xfrm>
            <a:off x="5644080" y="337808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C4B5FD"/>
                </a:solidFill>
                <a:latin typeface="Calibri"/>
                <a:ea typeface="Calibri"/>
              </a:rPr>
              <a:t>₹0 (OSS)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7" name="Shape 421"/>
          <p:cNvSpPr/>
          <p:nvPr/>
        </p:nvSpPr>
        <p:spPr>
          <a:xfrm>
            <a:off x="4133160" y="3602007"/>
            <a:ext cx="1937880" cy="25992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78" name="Shape 422"/>
          <p:cNvSpPr/>
          <p:nvPr/>
        </p:nvSpPr>
        <p:spPr>
          <a:xfrm>
            <a:off x="4133160" y="3602007"/>
            <a:ext cx="26640" cy="259920"/>
          </a:xfrm>
          <a:prstGeom prst="rect">
            <a:avLst/>
          </a:prstGeom>
          <a:solidFill>
            <a:srgbClr val="374151"/>
          </a:solidFill>
          <a:ln w="1260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79" name="Text 538"/>
          <p:cNvSpPr/>
          <p:nvPr/>
        </p:nvSpPr>
        <p:spPr>
          <a:xfrm>
            <a:off x="4197240" y="3638727"/>
            <a:ext cx="85428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Alert: Email / SMS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0" name="Text 539"/>
          <p:cNvSpPr/>
          <p:nvPr/>
        </p:nvSpPr>
        <p:spPr>
          <a:xfrm>
            <a:off x="5061240" y="3638727"/>
            <a:ext cx="60012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strike="noStrike" spc="-1">
                <a:solidFill>
                  <a:srgbClr val="6B7280"/>
                </a:solidFill>
                <a:latin typeface="Calibri"/>
                <a:ea typeface="Calibri"/>
              </a:rPr>
              <a:t>Nodemailer  Twilio optional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1" name="Text 540"/>
          <p:cNvSpPr/>
          <p:nvPr/>
        </p:nvSpPr>
        <p:spPr>
          <a:xfrm>
            <a:off x="5644080" y="3638727"/>
            <a:ext cx="408600" cy="18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6B7280"/>
                </a:solidFill>
                <a:latin typeface="Calibri"/>
                <a:ea typeface="Calibri"/>
              </a:rPr>
              <a:t>₹0–₹999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2" name="Shape 423"/>
          <p:cNvSpPr/>
          <p:nvPr/>
        </p:nvSpPr>
        <p:spPr>
          <a:xfrm>
            <a:off x="4133160" y="3862647"/>
            <a:ext cx="1937880" cy="236880"/>
          </a:xfrm>
          <a:prstGeom prst="rect">
            <a:avLst/>
          </a:prstGeom>
          <a:solidFill>
            <a:srgbClr val="14150E"/>
          </a:solidFill>
          <a:ln w="648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83" name="Text 541"/>
          <p:cNvSpPr/>
          <p:nvPr/>
        </p:nvSpPr>
        <p:spPr>
          <a:xfrm>
            <a:off x="4206240" y="3917367"/>
            <a:ext cx="1065600" cy="13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strike="noStrike" spc="-1">
                <a:solidFill>
                  <a:srgbClr val="6B7280"/>
                </a:solidFill>
                <a:latin typeface="Calibri"/>
                <a:ea typeface="Calibri"/>
              </a:rPr>
              <a:t>BOM COST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4" name="Text 542"/>
          <p:cNvSpPr/>
          <p:nvPr/>
        </p:nvSpPr>
        <p:spPr>
          <a:xfrm>
            <a:off x="5199120" y="3899367"/>
            <a:ext cx="813600" cy="16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CD34D"/>
                </a:solidFill>
                <a:latin typeface="Calibri"/>
                <a:ea typeface="Calibri"/>
              </a:rPr>
              <a:t>₹64,996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5" name="Shape 424"/>
          <p:cNvSpPr/>
          <p:nvPr/>
        </p:nvSpPr>
        <p:spPr>
          <a:xfrm>
            <a:off x="4133160" y="4118607"/>
            <a:ext cx="1937880" cy="236880"/>
          </a:xfrm>
          <a:prstGeom prst="rect">
            <a:avLst/>
          </a:prstGeom>
          <a:solidFill>
            <a:srgbClr val="0A2015"/>
          </a:solidFill>
          <a:ln w="1008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86" name="Text 543"/>
          <p:cNvSpPr/>
          <p:nvPr/>
        </p:nvSpPr>
        <p:spPr>
          <a:xfrm>
            <a:off x="4206240" y="4173687"/>
            <a:ext cx="1065600" cy="13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strike="noStrike" spc="-1">
                <a:solidFill>
                  <a:srgbClr val="FFFFFF"/>
                </a:solidFill>
                <a:latin typeface="Calibri"/>
                <a:ea typeface="Calibri"/>
              </a:rPr>
              <a:t>OUR PRICE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7" name="Text 544"/>
          <p:cNvSpPr/>
          <p:nvPr/>
        </p:nvSpPr>
        <p:spPr>
          <a:xfrm>
            <a:off x="5199120" y="4155327"/>
            <a:ext cx="813600" cy="16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16A34A"/>
                </a:solidFill>
                <a:latin typeface="Calibri"/>
                <a:ea typeface="Calibri"/>
              </a:rPr>
              <a:t>₹72,999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8" name="Shape 425"/>
          <p:cNvSpPr/>
          <p:nvPr/>
        </p:nvSpPr>
        <p:spPr>
          <a:xfrm>
            <a:off x="6199560" y="484047"/>
            <a:ext cx="2888640" cy="3785040"/>
          </a:xfrm>
          <a:prstGeom prst="rect">
            <a:avLst/>
          </a:prstGeom>
          <a:solidFill>
            <a:srgbClr val="09090E"/>
          </a:solidFill>
          <a:ln w="756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89" name="Shape 426"/>
          <p:cNvSpPr/>
          <p:nvPr/>
        </p:nvSpPr>
        <p:spPr>
          <a:xfrm>
            <a:off x="6199560" y="484047"/>
            <a:ext cx="2888640" cy="255240"/>
          </a:xfrm>
          <a:prstGeom prst="rect">
            <a:avLst/>
          </a:prstGeom>
          <a:solidFill>
            <a:srgbClr val="111111"/>
          </a:solidFill>
          <a:ln w="1260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90" name="Text 545"/>
          <p:cNvSpPr/>
          <p:nvPr/>
        </p:nvSpPr>
        <p:spPr>
          <a:xfrm>
            <a:off x="6291000" y="538767"/>
            <a:ext cx="2742480" cy="14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46">
                <a:solidFill>
                  <a:srgbClr val="FFFFFF"/>
                </a:solidFill>
                <a:latin typeface="Calibri"/>
                <a:ea typeface="Calibri"/>
              </a:rPr>
              <a:t>SME SCENARIO  —  ASIAN COMPRESSOR</a:t>
            </a:r>
            <a:endParaRPr lang="en-US" sz="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1" name="Text 546"/>
          <p:cNvSpPr/>
          <p:nvPr/>
        </p:nvSpPr>
        <p:spPr>
          <a:xfrm>
            <a:off x="6291000" y="758367"/>
            <a:ext cx="274248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i="1" strike="noStrike" spc="-1">
                <a:solidFill>
                  <a:srgbClr val="6B7280"/>
                </a:solidFill>
                <a:latin typeface="Calibri"/>
                <a:ea typeface="Calibri"/>
              </a:rPr>
              <a:t>20 critical machines  ·  2 factory zones  ·  1 master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2" name="Shape 427"/>
          <p:cNvSpPr/>
          <p:nvPr/>
        </p:nvSpPr>
        <p:spPr>
          <a:xfrm>
            <a:off x="6272640" y="904527"/>
            <a:ext cx="2742480" cy="218880"/>
          </a:xfrm>
          <a:prstGeom prst="rect">
            <a:avLst/>
          </a:prstGeom>
          <a:solidFill>
            <a:srgbClr val="0E0F15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93" name="Text 547"/>
          <p:cNvSpPr/>
          <p:nvPr/>
        </p:nvSpPr>
        <p:spPr>
          <a:xfrm>
            <a:off x="6327720" y="922887"/>
            <a:ext cx="1425600" cy="10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20 × Sensor Nodes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4" name="Text 548"/>
          <p:cNvSpPr/>
          <p:nvPr/>
        </p:nvSpPr>
        <p:spPr>
          <a:xfrm>
            <a:off x="6327720" y="1023327"/>
            <a:ext cx="1425600" cy="9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-1">
                <a:solidFill>
                  <a:srgbClr val="6B7280"/>
                </a:solidFill>
                <a:latin typeface="Calibri"/>
                <a:ea typeface="Calibri"/>
              </a:rPr>
              <a:t>Tier 1 @ ₹3,499 each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5" name="Text 549"/>
          <p:cNvSpPr/>
          <p:nvPr/>
        </p:nvSpPr>
        <p:spPr>
          <a:xfrm>
            <a:off x="8138160" y="922887"/>
            <a:ext cx="84060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93C5FD"/>
                </a:solidFill>
                <a:latin typeface="Calibri"/>
                <a:ea typeface="Calibri"/>
              </a:rPr>
              <a:t>₹69,980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6" name="Shape 428"/>
          <p:cNvSpPr/>
          <p:nvPr/>
        </p:nvSpPr>
        <p:spPr>
          <a:xfrm>
            <a:off x="6272640" y="1151487"/>
            <a:ext cx="2742480" cy="218880"/>
          </a:xfrm>
          <a:prstGeom prst="rect">
            <a:avLst/>
          </a:prstGeom>
          <a:solidFill>
            <a:srgbClr val="0C0D12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97" name="Text 550"/>
          <p:cNvSpPr/>
          <p:nvPr/>
        </p:nvSpPr>
        <p:spPr>
          <a:xfrm>
            <a:off x="6327720" y="1169847"/>
            <a:ext cx="1425600" cy="10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2 × AMD NPU Nodes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8" name="Text 551"/>
          <p:cNvSpPr/>
          <p:nvPr/>
        </p:nvSpPr>
        <p:spPr>
          <a:xfrm>
            <a:off x="6327720" y="1270287"/>
            <a:ext cx="1425600" cy="9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-1">
                <a:solidFill>
                  <a:srgbClr val="6B7280"/>
                </a:solidFill>
                <a:latin typeface="Calibri"/>
                <a:ea typeface="Calibri"/>
              </a:rPr>
              <a:t>Tier 2 @ ₹89,999 each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9" name="Text 552"/>
          <p:cNvSpPr/>
          <p:nvPr/>
        </p:nvSpPr>
        <p:spPr>
          <a:xfrm>
            <a:off x="8138160" y="1169847"/>
            <a:ext cx="84060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ED4E33"/>
                </a:solidFill>
                <a:latin typeface="Calibri"/>
                <a:ea typeface="Calibri"/>
              </a:rPr>
              <a:t>₹1,79,998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0" name="Shape 429"/>
          <p:cNvSpPr/>
          <p:nvPr/>
        </p:nvSpPr>
        <p:spPr>
          <a:xfrm>
            <a:off x="6272640" y="1398447"/>
            <a:ext cx="2742480" cy="218880"/>
          </a:xfrm>
          <a:prstGeom prst="rect">
            <a:avLst/>
          </a:prstGeom>
          <a:solidFill>
            <a:srgbClr val="0E0F15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01" name="Text 553"/>
          <p:cNvSpPr/>
          <p:nvPr/>
        </p:nvSpPr>
        <p:spPr>
          <a:xfrm>
            <a:off x="6327720" y="1416447"/>
            <a:ext cx="1425600" cy="10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1 × Master Node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2" name="Text 554"/>
          <p:cNvSpPr/>
          <p:nvPr/>
        </p:nvSpPr>
        <p:spPr>
          <a:xfrm>
            <a:off x="6327720" y="1517247"/>
            <a:ext cx="1425600" cy="9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-1">
                <a:solidFill>
                  <a:srgbClr val="6B7280"/>
                </a:solidFill>
                <a:latin typeface="Calibri"/>
                <a:ea typeface="Calibri"/>
              </a:rPr>
              <a:t>Tier 3 Ryzen 5 Edge Mini PC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3" name="Text 555"/>
          <p:cNvSpPr/>
          <p:nvPr/>
        </p:nvSpPr>
        <p:spPr>
          <a:xfrm>
            <a:off x="8138160" y="1416447"/>
            <a:ext cx="84060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86EFAC"/>
                </a:solidFill>
                <a:latin typeface="Calibri"/>
                <a:ea typeface="Calibri"/>
              </a:rPr>
              <a:t>₹72,999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4" name="Shape 430"/>
          <p:cNvSpPr/>
          <p:nvPr/>
        </p:nvSpPr>
        <p:spPr>
          <a:xfrm>
            <a:off x="6272640" y="1645047"/>
            <a:ext cx="2742480" cy="218880"/>
          </a:xfrm>
          <a:prstGeom prst="rect">
            <a:avLst/>
          </a:prstGeom>
          <a:solidFill>
            <a:srgbClr val="0C0D12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05" name="Text 556"/>
          <p:cNvSpPr/>
          <p:nvPr/>
        </p:nvSpPr>
        <p:spPr>
          <a:xfrm>
            <a:off x="6327720" y="1663407"/>
            <a:ext cx="1425600" cy="10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FFFFFF"/>
                </a:solidFill>
                <a:latin typeface="Calibri"/>
                <a:ea typeface="Calibri"/>
              </a:rPr>
              <a:t>Installation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6" name="Text 557"/>
          <p:cNvSpPr/>
          <p:nvPr/>
        </p:nvSpPr>
        <p:spPr>
          <a:xfrm>
            <a:off x="6327720" y="1764207"/>
            <a:ext cx="1425600" cy="9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-1">
                <a:solidFill>
                  <a:srgbClr val="6B7280"/>
                </a:solidFill>
                <a:latin typeface="Calibri"/>
                <a:ea typeface="Calibri"/>
              </a:rPr>
              <a:t>Wiring  commissioning  setup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7" name="Text 558"/>
          <p:cNvSpPr/>
          <p:nvPr/>
        </p:nvSpPr>
        <p:spPr>
          <a:xfrm>
            <a:off x="8138160" y="1663407"/>
            <a:ext cx="84060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6B7280"/>
                </a:solidFill>
                <a:latin typeface="Calibri"/>
                <a:ea typeface="Calibri"/>
              </a:rPr>
              <a:t>₹25,000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8" name="Shape 431"/>
          <p:cNvSpPr/>
          <p:nvPr/>
        </p:nvSpPr>
        <p:spPr>
          <a:xfrm>
            <a:off x="6272640" y="1928727"/>
            <a:ext cx="2742480" cy="273600"/>
          </a:xfrm>
          <a:prstGeom prst="rect">
            <a:avLst/>
          </a:prstGeom>
          <a:solidFill>
            <a:srgbClr val="1A1208"/>
          </a:solidFill>
          <a:ln w="1512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09" name="Text 559"/>
          <p:cNvSpPr/>
          <p:nvPr/>
        </p:nvSpPr>
        <p:spPr>
          <a:xfrm>
            <a:off x="6327720" y="2001807"/>
            <a:ext cx="1279440" cy="14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-1">
                <a:solidFill>
                  <a:srgbClr val="FCD34D"/>
                </a:solidFill>
                <a:latin typeface="Calibri"/>
                <a:ea typeface="Calibri"/>
              </a:rPr>
              <a:t>TOTAL CAPEX</a:t>
            </a:r>
            <a:endParaRPr lang="en-US" sz="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0" name="Text 560"/>
          <p:cNvSpPr/>
          <p:nvPr/>
        </p:nvSpPr>
        <p:spPr>
          <a:xfrm>
            <a:off x="8083440" y="1965087"/>
            <a:ext cx="89532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CD34D"/>
                </a:solidFill>
                <a:latin typeface="Calibri"/>
                <a:ea typeface="Calibri"/>
              </a:rPr>
              <a:t>₹3,47,977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1" name="Shape 432"/>
          <p:cNvSpPr/>
          <p:nvPr/>
        </p:nvSpPr>
        <p:spPr>
          <a:xfrm>
            <a:off x="6272640" y="2257767"/>
            <a:ext cx="2742480" cy="200520"/>
          </a:xfrm>
          <a:prstGeom prst="rect">
            <a:avLst/>
          </a:prstGeom>
          <a:solidFill>
            <a:srgbClr val="2D0A0A"/>
          </a:solidFill>
          <a:ln w="6480">
            <a:solidFill>
              <a:srgbClr val="5C1A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12" name="Text 561"/>
          <p:cNvSpPr/>
          <p:nvPr/>
        </p:nvSpPr>
        <p:spPr>
          <a:xfrm>
            <a:off x="6327720" y="2294487"/>
            <a:ext cx="263268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FCA5A5"/>
                </a:solidFill>
                <a:latin typeface="Calibri"/>
                <a:ea typeface="Calibri"/>
              </a:rPr>
              <a:t>SKF equivalent (20 sensors): ₹9,00,000 + ₹2,00,000/yr cloud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3" name="Shape 433"/>
          <p:cNvSpPr/>
          <p:nvPr/>
        </p:nvSpPr>
        <p:spPr>
          <a:xfrm>
            <a:off x="6272640" y="2477367"/>
            <a:ext cx="2742480" cy="200520"/>
          </a:xfrm>
          <a:prstGeom prst="rect">
            <a:avLst/>
          </a:prstGeom>
          <a:solidFill>
            <a:srgbClr val="0A2015"/>
          </a:solidFill>
          <a:ln w="648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14" name="Text 562"/>
          <p:cNvSpPr/>
          <p:nvPr/>
        </p:nvSpPr>
        <p:spPr>
          <a:xfrm>
            <a:off x="6327720" y="2513727"/>
            <a:ext cx="263268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strike="noStrike" spc="-1">
                <a:solidFill>
                  <a:srgbClr val="86EFAC"/>
                </a:solidFill>
                <a:latin typeface="Calibri"/>
                <a:ea typeface="Calibri"/>
              </a:rPr>
              <a:t>Savings: ₹5,52,023 hardware  +  ₹2,00,000/yr cloud  =  ₹7.52L Year 1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5" name="Shape 434"/>
          <p:cNvSpPr/>
          <p:nvPr/>
        </p:nvSpPr>
        <p:spPr>
          <a:xfrm>
            <a:off x="6199560" y="2733327"/>
            <a:ext cx="2888640" cy="200520"/>
          </a:xfrm>
          <a:prstGeom prst="rect">
            <a:avLst/>
          </a:prstGeom>
          <a:solidFill>
            <a:srgbClr val="111111"/>
          </a:solidFill>
          <a:ln w="1260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16" name="Text 563"/>
          <p:cNvSpPr/>
          <p:nvPr/>
        </p:nvSpPr>
        <p:spPr>
          <a:xfrm>
            <a:off x="6291000" y="2770047"/>
            <a:ext cx="274248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1" strike="noStrike" spc="46">
                <a:solidFill>
                  <a:srgbClr val="FFFFFF"/>
                </a:solidFill>
                <a:latin typeface="Calibri"/>
                <a:ea typeface="Calibri"/>
              </a:rPr>
              <a:t>REVENUE MODEL  —  PER 20-MACHINE SME</a:t>
            </a:r>
            <a:endParaRPr lang="en-US" sz="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7" name="Shape 435"/>
          <p:cNvSpPr/>
          <p:nvPr/>
        </p:nvSpPr>
        <p:spPr>
          <a:xfrm>
            <a:off x="6272640" y="2952927"/>
            <a:ext cx="2742480" cy="173160"/>
          </a:xfrm>
          <a:prstGeom prst="rect">
            <a:avLst/>
          </a:prstGeom>
          <a:solidFill>
            <a:srgbClr val="0E0F15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18" name="Text 564"/>
          <p:cNvSpPr/>
          <p:nvPr/>
        </p:nvSpPr>
        <p:spPr>
          <a:xfrm>
            <a:off x="6318360" y="2980287"/>
            <a:ext cx="138924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FFFFFF"/>
                </a:solidFill>
                <a:latin typeface="Calibri"/>
                <a:ea typeface="Calibri"/>
              </a:rPr>
              <a:t>Hardware sale (one-time)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9" name="Text 565"/>
          <p:cNvSpPr/>
          <p:nvPr/>
        </p:nvSpPr>
        <p:spPr>
          <a:xfrm>
            <a:off x="7680960" y="2980287"/>
            <a:ext cx="74916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strike="noStrike" spc="-1">
                <a:solidFill>
                  <a:srgbClr val="FCD34D"/>
                </a:solidFill>
                <a:latin typeface="Calibri"/>
                <a:ea typeface="Calibri"/>
              </a:rPr>
              <a:t>₹3,47,977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0" name="Text 566"/>
          <p:cNvSpPr/>
          <p:nvPr/>
        </p:nvSpPr>
        <p:spPr>
          <a:xfrm>
            <a:off x="8339400" y="2980287"/>
            <a:ext cx="65772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86EFAC"/>
                </a:solidFill>
                <a:latin typeface="Calibri"/>
                <a:ea typeface="Calibri"/>
              </a:rPr>
              <a:t>margin: ~20%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1" name="Shape 436"/>
          <p:cNvSpPr/>
          <p:nvPr/>
        </p:nvSpPr>
        <p:spPr>
          <a:xfrm>
            <a:off x="6272640" y="3144807"/>
            <a:ext cx="2742480" cy="173160"/>
          </a:xfrm>
          <a:prstGeom prst="rect">
            <a:avLst/>
          </a:prstGeom>
          <a:solidFill>
            <a:srgbClr val="0C0D12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22" name="Text 567"/>
          <p:cNvSpPr/>
          <p:nvPr/>
        </p:nvSpPr>
        <p:spPr>
          <a:xfrm>
            <a:off x="6318360" y="3172167"/>
            <a:ext cx="138924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FFFFFF"/>
                </a:solidFill>
                <a:latin typeface="Calibri"/>
                <a:ea typeface="Calibri"/>
              </a:rPr>
              <a:t>Install &amp; commission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3" name="Text 568"/>
          <p:cNvSpPr/>
          <p:nvPr/>
        </p:nvSpPr>
        <p:spPr>
          <a:xfrm>
            <a:off x="7680960" y="3172167"/>
            <a:ext cx="74916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strike="noStrike" spc="-1">
                <a:solidFill>
                  <a:srgbClr val="FCD34D"/>
                </a:solidFill>
                <a:latin typeface="Calibri"/>
                <a:ea typeface="Calibri"/>
              </a:rPr>
              <a:t>₹25,000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4" name="Text 569"/>
          <p:cNvSpPr/>
          <p:nvPr/>
        </p:nvSpPr>
        <p:spPr>
          <a:xfrm>
            <a:off x="8339400" y="3172167"/>
            <a:ext cx="65772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86EFAC"/>
                </a:solidFill>
                <a:latin typeface="Calibri"/>
                <a:ea typeface="Calibri"/>
              </a:rPr>
              <a:t>margin: ~68%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5" name="Shape 437"/>
          <p:cNvSpPr/>
          <p:nvPr/>
        </p:nvSpPr>
        <p:spPr>
          <a:xfrm>
            <a:off x="6272640" y="3336687"/>
            <a:ext cx="2742480" cy="173160"/>
          </a:xfrm>
          <a:prstGeom prst="rect">
            <a:avLst/>
          </a:prstGeom>
          <a:solidFill>
            <a:srgbClr val="0E0F15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26" name="Text 570"/>
          <p:cNvSpPr/>
          <p:nvPr/>
        </p:nvSpPr>
        <p:spPr>
          <a:xfrm>
            <a:off x="6318360" y="3364407"/>
            <a:ext cx="138924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FFFFFF"/>
                </a:solidFill>
                <a:latin typeface="Calibri"/>
                <a:ea typeface="Calibri"/>
              </a:rPr>
              <a:t>SaaS: ₹499/machine/month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7" name="Text 571"/>
          <p:cNvSpPr/>
          <p:nvPr/>
        </p:nvSpPr>
        <p:spPr>
          <a:xfrm>
            <a:off x="7680960" y="3364407"/>
            <a:ext cx="74916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strike="noStrike" spc="-1">
                <a:solidFill>
                  <a:srgbClr val="FCD34D"/>
                </a:solidFill>
                <a:latin typeface="Calibri"/>
                <a:ea typeface="Calibri"/>
              </a:rPr>
              <a:t>₹1,19,760/yr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8" name="Text 572"/>
          <p:cNvSpPr/>
          <p:nvPr/>
        </p:nvSpPr>
        <p:spPr>
          <a:xfrm>
            <a:off x="8339400" y="3364407"/>
            <a:ext cx="65772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ED4E33"/>
                </a:solidFill>
                <a:latin typeface="Calibri"/>
                <a:ea typeface="Calibri"/>
              </a:rPr>
              <a:t>margin: ~85%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9" name="Shape 438"/>
          <p:cNvSpPr/>
          <p:nvPr/>
        </p:nvSpPr>
        <p:spPr>
          <a:xfrm>
            <a:off x="6272640" y="3528927"/>
            <a:ext cx="2742480" cy="173160"/>
          </a:xfrm>
          <a:prstGeom prst="rect">
            <a:avLst/>
          </a:prstGeom>
          <a:solidFill>
            <a:srgbClr val="0C0D12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30" name="Text 573"/>
          <p:cNvSpPr/>
          <p:nvPr/>
        </p:nvSpPr>
        <p:spPr>
          <a:xfrm>
            <a:off x="6318360" y="3556287"/>
            <a:ext cx="138924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FFFFFF"/>
                </a:solidFill>
                <a:latin typeface="Calibri"/>
                <a:ea typeface="Calibri"/>
              </a:rPr>
              <a:t>Annual maintenance (AMC)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1" name="Text 574"/>
          <p:cNvSpPr/>
          <p:nvPr/>
        </p:nvSpPr>
        <p:spPr>
          <a:xfrm>
            <a:off x="7680960" y="3556287"/>
            <a:ext cx="74916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strike="noStrike" spc="-1">
                <a:solidFill>
                  <a:srgbClr val="FCD34D"/>
                </a:solidFill>
                <a:latin typeface="Calibri"/>
                <a:ea typeface="Calibri"/>
              </a:rPr>
              <a:t>₹35,000/yr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2" name="Text 575"/>
          <p:cNvSpPr/>
          <p:nvPr/>
        </p:nvSpPr>
        <p:spPr>
          <a:xfrm>
            <a:off x="8339400" y="3556287"/>
            <a:ext cx="65772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FCD34D"/>
                </a:solidFill>
                <a:latin typeface="Calibri"/>
                <a:ea typeface="Calibri"/>
              </a:rPr>
              <a:t>margin: ~70%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3" name="Shape 439"/>
          <p:cNvSpPr/>
          <p:nvPr/>
        </p:nvSpPr>
        <p:spPr>
          <a:xfrm>
            <a:off x="6272640" y="3720807"/>
            <a:ext cx="2742480" cy="173160"/>
          </a:xfrm>
          <a:prstGeom prst="rect">
            <a:avLst/>
          </a:prstGeom>
          <a:solidFill>
            <a:srgbClr val="0E0F15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34" name="Text 576"/>
          <p:cNvSpPr/>
          <p:nvPr/>
        </p:nvSpPr>
        <p:spPr>
          <a:xfrm>
            <a:off x="6318360" y="3748167"/>
            <a:ext cx="138924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0" strike="noStrike" spc="-1">
                <a:solidFill>
                  <a:srgbClr val="FFFFFF"/>
                </a:solidFill>
                <a:latin typeface="Calibri"/>
                <a:ea typeface="Calibri"/>
              </a:rPr>
              <a:t>Model retraining service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5" name="Text 577"/>
          <p:cNvSpPr/>
          <p:nvPr/>
        </p:nvSpPr>
        <p:spPr>
          <a:xfrm>
            <a:off x="7680960" y="3748167"/>
            <a:ext cx="74916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20" b="1" strike="noStrike" spc="-1">
                <a:solidFill>
                  <a:srgbClr val="FCD34D"/>
                </a:solidFill>
                <a:latin typeface="Calibri"/>
                <a:ea typeface="Calibri"/>
              </a:rPr>
              <a:t>₹5,000/machine</a:t>
            </a:r>
            <a:endParaRPr lang="en-US" sz="62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6" name="Text 578"/>
          <p:cNvSpPr/>
          <p:nvPr/>
        </p:nvSpPr>
        <p:spPr>
          <a:xfrm>
            <a:off x="8339400" y="3748167"/>
            <a:ext cx="65772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0891B2"/>
                </a:solidFill>
                <a:latin typeface="Calibri"/>
                <a:ea typeface="Calibri"/>
              </a:rPr>
              <a:t>margin: ~90%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7" name="Shape 440"/>
          <p:cNvSpPr/>
          <p:nvPr/>
        </p:nvSpPr>
        <p:spPr>
          <a:xfrm>
            <a:off x="6272640" y="3931047"/>
            <a:ext cx="1343520" cy="255240"/>
          </a:xfrm>
          <a:prstGeom prst="rect">
            <a:avLst/>
          </a:prstGeom>
          <a:solidFill>
            <a:srgbClr val="0A2015"/>
          </a:solidFill>
          <a:ln w="1008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38" name="Text 579"/>
          <p:cNvSpPr/>
          <p:nvPr/>
        </p:nvSpPr>
        <p:spPr>
          <a:xfrm>
            <a:off x="6327720" y="3967767"/>
            <a:ext cx="1252080" cy="10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1" strike="noStrike" spc="46">
                <a:solidFill>
                  <a:srgbClr val="86EFAC"/>
                </a:solidFill>
                <a:latin typeface="Calibri"/>
                <a:ea typeface="Calibri"/>
              </a:rPr>
              <a:t>YEAR 1 REVENUE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9" name="Text 580"/>
          <p:cNvSpPr/>
          <p:nvPr/>
        </p:nvSpPr>
        <p:spPr>
          <a:xfrm>
            <a:off x="6327720" y="4059207"/>
            <a:ext cx="125208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86EFAC"/>
                </a:solidFill>
                <a:latin typeface="Calibri"/>
                <a:ea typeface="Calibri"/>
              </a:rPr>
              <a:t>₹5.28 lakh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0" name="Shape 441"/>
          <p:cNvSpPr/>
          <p:nvPr/>
        </p:nvSpPr>
        <p:spPr>
          <a:xfrm>
            <a:off x="7653600" y="3931047"/>
            <a:ext cx="1343520" cy="255240"/>
          </a:xfrm>
          <a:prstGeom prst="rect">
            <a:avLst/>
          </a:prstGeom>
          <a:solidFill>
            <a:srgbClr val="7A1E0A"/>
          </a:solidFill>
          <a:ln w="1008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41" name="Text 581"/>
          <p:cNvSpPr/>
          <p:nvPr/>
        </p:nvSpPr>
        <p:spPr>
          <a:xfrm>
            <a:off x="7726680" y="3967767"/>
            <a:ext cx="1252080" cy="10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1" strike="noStrike" spc="46">
                <a:solidFill>
                  <a:srgbClr val="ED4E33"/>
                </a:solidFill>
                <a:latin typeface="Calibri"/>
                <a:ea typeface="Calibri"/>
              </a:rPr>
              <a:t>YEAR 2+ RECURRING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2" name="Text 582"/>
          <p:cNvSpPr/>
          <p:nvPr/>
        </p:nvSpPr>
        <p:spPr>
          <a:xfrm>
            <a:off x="7726680" y="4059207"/>
            <a:ext cx="125208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ED4E33"/>
                </a:solidFill>
                <a:latin typeface="Calibri"/>
                <a:ea typeface="Calibri"/>
              </a:rPr>
              <a:t>₹1.55 lakh/yr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3" name="Shape 442"/>
          <p:cNvSpPr/>
          <p:nvPr/>
        </p:nvSpPr>
        <p:spPr>
          <a:xfrm>
            <a:off x="36000" y="4780647"/>
            <a:ext cx="1409040" cy="173160"/>
          </a:xfrm>
          <a:prstGeom prst="rect">
            <a:avLst/>
          </a:prstGeom>
          <a:solidFill>
            <a:srgbClr val="111111"/>
          </a:solidFill>
          <a:ln w="12600">
            <a:solidFill>
              <a:srgbClr val="11111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44" name="Text 583"/>
          <p:cNvSpPr/>
          <p:nvPr/>
        </p:nvSpPr>
        <p:spPr>
          <a:xfrm>
            <a:off x="72000" y="4780647"/>
            <a:ext cx="1409040" cy="17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46">
                <a:solidFill>
                  <a:srgbClr val="ED4E33"/>
                </a:solidFill>
                <a:latin typeface="Calibri"/>
                <a:ea typeface="Calibri"/>
              </a:rPr>
              <a:t>AMD PRODUCT REFERENCES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5" name="Text 584"/>
          <p:cNvSpPr/>
          <p:nvPr/>
        </p:nvSpPr>
        <p:spPr>
          <a:xfrm>
            <a:off x="2344320" y="4805487"/>
            <a:ext cx="1206360" cy="13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1" strike="noStrike" spc="-1">
                <a:solidFill>
                  <a:srgbClr val="6B7280"/>
                </a:solidFill>
                <a:latin typeface="Calibri"/>
                <a:ea typeface="Calibri"/>
              </a:rPr>
              <a:t>Ryzen AI 9 HX 370 (Tier 2 NPU)   :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6" name="Text 585"/>
          <p:cNvSpPr/>
          <p:nvPr/>
        </p:nvSpPr>
        <p:spPr>
          <a:xfrm>
            <a:off x="3551040" y="4805487"/>
            <a:ext cx="1878840" cy="13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sng" strike="noStrike" spc="-1">
                <a:solidFill>
                  <a:srgbClr val="7DD3FC"/>
                </a:solidFill>
                <a:uFillTx/>
                <a:latin typeface="Calibri"/>
                <a:ea typeface="Calibri"/>
              </a:rPr>
              <a:t>amd.com/en/products/processors/laptop/ryzen-ai/300-series/amd-ryzen-ai-9-hx-370.html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7" name="Text 586"/>
          <p:cNvSpPr/>
          <p:nvPr/>
        </p:nvSpPr>
        <p:spPr>
          <a:xfrm>
            <a:off x="5346000" y="4769487"/>
            <a:ext cx="1778760" cy="13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1" strike="noStrike" spc="-1">
                <a:solidFill>
                  <a:srgbClr val="6B7280"/>
                </a:solidFill>
                <a:latin typeface="Calibri"/>
                <a:ea typeface="Calibri"/>
              </a:rPr>
              <a:t>AMD EPYC 9004 (Enterprise Tier 3):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" name="Text 587"/>
          <p:cNvSpPr/>
          <p:nvPr/>
        </p:nvSpPr>
        <p:spPr>
          <a:xfrm>
            <a:off x="6655680" y="4819167"/>
            <a:ext cx="1499040" cy="13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sng" strike="noStrike" spc="-1">
                <a:solidFill>
                  <a:srgbClr val="7DD3FC"/>
                </a:solidFill>
                <a:uFillTx/>
                <a:latin typeface="Calibri"/>
                <a:ea typeface="Calibri"/>
              </a:rPr>
              <a:t>amd.com/en/products/processors/server/epyc/9004-series.html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9" name="Text 588"/>
          <p:cNvSpPr/>
          <p:nvPr/>
        </p:nvSpPr>
        <p:spPr>
          <a:xfrm>
            <a:off x="2342160" y="5004567"/>
            <a:ext cx="1206360" cy="13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1" strike="noStrike" spc="-1">
                <a:solidFill>
                  <a:srgbClr val="6B7280"/>
                </a:solidFill>
                <a:latin typeface="Calibri"/>
                <a:ea typeface="Calibri"/>
              </a:rPr>
              <a:t>Vitis AI Runtime (NPU provider):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0" name="Text 589"/>
          <p:cNvSpPr/>
          <p:nvPr/>
        </p:nvSpPr>
        <p:spPr>
          <a:xfrm>
            <a:off x="3548880" y="5004567"/>
            <a:ext cx="1499040" cy="13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sng" strike="noStrike" spc="-1">
                <a:solidFill>
                  <a:srgbClr val="7DD3FC"/>
                </a:solidFill>
                <a:uFillTx/>
                <a:latin typeface="Calibri"/>
                <a:ea typeface="Calibri"/>
              </a:rPr>
              <a:t>amd.com/en/developer/vitis-ai.html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1" name="Text 590"/>
          <p:cNvSpPr/>
          <p:nvPr/>
        </p:nvSpPr>
        <p:spPr>
          <a:xfrm>
            <a:off x="36000" y="5011047"/>
            <a:ext cx="1206360" cy="13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1" strike="noStrike" spc="-1">
                <a:solidFill>
                  <a:srgbClr val="6B7280"/>
                </a:solidFill>
                <a:latin typeface="Calibri"/>
                <a:ea typeface="Calibri"/>
              </a:rPr>
              <a:t>Minisforum AI X1 Pro (Mini PC OEM):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Text 591"/>
          <p:cNvSpPr/>
          <p:nvPr/>
        </p:nvSpPr>
        <p:spPr>
          <a:xfrm>
            <a:off x="1156320" y="4959207"/>
            <a:ext cx="1499040" cy="13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" b="0" u="sng" strike="noStrike" spc="-1">
                <a:solidFill>
                  <a:srgbClr val="7DD3FC"/>
                </a:solidFill>
                <a:uFillTx/>
                <a:latin typeface="Calibri"/>
                <a:ea typeface="Calibri"/>
              </a:rPr>
              <a:t>minisforum.com/pages/aix1pro</a:t>
            </a:r>
            <a:endParaRPr lang="en-US" sz="5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Shape 443"/>
          <p:cNvSpPr/>
          <p:nvPr/>
        </p:nvSpPr>
        <p:spPr>
          <a:xfrm>
            <a:off x="0" y="4324527"/>
            <a:ext cx="9143280" cy="121320"/>
          </a:xfrm>
          <a:prstGeom prst="rect">
            <a:avLst/>
          </a:prstGeom>
          <a:solidFill>
            <a:srgbClr val="0A0A0A"/>
          </a:solidFill>
          <a:ln w="12600">
            <a:solidFill>
              <a:srgbClr val="0A0A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54" name="Shape 444"/>
          <p:cNvSpPr/>
          <p:nvPr/>
        </p:nvSpPr>
        <p:spPr>
          <a:xfrm>
            <a:off x="0" y="4390407"/>
            <a:ext cx="9144000" cy="360"/>
          </a:xfrm>
          <a:prstGeom prst="line">
            <a:avLst/>
          </a:prstGeom>
          <a:ln w="1512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55" name="Text 592"/>
          <p:cNvSpPr/>
          <p:nvPr/>
        </p:nvSpPr>
        <p:spPr>
          <a:xfrm>
            <a:off x="0" y="4360887"/>
            <a:ext cx="152316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₹3,499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6" name="Text 593"/>
          <p:cNvSpPr/>
          <p:nvPr/>
        </p:nvSpPr>
        <p:spPr>
          <a:xfrm>
            <a:off x="0" y="4598847"/>
            <a:ext cx="1523160" cy="13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46">
                <a:solidFill>
                  <a:srgbClr val="6B7280"/>
                </a:solidFill>
                <a:latin typeface="Calibri"/>
                <a:ea typeface="Calibri"/>
              </a:rPr>
              <a:t>SENSOR NODE (TIER 1)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7" name="Shape 445"/>
          <p:cNvSpPr/>
          <p:nvPr/>
        </p:nvSpPr>
        <p:spPr>
          <a:xfrm>
            <a:off x="1523880" y="4369887"/>
            <a:ext cx="360" cy="365760"/>
          </a:xfrm>
          <a:prstGeom prst="line">
            <a:avLst/>
          </a:prstGeom>
          <a:ln w="504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58" name="Text 594"/>
          <p:cNvSpPr/>
          <p:nvPr/>
        </p:nvSpPr>
        <p:spPr>
          <a:xfrm>
            <a:off x="1523880" y="4360887"/>
            <a:ext cx="152316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₹89,999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9" name="Text 595"/>
          <p:cNvSpPr/>
          <p:nvPr/>
        </p:nvSpPr>
        <p:spPr>
          <a:xfrm>
            <a:off x="1523880" y="4598847"/>
            <a:ext cx="1523160" cy="13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46">
                <a:solidFill>
                  <a:srgbClr val="6B7280"/>
                </a:solidFill>
                <a:latin typeface="Calibri"/>
                <a:ea typeface="Calibri"/>
              </a:rPr>
              <a:t>NPU NODE (TIER 2)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0" name="Shape 446"/>
          <p:cNvSpPr/>
          <p:nvPr/>
        </p:nvSpPr>
        <p:spPr>
          <a:xfrm>
            <a:off x="3047760" y="4369887"/>
            <a:ext cx="360" cy="365760"/>
          </a:xfrm>
          <a:prstGeom prst="line">
            <a:avLst/>
          </a:prstGeom>
          <a:ln w="504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61" name="Text 596"/>
          <p:cNvSpPr/>
          <p:nvPr/>
        </p:nvSpPr>
        <p:spPr>
          <a:xfrm>
            <a:off x="3048120" y="4360887"/>
            <a:ext cx="152316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₹72,999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2" name="Text 597"/>
          <p:cNvSpPr/>
          <p:nvPr/>
        </p:nvSpPr>
        <p:spPr>
          <a:xfrm>
            <a:off x="3048120" y="4598847"/>
            <a:ext cx="1523160" cy="13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46">
                <a:solidFill>
                  <a:srgbClr val="6B7280"/>
                </a:solidFill>
                <a:latin typeface="Calibri"/>
                <a:ea typeface="Calibri"/>
              </a:rPr>
              <a:t>MASTER NODE (TIER 3)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3" name="Shape 447"/>
          <p:cNvSpPr/>
          <p:nvPr/>
        </p:nvSpPr>
        <p:spPr>
          <a:xfrm>
            <a:off x="4572000" y="4369887"/>
            <a:ext cx="360" cy="365760"/>
          </a:xfrm>
          <a:prstGeom prst="line">
            <a:avLst/>
          </a:prstGeom>
          <a:ln w="504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64" name="Text 598"/>
          <p:cNvSpPr/>
          <p:nvPr/>
        </p:nvSpPr>
        <p:spPr>
          <a:xfrm>
            <a:off x="4572000" y="4360887"/>
            <a:ext cx="152316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₹3.48L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5" name="Text 599"/>
          <p:cNvSpPr/>
          <p:nvPr/>
        </p:nvSpPr>
        <p:spPr>
          <a:xfrm>
            <a:off x="4572000" y="4598847"/>
            <a:ext cx="1523160" cy="13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46">
                <a:solidFill>
                  <a:srgbClr val="6B7280"/>
                </a:solidFill>
                <a:latin typeface="Calibri"/>
                <a:ea typeface="Calibri"/>
              </a:rPr>
              <a:t>20-MACHINE SME CAPEX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6" name="Shape 448"/>
          <p:cNvSpPr/>
          <p:nvPr/>
        </p:nvSpPr>
        <p:spPr>
          <a:xfrm>
            <a:off x="6095880" y="4369887"/>
            <a:ext cx="360" cy="365760"/>
          </a:xfrm>
          <a:prstGeom prst="line">
            <a:avLst/>
          </a:prstGeom>
          <a:ln w="504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67" name="Text 600"/>
          <p:cNvSpPr/>
          <p:nvPr/>
        </p:nvSpPr>
        <p:spPr>
          <a:xfrm>
            <a:off x="6095880" y="4360887"/>
            <a:ext cx="152316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85%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8" name="Text 601"/>
          <p:cNvSpPr/>
          <p:nvPr/>
        </p:nvSpPr>
        <p:spPr>
          <a:xfrm>
            <a:off x="6095880" y="4598847"/>
            <a:ext cx="1523160" cy="13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46">
                <a:solidFill>
                  <a:srgbClr val="6B7280"/>
                </a:solidFill>
                <a:latin typeface="Calibri"/>
                <a:ea typeface="Calibri"/>
              </a:rPr>
              <a:t>SAAS MARGIN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9" name="Shape 449"/>
          <p:cNvSpPr/>
          <p:nvPr/>
        </p:nvSpPr>
        <p:spPr>
          <a:xfrm>
            <a:off x="7619760" y="4369887"/>
            <a:ext cx="360" cy="365760"/>
          </a:xfrm>
          <a:prstGeom prst="line">
            <a:avLst/>
          </a:prstGeom>
          <a:ln w="504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70" name="Text 602"/>
          <p:cNvSpPr/>
          <p:nvPr/>
        </p:nvSpPr>
        <p:spPr>
          <a:xfrm>
            <a:off x="7620120" y="4360887"/>
            <a:ext cx="152316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₹0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1" name="Text 603"/>
          <p:cNvSpPr/>
          <p:nvPr/>
        </p:nvSpPr>
        <p:spPr>
          <a:xfrm>
            <a:off x="7620120" y="4598847"/>
            <a:ext cx="1523160" cy="13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46">
                <a:solidFill>
                  <a:srgbClr val="6B7280"/>
                </a:solidFill>
                <a:latin typeface="Calibri"/>
                <a:ea typeface="Calibri"/>
              </a:rPr>
              <a:t>CLOUD COST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" name="Google Shape;82;p 2">
            <a:extLst>
              <a:ext uri="{FF2B5EF4-FFF2-40B4-BE49-F238E27FC236}">
                <a16:creationId xmlns:a16="http://schemas.microsoft.com/office/drawing/2014/main" id="{F1210642-446D-D657-CE5F-3685A203CCD5}"/>
              </a:ext>
            </a:extLst>
          </p:cNvPr>
          <p:cNvPicPr/>
          <p:nvPr/>
        </p:nvPicPr>
        <p:blipFill>
          <a:blip r:embed="rId3"/>
          <a:srcRect b="89083"/>
          <a:stretch/>
        </p:blipFill>
        <p:spPr>
          <a:xfrm>
            <a:off x="0" y="0"/>
            <a:ext cx="9062434" cy="464967"/>
          </a:xfrm>
          <a:prstGeom prst="rect">
            <a:avLst/>
          </a:prstGeom>
          <a:ln w="0"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3690CB-DA56-F2D4-7D1E-0F9B238B8D0E}"/>
              </a:ext>
            </a:extLst>
          </p:cNvPr>
          <p:cNvSpPr txBox="1"/>
          <p:nvPr/>
        </p:nvSpPr>
        <p:spPr>
          <a:xfrm>
            <a:off x="1211760" y="85859"/>
            <a:ext cx="47468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spc="-1" dirty="0">
                <a:solidFill>
                  <a:srgbClr val="FFFFFF"/>
                </a:solidFill>
                <a:latin typeface="Calibri"/>
                <a:ea typeface="Calibri"/>
              </a:rPr>
              <a:t>Estimated Implementation Cost  —  Full Component BOM &amp; SME Scenario</a:t>
            </a:r>
            <a:endParaRPr lang="en-US" sz="1050" spc="-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PlaceHolder 1"/>
          <p:cNvSpPr>
            <a:spLocks noGrp="1"/>
          </p:cNvSpPr>
          <p:nvPr>
            <p:ph type="subTitle"/>
          </p:nvPr>
        </p:nvSpPr>
        <p:spPr>
          <a:xfrm>
            <a:off x="205920" y="1611000"/>
            <a:ext cx="8624520" cy="3161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360" indent="-171360" defTabSz="914400">
              <a:lnSpc>
                <a:spcPct val="100000"/>
              </a:lnSpc>
              <a:spcBef>
                <a:spcPts val="1001"/>
              </a:spcBef>
              <a:buClr>
                <a:srgbClr val="59595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GB" sz="1200" b="0" strike="noStrike" spc="-1">
                <a:solidFill>
                  <a:schemeClr val="dk1"/>
                </a:solidFill>
                <a:latin typeface="Poppins"/>
                <a:ea typeface="Poppins"/>
              </a:rPr>
              <a:t>Demo Video Link (Max: 3 Minutes)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PlaceHolder 2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868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620" b="1" strike="noStrike" spc="-1">
                <a:solidFill>
                  <a:schemeClr val="dk1"/>
                </a:solidFill>
                <a:latin typeface="Poppins"/>
                <a:ea typeface="Poppins"/>
              </a:rPr>
              <a:t>Prototype Assets (Optional)</a:t>
            </a:r>
            <a:endParaRPr lang="en-US" sz="162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5" name="Google Shape;138;p23"/>
          <p:cNvSpPr/>
          <p:nvPr/>
        </p:nvSpPr>
        <p:spPr>
          <a:xfrm>
            <a:off x="311760" y="1192320"/>
            <a:ext cx="8518680" cy="42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 marL="457200" indent="-317520" defTabSz="914400">
              <a:lnSpc>
                <a:spcPct val="115000"/>
              </a:lnSpc>
              <a:buClr>
                <a:srgbClr val="000000"/>
              </a:buClr>
              <a:buFont typeface="Poppins"/>
              <a:buChar char="➔"/>
            </a:pPr>
            <a:r>
              <a:rPr lang="en-GB" sz="1400" b="0" strike="noStrike" spc="-1">
                <a:solidFill>
                  <a:schemeClr val="dk1"/>
                </a:solidFill>
                <a:latin typeface="Poppins"/>
                <a:ea typeface="Poppins"/>
              </a:rPr>
              <a:t>GitHub Public Repository Link : https://github.com/HSKCTA/Resonance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76" name="Google Shape;139;p23"/>
          <p:cNvPicPr/>
          <p:nvPr/>
        </p:nvPicPr>
        <p:blipFill>
          <a:blip r:embed="rId2"/>
          <a:srcRect b="89083"/>
          <a:stretch/>
        </p:blipFill>
        <p:spPr>
          <a:xfrm>
            <a:off x="0" y="0"/>
            <a:ext cx="9142200" cy="559800"/>
          </a:xfrm>
          <a:prstGeom prst="rect">
            <a:avLst/>
          </a:prstGeom>
          <a:ln w="0">
            <a:noFill/>
          </a:ln>
        </p:spPr>
      </p:pic>
      <p:pic>
        <p:nvPicPr>
          <p:cNvPr id="1077" name="Google Shape;140;p23"/>
          <p:cNvPicPr/>
          <p:nvPr/>
        </p:nvPicPr>
        <p:blipFill>
          <a:blip r:embed="rId3"/>
          <a:srcRect t="98294"/>
          <a:stretch/>
        </p:blipFill>
        <p:spPr>
          <a:xfrm>
            <a:off x="0" y="5055840"/>
            <a:ext cx="9142200" cy="86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Text 1"/>
          <p:cNvSpPr/>
          <p:nvPr/>
        </p:nvSpPr>
        <p:spPr>
          <a:xfrm>
            <a:off x="182880" y="36720"/>
            <a:ext cx="82152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2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79" name="Text 9"/>
          <p:cNvSpPr/>
          <p:nvPr/>
        </p:nvSpPr>
        <p:spPr>
          <a:xfrm>
            <a:off x="7772400" y="109800"/>
            <a:ext cx="118728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888888"/>
                </a:solidFill>
                <a:latin typeface="Calibri"/>
                <a:ea typeface="Calibri"/>
              </a:rPr>
              <a:t>Powered by H2S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0" name="Shape 5"/>
          <p:cNvSpPr/>
          <p:nvPr/>
        </p:nvSpPr>
        <p:spPr>
          <a:xfrm>
            <a:off x="-9000" y="530280"/>
            <a:ext cx="3016080" cy="4730760"/>
          </a:xfrm>
          <a:prstGeom prst="rect">
            <a:avLst/>
          </a:prstGeom>
          <a:solidFill>
            <a:srgbClr val="161616"/>
          </a:solidFill>
          <a:ln w="12600">
            <a:solidFill>
              <a:srgbClr val="16161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81" name="Text 19"/>
          <p:cNvSpPr/>
          <p:nvPr/>
        </p:nvSpPr>
        <p:spPr>
          <a:xfrm>
            <a:off x="164520" y="530280"/>
            <a:ext cx="2741760" cy="29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libri"/>
                <a:ea typeface="Calibri"/>
              </a:rPr>
              <a:t>Standing on the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2" name="Text 32"/>
          <p:cNvSpPr/>
          <p:nvPr/>
        </p:nvSpPr>
        <p:spPr>
          <a:xfrm>
            <a:off x="164520" y="804600"/>
            <a:ext cx="2741760" cy="29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ED4E33"/>
                </a:solidFill>
                <a:latin typeface="Calibri"/>
                <a:ea typeface="Calibri"/>
              </a:rPr>
              <a:t>Shoulders of Giants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3" name="Shape 21"/>
          <p:cNvSpPr/>
          <p:nvPr/>
        </p:nvSpPr>
        <p:spPr>
          <a:xfrm>
            <a:off x="164520" y="1170360"/>
            <a:ext cx="2560320" cy="360"/>
          </a:xfrm>
          <a:prstGeom prst="line">
            <a:avLst/>
          </a:prstGeom>
          <a:ln w="1260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84" name="Text 35"/>
          <p:cNvSpPr/>
          <p:nvPr/>
        </p:nvSpPr>
        <p:spPr>
          <a:xfrm>
            <a:off x="164520" y="1261800"/>
            <a:ext cx="2650320" cy="54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strike="noStrike" spc="-1">
                <a:solidFill>
                  <a:srgbClr val="AAAAAA"/>
                </a:solidFill>
                <a:latin typeface="Calibri"/>
                <a:ea typeface="Calibri"/>
              </a:rPr>
              <a:t>Every claim is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strike="noStrike" spc="-1">
                <a:solidFill>
                  <a:srgbClr val="AAAAAA"/>
                </a:solidFill>
                <a:latin typeface="Calibri"/>
                <a:ea typeface="Calibri"/>
              </a:rPr>
              <a:t>verifiable.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5" name="Text 36"/>
          <p:cNvSpPr/>
          <p:nvPr/>
        </p:nvSpPr>
        <p:spPr>
          <a:xfrm>
            <a:off x="164520" y="1874520"/>
            <a:ext cx="2696040" cy="118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CCCCCC"/>
                </a:solidFill>
                <a:latin typeface="Calibri"/>
                <a:ea typeface="Calibri"/>
              </a:rPr>
              <a:t>The same fault signatures defined in ISO 10816 power SKF and Emerson sensors sold at ₹80,000 each. Resonance applies identical ISO-validated physics and peer-reviewed AI — at ₹6,100 per machine.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6" name="Text 40"/>
          <p:cNvSpPr/>
          <p:nvPr/>
        </p:nvSpPr>
        <p:spPr>
          <a:xfrm>
            <a:off x="164520" y="3154680"/>
            <a:ext cx="2696040" cy="59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Proven science.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Accessible price.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7" name="Shape 25"/>
          <p:cNvSpPr/>
          <p:nvPr/>
        </p:nvSpPr>
        <p:spPr>
          <a:xfrm>
            <a:off x="164520" y="3822120"/>
            <a:ext cx="1827360" cy="218160"/>
          </a:xfrm>
          <a:prstGeom prst="rect">
            <a:avLst/>
          </a:prstGeom>
          <a:solidFill>
            <a:srgbClr val="1D4ED8"/>
          </a:solidFill>
          <a:ln w="1260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88" name="Text 59"/>
          <p:cNvSpPr/>
          <p:nvPr/>
        </p:nvSpPr>
        <p:spPr>
          <a:xfrm>
            <a:off x="164520" y="3822120"/>
            <a:ext cx="1827360" cy="21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Calibri"/>
              </a:rPr>
              <a:t>3 ISO Standards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Shape 29"/>
          <p:cNvSpPr/>
          <p:nvPr/>
        </p:nvSpPr>
        <p:spPr>
          <a:xfrm>
            <a:off x="164520" y="4123800"/>
            <a:ext cx="1827360" cy="21816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90" name="Text 68"/>
          <p:cNvSpPr/>
          <p:nvPr/>
        </p:nvSpPr>
        <p:spPr>
          <a:xfrm>
            <a:off x="164520" y="4123800"/>
            <a:ext cx="1827360" cy="21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Calibri"/>
              </a:rPr>
              <a:t>4 IEEE Papers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1" name="Shape 34"/>
          <p:cNvSpPr/>
          <p:nvPr/>
        </p:nvSpPr>
        <p:spPr>
          <a:xfrm>
            <a:off x="164520" y="4425840"/>
            <a:ext cx="1827360" cy="218160"/>
          </a:xfrm>
          <a:prstGeom prst="rect">
            <a:avLst/>
          </a:prstGeom>
          <a:solidFill>
            <a:srgbClr val="15803D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92" name="Text 72"/>
          <p:cNvSpPr/>
          <p:nvPr/>
        </p:nvSpPr>
        <p:spPr>
          <a:xfrm>
            <a:off x="164520" y="4425840"/>
            <a:ext cx="1827360" cy="21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Calibri"/>
              </a:rPr>
              <a:t>3 Industry Reports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3" name="Text 80"/>
          <p:cNvSpPr/>
          <p:nvPr/>
        </p:nvSpPr>
        <p:spPr>
          <a:xfrm>
            <a:off x="164520" y="4736520"/>
            <a:ext cx="269604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strike="noStrike" spc="-1">
                <a:solidFill>
                  <a:srgbClr val="666666"/>
                </a:solidFill>
                <a:latin typeface="Calibri"/>
                <a:ea typeface="Calibri"/>
              </a:rPr>
              <a:t>10 verifiable sources on one slide.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4" name="Text 83"/>
          <p:cNvSpPr/>
          <p:nvPr/>
        </p:nvSpPr>
        <p:spPr>
          <a:xfrm>
            <a:off x="3154680" y="545760"/>
            <a:ext cx="548496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strike="noStrike" spc="191">
                <a:solidFill>
                  <a:srgbClr val="6B7280"/>
                </a:solidFill>
                <a:latin typeface="Calibri"/>
                <a:ea typeface="Calibri"/>
              </a:rPr>
              <a:t>EVIDENCE FOUNDATION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5" name="Shape 37"/>
          <p:cNvSpPr/>
          <p:nvPr/>
        </p:nvSpPr>
        <p:spPr>
          <a:xfrm>
            <a:off x="3154680" y="745920"/>
            <a:ext cx="2878920" cy="1735920"/>
          </a:xfrm>
          <a:prstGeom prst="rect">
            <a:avLst/>
          </a:prstGeom>
          <a:solidFill>
            <a:srgbClr val="FFFFFF"/>
          </a:solidFill>
          <a:ln w="6480">
            <a:solidFill>
              <a:srgbClr val="E5E7EB"/>
            </a:solidFill>
            <a:round/>
          </a:ln>
          <a:effectLst>
            <a:outerShdw blurRad="101520" dist="25455" dir="81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96" name="Shape 38"/>
          <p:cNvSpPr/>
          <p:nvPr/>
        </p:nvSpPr>
        <p:spPr>
          <a:xfrm>
            <a:off x="3154680" y="745920"/>
            <a:ext cx="2878920" cy="53280"/>
          </a:xfrm>
          <a:prstGeom prst="rect">
            <a:avLst/>
          </a:prstGeom>
          <a:solidFill>
            <a:srgbClr val="1D4ED8"/>
          </a:solidFill>
          <a:ln w="1260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97" name="Text 84"/>
          <p:cNvSpPr/>
          <p:nvPr/>
        </p:nvSpPr>
        <p:spPr>
          <a:xfrm>
            <a:off x="3264480" y="837360"/>
            <a:ext cx="269604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1D4ED8"/>
                </a:solidFill>
                <a:latin typeface="Calibri"/>
                <a:ea typeface="Calibri"/>
              </a:rPr>
              <a:t>⚙  PHYSICS VALIDATED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8" name="Text 98"/>
          <p:cNvSpPr/>
          <p:nvPr/>
        </p:nvSpPr>
        <p:spPr>
          <a:xfrm>
            <a:off x="3264480" y="1065960"/>
            <a:ext cx="267768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333333"/>
                </a:solidFill>
                <a:latin typeface="Calibri"/>
                <a:ea typeface="Calibri"/>
                <a:hlinkClick r:id="rId3"/>
              </a:rPr>
              <a:t>ISO 10816-3:2009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333333"/>
                </a:solidFill>
                <a:latin typeface="Calibri"/>
                <a:ea typeface="Calibri"/>
              </a:rPr>
              <a:t>Defines RMS vibration limits &amp; spectral fault signatures for compressors, pumps &amp; motors. Validates our safety gate.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333333"/>
                </a:solidFill>
                <a:latin typeface="Calibri"/>
                <a:ea typeface="Calibri"/>
                <a:hlinkClick r:id="rId4"/>
              </a:rPr>
              <a:t>ISO 13373-1:2002</a:t>
            </a:r>
            <a:r>
              <a:rPr lang="en-US" sz="850" b="1" strike="noStrike" spc="-1">
                <a:solidFill>
                  <a:srgbClr val="333333"/>
                </a:solidFill>
                <a:latin typeface="Calibri"/>
                <a:ea typeface="Calibri"/>
              </a:rPr>
              <a:t>  </a:t>
            </a:r>
            <a:r>
              <a:rPr lang="en-US" sz="850" b="0" strike="noStrike" spc="-1">
                <a:solidFill>
                  <a:srgbClr val="333333"/>
                </a:solidFill>
                <a:latin typeface="Calibri"/>
                <a:ea typeface="Calibri"/>
              </a:rPr>
              <a:t>FFT spectral analysis methods validating 1× 2× 3× harmonic approach.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9" name="Shape 41"/>
          <p:cNvSpPr/>
          <p:nvPr/>
        </p:nvSpPr>
        <p:spPr>
          <a:xfrm>
            <a:off x="6126480" y="750600"/>
            <a:ext cx="2878920" cy="1735920"/>
          </a:xfrm>
          <a:prstGeom prst="rect">
            <a:avLst/>
          </a:prstGeom>
          <a:solidFill>
            <a:srgbClr val="FFFFFF"/>
          </a:solidFill>
          <a:ln w="6480">
            <a:solidFill>
              <a:srgbClr val="E5E7EB"/>
            </a:solidFill>
            <a:round/>
          </a:ln>
          <a:effectLst>
            <a:outerShdw blurRad="101520" dist="25455" dir="81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00" name="Shape 45"/>
          <p:cNvSpPr/>
          <p:nvPr/>
        </p:nvSpPr>
        <p:spPr>
          <a:xfrm>
            <a:off x="6126480" y="750600"/>
            <a:ext cx="2878920" cy="5328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01" name="Text 104"/>
          <p:cNvSpPr/>
          <p:nvPr/>
        </p:nvSpPr>
        <p:spPr>
          <a:xfrm>
            <a:off x="6236280" y="842040"/>
            <a:ext cx="269604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ED4E33"/>
                </a:solidFill>
                <a:latin typeface="Calibri"/>
                <a:ea typeface="Calibri"/>
              </a:rPr>
              <a:t>🧠  AI APPROACH PROVEN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" name="Text 105"/>
          <p:cNvSpPr/>
          <p:nvPr/>
        </p:nvSpPr>
        <p:spPr>
          <a:xfrm>
            <a:off x="6236280" y="1070640"/>
            <a:ext cx="2677680" cy="132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850" b="1" strike="noStrike" spc="-1">
                <a:solidFill>
                  <a:srgbClr val="333333"/>
                </a:solidFill>
                <a:latin typeface="Calibri"/>
                <a:ea typeface="Calibri"/>
                <a:hlinkClick r:id="rId5"/>
              </a:rPr>
              <a:t>Sakurada &amp; Yairi (2014) · ACM · 500+ citations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333333"/>
                </a:solidFill>
                <a:latin typeface="Calibri"/>
                <a:ea typeface="Calibri"/>
              </a:rPr>
              <a:t>Proves autoencoders on healthy data detect anomalies via MSE — exact basis of Resonance.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333333"/>
                </a:solidFill>
                <a:latin typeface="Calibri"/>
                <a:ea typeface="Calibri"/>
                <a:hlinkClick r:id="rId6"/>
              </a:rPr>
              <a:t>Principi et al. (2019) · IEEE/CAA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333333"/>
                </a:solidFill>
                <a:latin typeface="Calibri"/>
                <a:ea typeface="Calibri"/>
              </a:rPr>
              <a:t>Validates ConvAutoencoder for rotating machinery.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3" name="Shape 49"/>
          <p:cNvSpPr/>
          <p:nvPr/>
        </p:nvSpPr>
        <p:spPr>
          <a:xfrm>
            <a:off x="3154680" y="2541960"/>
            <a:ext cx="1888200" cy="1370160"/>
          </a:xfrm>
          <a:prstGeom prst="rect">
            <a:avLst/>
          </a:prstGeom>
          <a:solidFill>
            <a:srgbClr val="EFF6FF"/>
          </a:solidFill>
          <a:ln w="6480">
            <a:solidFill>
              <a:srgbClr val="BFDBFE"/>
            </a:solidFill>
            <a:round/>
          </a:ln>
          <a:effectLst>
            <a:outerShdw blurRad="101520" dist="25455" dir="81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04" name="Shape 53"/>
          <p:cNvSpPr/>
          <p:nvPr/>
        </p:nvSpPr>
        <p:spPr>
          <a:xfrm>
            <a:off x="3154680" y="2541960"/>
            <a:ext cx="44280" cy="1370160"/>
          </a:xfrm>
          <a:prstGeom prst="rect">
            <a:avLst/>
          </a:prstGeom>
          <a:solidFill>
            <a:srgbClr val="1D4ED8"/>
          </a:solidFill>
          <a:ln w="12600">
            <a:solidFill>
              <a:srgbClr val="1D4E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05" name="Text 106"/>
          <p:cNvSpPr/>
          <p:nvPr/>
        </p:nvSpPr>
        <p:spPr>
          <a:xfrm>
            <a:off x="3282840" y="2633400"/>
            <a:ext cx="170532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1D4ED8"/>
                </a:solidFill>
                <a:latin typeface="Calibri"/>
                <a:ea typeface="Calibri"/>
                <a:hlinkClick r:id="rId7"/>
              </a:rPr>
              <a:t>Randall, R.B. (2011)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6" name="Text 107"/>
          <p:cNvSpPr/>
          <p:nvPr/>
        </p:nvSpPr>
        <p:spPr>
          <a:xfrm>
            <a:off x="3282840" y="2816280"/>
            <a:ext cx="1705320" cy="14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strike="noStrike" spc="-1">
                <a:solidFill>
                  <a:srgbClr val="6B7280"/>
                </a:solidFill>
                <a:latin typeface="Calibri"/>
                <a:ea typeface="Calibri"/>
              </a:rPr>
              <a:t>Cambridge University Press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7" name="Text 109"/>
          <p:cNvSpPr/>
          <p:nvPr/>
        </p:nvSpPr>
        <p:spPr>
          <a:xfrm>
            <a:off x="3282840" y="2999160"/>
            <a:ext cx="1705320" cy="80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444444"/>
                </a:solidFill>
                <a:latin typeface="Calibri"/>
                <a:ea typeface="Calibri"/>
              </a:rPr>
              <a:t>THE definitive textbook on vibration-based condition monitoring. Defines all spectral fault signatures Resonance detects. SKF cites this directly.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Shape 55"/>
          <p:cNvSpPr/>
          <p:nvPr/>
        </p:nvSpPr>
        <p:spPr>
          <a:xfrm>
            <a:off x="5135760" y="2541960"/>
            <a:ext cx="1888200" cy="1370160"/>
          </a:xfrm>
          <a:prstGeom prst="rect">
            <a:avLst/>
          </a:prstGeom>
          <a:solidFill>
            <a:srgbClr val="1A1A1A"/>
          </a:solidFill>
          <a:ln w="6480">
            <a:solidFill>
              <a:srgbClr val="333333"/>
            </a:solidFill>
            <a:round/>
          </a:ln>
          <a:effectLst>
            <a:outerShdw blurRad="101520" dist="25455" dir="81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09" name="Shape 58"/>
          <p:cNvSpPr/>
          <p:nvPr/>
        </p:nvSpPr>
        <p:spPr>
          <a:xfrm>
            <a:off x="5135760" y="2541960"/>
            <a:ext cx="44280" cy="137016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10" name="Text 110"/>
          <p:cNvSpPr/>
          <p:nvPr/>
        </p:nvSpPr>
        <p:spPr>
          <a:xfrm>
            <a:off x="5263920" y="2633400"/>
            <a:ext cx="170532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Calibri"/>
                <a:hlinkClick r:id="rId8"/>
              </a:rPr>
              <a:t>SKF Application Notes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Text 111"/>
          <p:cNvSpPr/>
          <p:nvPr/>
        </p:nvSpPr>
        <p:spPr>
          <a:xfrm>
            <a:off x="5263920" y="2816280"/>
            <a:ext cx="1705320" cy="14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strike="noStrike" spc="-1">
                <a:solidFill>
                  <a:srgbClr val="ED4E33"/>
                </a:solidFill>
                <a:latin typeface="Calibri"/>
                <a:ea typeface="Calibri"/>
              </a:rPr>
              <a:t>Competitor confirms our physics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2" name="Text 116"/>
          <p:cNvSpPr/>
          <p:nvPr/>
        </p:nvSpPr>
        <p:spPr>
          <a:xfrm>
            <a:off x="5263920" y="2999160"/>
            <a:ext cx="1705320" cy="80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CCCCCC"/>
                </a:solidFill>
                <a:latin typeface="Calibri"/>
                <a:ea typeface="Calibri"/>
              </a:rPr>
              <a:t>World's #1 bearing manufacturer publishes identical spectral signatures in their ₹80,000 sensor docs. Same science. 85% lower cost.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Shape 61"/>
          <p:cNvSpPr/>
          <p:nvPr/>
        </p:nvSpPr>
        <p:spPr>
          <a:xfrm>
            <a:off x="7117200" y="2541960"/>
            <a:ext cx="1888200" cy="1370160"/>
          </a:xfrm>
          <a:prstGeom prst="rect">
            <a:avLst/>
          </a:prstGeom>
          <a:solidFill>
            <a:srgbClr val="F0FDF4"/>
          </a:solidFill>
          <a:ln w="6480">
            <a:solidFill>
              <a:srgbClr val="BBF7D0"/>
            </a:solidFill>
            <a:round/>
          </a:ln>
          <a:effectLst>
            <a:outerShdw blurRad="101520" dist="25455" dir="8100000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14" name="Shape 66"/>
          <p:cNvSpPr/>
          <p:nvPr/>
        </p:nvSpPr>
        <p:spPr>
          <a:xfrm>
            <a:off x="7117200" y="2541960"/>
            <a:ext cx="44280" cy="1370160"/>
          </a:xfrm>
          <a:prstGeom prst="rect">
            <a:avLst/>
          </a:prstGeom>
          <a:solidFill>
            <a:srgbClr val="15803D"/>
          </a:solidFill>
          <a:ln w="12600">
            <a:solidFill>
              <a:srgbClr val="1580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15" name="Text 118"/>
          <p:cNvSpPr/>
          <p:nvPr/>
        </p:nvSpPr>
        <p:spPr>
          <a:xfrm>
            <a:off x="7245000" y="2633400"/>
            <a:ext cx="1705320" cy="18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15803D"/>
                </a:solidFill>
                <a:latin typeface="Calibri"/>
                <a:ea typeface="Calibri"/>
              </a:rPr>
              <a:t>Market Evidence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Text 179"/>
          <p:cNvSpPr/>
          <p:nvPr/>
        </p:nvSpPr>
        <p:spPr>
          <a:xfrm>
            <a:off x="7245000" y="2816280"/>
            <a:ext cx="1705320" cy="14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i="1" strike="noStrike" spc="-1">
                <a:solidFill>
                  <a:srgbClr val="6B7280"/>
                </a:solidFill>
                <a:latin typeface="Calibri"/>
                <a:ea typeface="Calibri"/>
              </a:rPr>
              <a:t>FICCI 2023 · McKinsey 2022 · Deloitte 2017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Text 180"/>
          <p:cNvSpPr/>
          <p:nvPr/>
        </p:nvSpPr>
        <p:spPr>
          <a:xfrm>
            <a:off x="7245000" y="2999160"/>
            <a:ext cx="1705320" cy="80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444444"/>
                </a:solidFill>
                <a:latin typeface="Calibri"/>
                <a:ea typeface="Calibri"/>
              </a:rPr>
              <a:t>500,000 SME manufacturers unserved. $50B/year unplanned downtime. 10× ROI on predictive maintenance. 85% rotating machinery downtime.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8" name="Shape 69"/>
          <p:cNvSpPr/>
          <p:nvPr/>
        </p:nvSpPr>
        <p:spPr>
          <a:xfrm>
            <a:off x="3154680" y="4005000"/>
            <a:ext cx="5850720" cy="657000"/>
          </a:xfrm>
          <a:prstGeom prst="rect">
            <a:avLst/>
          </a:prstGeom>
          <a:solidFill>
            <a:srgbClr val="1A1A1A"/>
          </a:solidFill>
          <a:ln w="12600">
            <a:solidFill>
              <a:srgbClr val="1A1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19" name="Shape 70"/>
          <p:cNvSpPr/>
          <p:nvPr/>
        </p:nvSpPr>
        <p:spPr>
          <a:xfrm>
            <a:off x="3154680" y="4005000"/>
            <a:ext cx="53280" cy="65700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20" name="Text 181"/>
          <p:cNvSpPr/>
          <p:nvPr/>
        </p:nvSpPr>
        <p:spPr>
          <a:xfrm>
            <a:off x="3319200" y="4078080"/>
            <a:ext cx="5594760" cy="27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strike="noStrike" spc="-1">
                <a:solidFill>
                  <a:srgbClr val="AAAAAA"/>
                </a:solidFill>
                <a:latin typeface="Calibri"/>
                <a:ea typeface="Calibri"/>
              </a:rPr>
              <a:t>"We did not invent new science. </a:t>
            </a:r>
            <a:r>
              <a:rPr lang="en-US" sz="950" b="0" i="1" strike="noStrike" spc="-1">
                <a:solidFill>
                  <a:srgbClr val="FFFFFF"/>
                </a:solidFill>
                <a:latin typeface="Calibri"/>
                <a:ea typeface="Calibri"/>
              </a:rPr>
              <a:t>We made proven, peer-reviewed, ISO-certified science </a:t>
            </a:r>
            <a:r>
              <a:rPr lang="en-US" sz="950" b="0" i="1" strike="noStrike" spc="-1">
                <a:solidFill>
                  <a:srgbClr val="AAAAAA"/>
                </a:solidFill>
                <a:latin typeface="Calibri"/>
                <a:ea typeface="Calibri"/>
              </a:rPr>
              <a:t>accessible to 500,000 manufacturers who couldn't afford it."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1" name="Text 182"/>
          <p:cNvSpPr/>
          <p:nvPr/>
        </p:nvSpPr>
        <p:spPr>
          <a:xfrm>
            <a:off x="3319200" y="4380120"/>
            <a:ext cx="5594760" cy="16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strike="noStrike" spc="-1">
                <a:solidFill>
                  <a:srgbClr val="ED4E33"/>
                </a:solidFill>
                <a:latin typeface="Calibri"/>
                <a:ea typeface="Calibri"/>
              </a:rPr>
              <a:t>— Resonance · DataNotFound · AMD Slingshot 2026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" name="Shape 73"/>
          <p:cNvSpPr/>
          <p:nvPr/>
        </p:nvSpPr>
        <p:spPr>
          <a:xfrm>
            <a:off x="0" y="5097960"/>
            <a:ext cx="9142560" cy="4428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1123" name="Google Shape;130;p22"/>
          <p:cNvPicPr/>
          <p:nvPr/>
        </p:nvPicPr>
        <p:blipFill>
          <a:blip r:embed="rId9"/>
          <a:srcRect b="89083"/>
          <a:stretch/>
        </p:blipFill>
        <p:spPr>
          <a:xfrm>
            <a:off x="-9000" y="-28440"/>
            <a:ext cx="9142200" cy="559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Text 28"/>
          <p:cNvSpPr/>
          <p:nvPr/>
        </p:nvSpPr>
        <p:spPr>
          <a:xfrm>
            <a:off x="274320" y="693360"/>
            <a:ext cx="859428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1A1A1A"/>
                </a:solidFill>
                <a:latin typeface="Calibri"/>
                <a:ea typeface="Calibri"/>
              </a:rPr>
              <a:t>Why Existing Solutions Don't Serve SME Manufacturing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5" name="Text 217"/>
          <p:cNvSpPr/>
          <p:nvPr/>
        </p:nvSpPr>
        <p:spPr>
          <a:xfrm>
            <a:off x="274320" y="940320"/>
            <a:ext cx="859428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32">
                <a:solidFill>
                  <a:srgbClr val="ED4E33"/>
                </a:solidFill>
                <a:latin typeface="Courier New"/>
                <a:ea typeface="Courier New"/>
              </a:rPr>
              <a:t>Resonance Targets the Unserved 500,000+ Indian Factories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6" name="Shape 10"/>
          <p:cNvSpPr/>
          <p:nvPr/>
        </p:nvSpPr>
        <p:spPr>
          <a:xfrm>
            <a:off x="274320" y="1168920"/>
            <a:ext cx="1416240" cy="327960"/>
          </a:xfrm>
          <a:prstGeom prst="rect">
            <a:avLst/>
          </a:prstGeom>
          <a:solidFill>
            <a:srgbClr val="1A1A1A"/>
          </a:solidFill>
          <a:ln w="12600">
            <a:solidFill>
              <a:srgbClr val="1A1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27" name="Text 240"/>
          <p:cNvSpPr/>
          <p:nvPr/>
        </p:nvSpPr>
        <p:spPr>
          <a:xfrm>
            <a:off x="365760" y="1168920"/>
            <a:ext cx="1288080" cy="32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Calibri"/>
              </a:rPr>
              <a:t>Feature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8" name="Shape 14"/>
          <p:cNvSpPr/>
          <p:nvPr/>
        </p:nvSpPr>
        <p:spPr>
          <a:xfrm>
            <a:off x="1691640" y="1168920"/>
            <a:ext cx="1279080" cy="32796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29" name="Text 241"/>
          <p:cNvSpPr/>
          <p:nvPr/>
        </p:nvSpPr>
        <p:spPr>
          <a:xfrm>
            <a:off x="1691640" y="1168920"/>
            <a:ext cx="1279080" cy="32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Calibri"/>
              </a:rPr>
              <a:t>RESONANCE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0" name="Shape 18"/>
          <p:cNvSpPr/>
          <p:nvPr/>
        </p:nvSpPr>
        <p:spPr>
          <a:xfrm>
            <a:off x="2971800" y="1168920"/>
            <a:ext cx="1279080" cy="327960"/>
          </a:xfrm>
          <a:prstGeom prst="rect">
            <a:avLst/>
          </a:prstGeom>
          <a:solidFill>
            <a:srgbClr val="333333"/>
          </a:solidFill>
          <a:ln w="1260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31" name="Text 242"/>
          <p:cNvSpPr/>
          <p:nvPr/>
        </p:nvSpPr>
        <p:spPr>
          <a:xfrm>
            <a:off x="2971800" y="1168920"/>
            <a:ext cx="1279080" cy="32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AAAAAA"/>
                </a:solidFill>
                <a:latin typeface="Calibri"/>
                <a:ea typeface="Calibri"/>
              </a:rPr>
              <a:t>SKF Enlight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2" name="Shape 151"/>
          <p:cNvSpPr/>
          <p:nvPr/>
        </p:nvSpPr>
        <p:spPr>
          <a:xfrm>
            <a:off x="4251960" y="1168920"/>
            <a:ext cx="1279080" cy="327960"/>
          </a:xfrm>
          <a:prstGeom prst="rect">
            <a:avLst/>
          </a:prstGeom>
          <a:solidFill>
            <a:srgbClr val="333333"/>
          </a:solidFill>
          <a:ln w="1260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33" name="Text 243"/>
          <p:cNvSpPr/>
          <p:nvPr/>
        </p:nvSpPr>
        <p:spPr>
          <a:xfrm>
            <a:off x="4251960" y="1168920"/>
            <a:ext cx="1279080" cy="32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AAAAAA"/>
                </a:solidFill>
                <a:latin typeface="Calibri"/>
                <a:ea typeface="Calibri"/>
              </a:rPr>
              <a:t>Emerson AMS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" name="Shape 155"/>
          <p:cNvSpPr/>
          <p:nvPr/>
        </p:nvSpPr>
        <p:spPr>
          <a:xfrm>
            <a:off x="5532120" y="1168920"/>
            <a:ext cx="1279080" cy="327960"/>
          </a:xfrm>
          <a:prstGeom prst="rect">
            <a:avLst/>
          </a:prstGeom>
          <a:solidFill>
            <a:srgbClr val="333333"/>
          </a:solidFill>
          <a:ln w="1260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35" name="Text 244"/>
          <p:cNvSpPr/>
          <p:nvPr/>
        </p:nvSpPr>
        <p:spPr>
          <a:xfrm>
            <a:off x="5532120" y="1168920"/>
            <a:ext cx="1279080" cy="32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AAAAAA"/>
                </a:solidFill>
                <a:latin typeface="Calibri"/>
                <a:ea typeface="Calibri"/>
              </a:rPr>
              <a:t>Schaeffler Optime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6" name="Shape 157"/>
          <p:cNvSpPr/>
          <p:nvPr/>
        </p:nvSpPr>
        <p:spPr>
          <a:xfrm>
            <a:off x="274320" y="1497960"/>
            <a:ext cx="1416240" cy="364680"/>
          </a:xfrm>
          <a:prstGeom prst="rect">
            <a:avLst/>
          </a:prstGeom>
          <a:solidFill>
            <a:srgbClr val="2A2A2A"/>
          </a:solidFill>
          <a:ln w="396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37" name="Text 245"/>
          <p:cNvSpPr/>
          <p:nvPr/>
        </p:nvSpPr>
        <p:spPr>
          <a:xfrm>
            <a:off x="365760" y="1497960"/>
            <a:ext cx="12880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CCCCCC"/>
                </a:solidFill>
                <a:latin typeface="Calibri"/>
                <a:ea typeface="Calibri"/>
              </a:rPr>
              <a:t>Cost per sensor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8" name="Shape 159"/>
          <p:cNvSpPr/>
          <p:nvPr/>
        </p:nvSpPr>
        <p:spPr>
          <a:xfrm>
            <a:off x="1691640" y="1497960"/>
            <a:ext cx="1279080" cy="364680"/>
          </a:xfrm>
          <a:prstGeom prst="rect">
            <a:avLst/>
          </a:prstGeom>
          <a:solidFill>
            <a:srgbClr val="FFF7F5"/>
          </a:solidFill>
          <a:ln w="6480">
            <a:solidFill>
              <a:srgbClr val="FDCD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39" name="Shape 161"/>
          <p:cNvSpPr/>
          <p:nvPr/>
        </p:nvSpPr>
        <p:spPr>
          <a:xfrm>
            <a:off x="1691640" y="1497960"/>
            <a:ext cx="35640" cy="36468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40" name="Text 246"/>
          <p:cNvSpPr/>
          <p:nvPr/>
        </p:nvSpPr>
        <p:spPr>
          <a:xfrm>
            <a:off x="1755720" y="149796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ED4E33"/>
                </a:solidFill>
                <a:latin typeface="Calibri"/>
                <a:ea typeface="Calibri"/>
              </a:rPr>
              <a:t>₹3,499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1" name="Shape 163"/>
          <p:cNvSpPr/>
          <p:nvPr/>
        </p:nvSpPr>
        <p:spPr>
          <a:xfrm>
            <a:off x="2971800" y="1497960"/>
            <a:ext cx="1279080" cy="364680"/>
          </a:xfrm>
          <a:prstGeom prst="rect">
            <a:avLst/>
          </a:prstGeom>
          <a:solidFill>
            <a:srgbClr val="FFFFFF"/>
          </a:solidFill>
          <a:ln w="648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42" name="Text 247"/>
          <p:cNvSpPr/>
          <p:nvPr/>
        </p:nvSpPr>
        <p:spPr>
          <a:xfrm>
            <a:off x="3017520" y="149796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₹45,000+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3" name="Shape 165"/>
          <p:cNvSpPr/>
          <p:nvPr/>
        </p:nvSpPr>
        <p:spPr>
          <a:xfrm>
            <a:off x="4251960" y="1497960"/>
            <a:ext cx="1279080" cy="364680"/>
          </a:xfrm>
          <a:prstGeom prst="rect">
            <a:avLst/>
          </a:prstGeom>
          <a:solidFill>
            <a:srgbClr val="FFFFFF"/>
          </a:solidFill>
          <a:ln w="648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44" name="Text 248"/>
          <p:cNvSpPr/>
          <p:nvPr/>
        </p:nvSpPr>
        <p:spPr>
          <a:xfrm>
            <a:off x="4297680" y="149796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₹80,000+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5" name="Shape 167"/>
          <p:cNvSpPr/>
          <p:nvPr/>
        </p:nvSpPr>
        <p:spPr>
          <a:xfrm>
            <a:off x="5532120" y="1497960"/>
            <a:ext cx="1279080" cy="364680"/>
          </a:xfrm>
          <a:prstGeom prst="rect">
            <a:avLst/>
          </a:prstGeom>
          <a:solidFill>
            <a:srgbClr val="FFFFFF"/>
          </a:solidFill>
          <a:ln w="648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46" name="Text 249"/>
          <p:cNvSpPr/>
          <p:nvPr/>
        </p:nvSpPr>
        <p:spPr>
          <a:xfrm>
            <a:off x="5577840" y="149796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₹25,000+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7" name="Shape 169"/>
          <p:cNvSpPr/>
          <p:nvPr/>
        </p:nvSpPr>
        <p:spPr>
          <a:xfrm>
            <a:off x="274320" y="1863720"/>
            <a:ext cx="1416240" cy="364680"/>
          </a:xfrm>
          <a:prstGeom prst="rect">
            <a:avLst/>
          </a:prstGeom>
          <a:solidFill>
            <a:srgbClr val="222222"/>
          </a:solidFill>
          <a:ln w="396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48" name="Text 250"/>
          <p:cNvSpPr/>
          <p:nvPr/>
        </p:nvSpPr>
        <p:spPr>
          <a:xfrm>
            <a:off x="365760" y="1863720"/>
            <a:ext cx="12880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CCCCCC"/>
                </a:solidFill>
                <a:latin typeface="Calibri"/>
                <a:ea typeface="Calibri"/>
              </a:rPr>
              <a:t>Deployment time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9" name="Shape 171"/>
          <p:cNvSpPr/>
          <p:nvPr/>
        </p:nvSpPr>
        <p:spPr>
          <a:xfrm>
            <a:off x="1691640" y="1863720"/>
            <a:ext cx="1279080" cy="364680"/>
          </a:xfrm>
          <a:prstGeom prst="rect">
            <a:avLst/>
          </a:prstGeom>
          <a:solidFill>
            <a:srgbClr val="FFF2EE"/>
          </a:solidFill>
          <a:ln w="6480">
            <a:solidFill>
              <a:srgbClr val="FDCD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50" name="Shape 173"/>
          <p:cNvSpPr/>
          <p:nvPr/>
        </p:nvSpPr>
        <p:spPr>
          <a:xfrm>
            <a:off x="1691640" y="1863720"/>
            <a:ext cx="35640" cy="36468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51" name="Text 251"/>
          <p:cNvSpPr/>
          <p:nvPr/>
        </p:nvSpPr>
        <p:spPr>
          <a:xfrm>
            <a:off x="1755720" y="186372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ED4E33"/>
                </a:solidFill>
                <a:latin typeface="Calibri"/>
                <a:ea typeface="Calibri"/>
              </a:rPr>
              <a:t>&lt;1 week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2" name="Shape 175"/>
          <p:cNvSpPr/>
          <p:nvPr/>
        </p:nvSpPr>
        <p:spPr>
          <a:xfrm>
            <a:off x="2971800" y="1863720"/>
            <a:ext cx="1279080" cy="364680"/>
          </a:xfrm>
          <a:prstGeom prst="rect">
            <a:avLst/>
          </a:prstGeom>
          <a:solidFill>
            <a:srgbClr val="F3F4F6"/>
          </a:solidFill>
          <a:ln w="648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53" name="Text 252"/>
          <p:cNvSpPr/>
          <p:nvPr/>
        </p:nvSpPr>
        <p:spPr>
          <a:xfrm>
            <a:off x="3017520" y="186372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6–18 months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4" name="Shape 177"/>
          <p:cNvSpPr/>
          <p:nvPr/>
        </p:nvSpPr>
        <p:spPr>
          <a:xfrm>
            <a:off x="4251960" y="1863720"/>
            <a:ext cx="1279080" cy="364680"/>
          </a:xfrm>
          <a:prstGeom prst="rect">
            <a:avLst/>
          </a:prstGeom>
          <a:solidFill>
            <a:srgbClr val="F3F4F6"/>
          </a:solidFill>
          <a:ln w="648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55" name="Text 253"/>
          <p:cNvSpPr/>
          <p:nvPr/>
        </p:nvSpPr>
        <p:spPr>
          <a:xfrm>
            <a:off x="4297680" y="186372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6–18 months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6" name="Shape 179"/>
          <p:cNvSpPr/>
          <p:nvPr/>
        </p:nvSpPr>
        <p:spPr>
          <a:xfrm>
            <a:off x="5532120" y="1863720"/>
            <a:ext cx="1279080" cy="364680"/>
          </a:xfrm>
          <a:prstGeom prst="rect">
            <a:avLst/>
          </a:prstGeom>
          <a:solidFill>
            <a:srgbClr val="F3F4F6"/>
          </a:solidFill>
          <a:ln w="648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57" name="Text 254"/>
          <p:cNvSpPr/>
          <p:nvPr/>
        </p:nvSpPr>
        <p:spPr>
          <a:xfrm>
            <a:off x="5577840" y="186372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3–6 months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8" name="Shape 183"/>
          <p:cNvSpPr/>
          <p:nvPr/>
        </p:nvSpPr>
        <p:spPr>
          <a:xfrm>
            <a:off x="274320" y="2229480"/>
            <a:ext cx="1416240" cy="364680"/>
          </a:xfrm>
          <a:prstGeom prst="rect">
            <a:avLst/>
          </a:prstGeom>
          <a:solidFill>
            <a:srgbClr val="2A2A2A"/>
          </a:solidFill>
          <a:ln w="396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59" name="Text 255"/>
          <p:cNvSpPr/>
          <p:nvPr/>
        </p:nvSpPr>
        <p:spPr>
          <a:xfrm>
            <a:off x="365760" y="2229480"/>
            <a:ext cx="12880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CCCCCC"/>
                </a:solidFill>
                <a:latin typeface="Calibri"/>
                <a:ea typeface="Calibri"/>
              </a:rPr>
              <a:t>Cloud dependency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0" name="Shape 185"/>
          <p:cNvSpPr/>
          <p:nvPr/>
        </p:nvSpPr>
        <p:spPr>
          <a:xfrm>
            <a:off x="1691640" y="2229480"/>
            <a:ext cx="1279080" cy="364680"/>
          </a:xfrm>
          <a:prstGeom prst="rect">
            <a:avLst/>
          </a:prstGeom>
          <a:solidFill>
            <a:srgbClr val="FFF7F5"/>
          </a:solidFill>
          <a:ln w="6480">
            <a:solidFill>
              <a:srgbClr val="FDCD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61" name="Shape 188"/>
          <p:cNvSpPr/>
          <p:nvPr/>
        </p:nvSpPr>
        <p:spPr>
          <a:xfrm>
            <a:off x="1691640" y="2229480"/>
            <a:ext cx="35640" cy="36468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62" name="Text 256"/>
          <p:cNvSpPr/>
          <p:nvPr/>
        </p:nvSpPr>
        <p:spPr>
          <a:xfrm>
            <a:off x="1755720" y="222948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ED4E33"/>
                </a:solidFill>
                <a:latin typeface="Calibri"/>
                <a:ea typeface="Calibri"/>
              </a:rPr>
              <a:t>None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3" name="Shape 189"/>
          <p:cNvSpPr/>
          <p:nvPr/>
        </p:nvSpPr>
        <p:spPr>
          <a:xfrm>
            <a:off x="2971800" y="2229480"/>
            <a:ext cx="1279080" cy="364680"/>
          </a:xfrm>
          <a:prstGeom prst="rect">
            <a:avLst/>
          </a:prstGeom>
          <a:solidFill>
            <a:srgbClr val="FFFFFF"/>
          </a:solidFill>
          <a:ln w="648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64" name="Text 257"/>
          <p:cNvSpPr/>
          <p:nvPr/>
        </p:nvSpPr>
        <p:spPr>
          <a:xfrm>
            <a:off x="3017520" y="222948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Mandatory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5" name="Shape 190"/>
          <p:cNvSpPr/>
          <p:nvPr/>
        </p:nvSpPr>
        <p:spPr>
          <a:xfrm>
            <a:off x="4251960" y="2229480"/>
            <a:ext cx="1279080" cy="364680"/>
          </a:xfrm>
          <a:prstGeom prst="rect">
            <a:avLst/>
          </a:prstGeom>
          <a:solidFill>
            <a:srgbClr val="FFFFFF"/>
          </a:solidFill>
          <a:ln w="648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66" name="Text 258"/>
          <p:cNvSpPr/>
          <p:nvPr/>
        </p:nvSpPr>
        <p:spPr>
          <a:xfrm>
            <a:off x="4297680" y="222948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Mandatory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7" name="Shape 191"/>
          <p:cNvSpPr/>
          <p:nvPr/>
        </p:nvSpPr>
        <p:spPr>
          <a:xfrm>
            <a:off x="5532120" y="2229480"/>
            <a:ext cx="1279080" cy="364680"/>
          </a:xfrm>
          <a:prstGeom prst="rect">
            <a:avLst/>
          </a:prstGeom>
          <a:solidFill>
            <a:srgbClr val="FFFFFF"/>
          </a:solidFill>
          <a:ln w="648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68" name="Text 259"/>
          <p:cNvSpPr/>
          <p:nvPr/>
        </p:nvSpPr>
        <p:spPr>
          <a:xfrm>
            <a:off x="5577840" y="222948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Mandatory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9" name="Shape 192"/>
          <p:cNvSpPr/>
          <p:nvPr/>
        </p:nvSpPr>
        <p:spPr>
          <a:xfrm>
            <a:off x="274320" y="2595240"/>
            <a:ext cx="1416240" cy="364680"/>
          </a:xfrm>
          <a:prstGeom prst="rect">
            <a:avLst/>
          </a:prstGeom>
          <a:solidFill>
            <a:srgbClr val="222222"/>
          </a:solidFill>
          <a:ln w="396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70" name="Text 260"/>
          <p:cNvSpPr/>
          <p:nvPr/>
        </p:nvSpPr>
        <p:spPr>
          <a:xfrm>
            <a:off x="365760" y="2595240"/>
            <a:ext cx="12880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CCCCCC"/>
                </a:solidFill>
                <a:latin typeface="Calibri"/>
                <a:ea typeface="Calibri"/>
              </a:rPr>
              <a:t>Works offline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1" name="Shape 193"/>
          <p:cNvSpPr/>
          <p:nvPr/>
        </p:nvSpPr>
        <p:spPr>
          <a:xfrm>
            <a:off x="1691640" y="2595240"/>
            <a:ext cx="1279080" cy="364680"/>
          </a:xfrm>
          <a:prstGeom prst="rect">
            <a:avLst/>
          </a:prstGeom>
          <a:solidFill>
            <a:srgbClr val="FFF2EE"/>
          </a:solidFill>
          <a:ln w="6480">
            <a:solidFill>
              <a:srgbClr val="FDCD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72" name="Shape 194"/>
          <p:cNvSpPr/>
          <p:nvPr/>
        </p:nvSpPr>
        <p:spPr>
          <a:xfrm>
            <a:off x="1691640" y="2595240"/>
            <a:ext cx="35640" cy="36468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73" name="Text 261"/>
          <p:cNvSpPr/>
          <p:nvPr/>
        </p:nvSpPr>
        <p:spPr>
          <a:xfrm>
            <a:off x="1755720" y="259524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ED4E33"/>
                </a:solidFill>
                <a:latin typeface="Calibri"/>
                <a:ea typeface="Calibri"/>
              </a:rPr>
              <a:t>Always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4" name="Shape 195"/>
          <p:cNvSpPr/>
          <p:nvPr/>
        </p:nvSpPr>
        <p:spPr>
          <a:xfrm>
            <a:off x="2971800" y="2595240"/>
            <a:ext cx="1279080" cy="364680"/>
          </a:xfrm>
          <a:prstGeom prst="rect">
            <a:avLst/>
          </a:prstGeom>
          <a:solidFill>
            <a:srgbClr val="F3F4F6"/>
          </a:solidFill>
          <a:ln w="648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75" name="Text 262"/>
          <p:cNvSpPr/>
          <p:nvPr/>
        </p:nvSpPr>
        <p:spPr>
          <a:xfrm>
            <a:off x="3017520" y="259524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No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6" name="Shape 196"/>
          <p:cNvSpPr/>
          <p:nvPr/>
        </p:nvSpPr>
        <p:spPr>
          <a:xfrm>
            <a:off x="4251960" y="2595240"/>
            <a:ext cx="1279080" cy="364680"/>
          </a:xfrm>
          <a:prstGeom prst="rect">
            <a:avLst/>
          </a:prstGeom>
          <a:solidFill>
            <a:srgbClr val="F3F4F6"/>
          </a:solidFill>
          <a:ln w="648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77" name="Text 263"/>
          <p:cNvSpPr/>
          <p:nvPr/>
        </p:nvSpPr>
        <p:spPr>
          <a:xfrm>
            <a:off x="4297680" y="259524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No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8" name="Shape 197"/>
          <p:cNvSpPr/>
          <p:nvPr/>
        </p:nvSpPr>
        <p:spPr>
          <a:xfrm>
            <a:off x="5532120" y="2595240"/>
            <a:ext cx="1279080" cy="364680"/>
          </a:xfrm>
          <a:prstGeom prst="rect">
            <a:avLst/>
          </a:prstGeom>
          <a:solidFill>
            <a:srgbClr val="F3F4F6"/>
          </a:solidFill>
          <a:ln w="648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79" name="Text 264"/>
          <p:cNvSpPr/>
          <p:nvPr/>
        </p:nvSpPr>
        <p:spPr>
          <a:xfrm>
            <a:off x="5577840" y="259524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No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0" name="Shape 198"/>
          <p:cNvSpPr/>
          <p:nvPr/>
        </p:nvSpPr>
        <p:spPr>
          <a:xfrm>
            <a:off x="274320" y="2961000"/>
            <a:ext cx="1416240" cy="364680"/>
          </a:xfrm>
          <a:prstGeom prst="rect">
            <a:avLst/>
          </a:prstGeom>
          <a:solidFill>
            <a:srgbClr val="2A2A2A"/>
          </a:solidFill>
          <a:ln w="396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81" name="Text 265"/>
          <p:cNvSpPr/>
          <p:nvPr/>
        </p:nvSpPr>
        <p:spPr>
          <a:xfrm>
            <a:off x="365760" y="2961000"/>
            <a:ext cx="12880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CCCCCC"/>
                </a:solidFill>
                <a:latin typeface="Calibri"/>
                <a:ea typeface="Calibri"/>
              </a:rPr>
              <a:t>Retrainable AI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2" name="Shape 199"/>
          <p:cNvSpPr/>
          <p:nvPr/>
        </p:nvSpPr>
        <p:spPr>
          <a:xfrm>
            <a:off x="1691640" y="2961000"/>
            <a:ext cx="1279080" cy="364680"/>
          </a:xfrm>
          <a:prstGeom prst="rect">
            <a:avLst/>
          </a:prstGeom>
          <a:solidFill>
            <a:srgbClr val="FFF7F5"/>
          </a:solidFill>
          <a:ln w="6480">
            <a:solidFill>
              <a:srgbClr val="FDCD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83" name="Shape 200"/>
          <p:cNvSpPr/>
          <p:nvPr/>
        </p:nvSpPr>
        <p:spPr>
          <a:xfrm>
            <a:off x="1691640" y="2961000"/>
            <a:ext cx="35640" cy="36468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84" name="Text 266"/>
          <p:cNvSpPr/>
          <p:nvPr/>
        </p:nvSpPr>
        <p:spPr>
          <a:xfrm>
            <a:off x="1755720" y="296100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ED4E33"/>
                </a:solidFill>
                <a:latin typeface="Calibri"/>
                <a:ea typeface="Calibri"/>
              </a:rPr>
              <a:t>Yes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5" name="Shape 201"/>
          <p:cNvSpPr/>
          <p:nvPr/>
        </p:nvSpPr>
        <p:spPr>
          <a:xfrm>
            <a:off x="2971800" y="2961000"/>
            <a:ext cx="1279080" cy="364680"/>
          </a:xfrm>
          <a:prstGeom prst="rect">
            <a:avLst/>
          </a:prstGeom>
          <a:solidFill>
            <a:srgbClr val="FFFFFF"/>
          </a:solidFill>
          <a:ln w="648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86" name="Text 267"/>
          <p:cNvSpPr/>
          <p:nvPr/>
        </p:nvSpPr>
        <p:spPr>
          <a:xfrm>
            <a:off x="3017520" y="296100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Black-box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7" name="Shape 202"/>
          <p:cNvSpPr/>
          <p:nvPr/>
        </p:nvSpPr>
        <p:spPr>
          <a:xfrm>
            <a:off x="4251960" y="2961000"/>
            <a:ext cx="1279080" cy="364680"/>
          </a:xfrm>
          <a:prstGeom prst="rect">
            <a:avLst/>
          </a:prstGeom>
          <a:solidFill>
            <a:srgbClr val="FFFFFF"/>
          </a:solidFill>
          <a:ln w="648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88" name="Text 268"/>
          <p:cNvSpPr/>
          <p:nvPr/>
        </p:nvSpPr>
        <p:spPr>
          <a:xfrm>
            <a:off x="4297680" y="296100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Black-box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9" name="Shape 203"/>
          <p:cNvSpPr/>
          <p:nvPr/>
        </p:nvSpPr>
        <p:spPr>
          <a:xfrm>
            <a:off x="5532120" y="2961000"/>
            <a:ext cx="1279080" cy="364680"/>
          </a:xfrm>
          <a:prstGeom prst="rect">
            <a:avLst/>
          </a:prstGeom>
          <a:solidFill>
            <a:srgbClr val="FFFFFF"/>
          </a:solidFill>
          <a:ln w="648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90" name="Text 269"/>
          <p:cNvSpPr/>
          <p:nvPr/>
        </p:nvSpPr>
        <p:spPr>
          <a:xfrm>
            <a:off x="5577840" y="296100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Black-box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1" name="Shape 204"/>
          <p:cNvSpPr/>
          <p:nvPr/>
        </p:nvSpPr>
        <p:spPr>
          <a:xfrm>
            <a:off x="274320" y="3326760"/>
            <a:ext cx="1416240" cy="364680"/>
          </a:xfrm>
          <a:prstGeom prst="rect">
            <a:avLst/>
          </a:prstGeom>
          <a:solidFill>
            <a:srgbClr val="222222"/>
          </a:solidFill>
          <a:ln w="396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92" name="Text 270"/>
          <p:cNvSpPr/>
          <p:nvPr/>
        </p:nvSpPr>
        <p:spPr>
          <a:xfrm>
            <a:off x="365760" y="3326760"/>
            <a:ext cx="12880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CCCCCC"/>
                </a:solidFill>
                <a:latin typeface="Calibri"/>
                <a:ea typeface="Calibri"/>
              </a:rPr>
              <a:t>SME accessible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3" name="Shape 205"/>
          <p:cNvSpPr/>
          <p:nvPr/>
        </p:nvSpPr>
        <p:spPr>
          <a:xfrm>
            <a:off x="1691640" y="3326760"/>
            <a:ext cx="1279080" cy="364680"/>
          </a:xfrm>
          <a:prstGeom prst="rect">
            <a:avLst/>
          </a:prstGeom>
          <a:solidFill>
            <a:srgbClr val="FFF2EE"/>
          </a:solidFill>
          <a:ln w="6480">
            <a:solidFill>
              <a:srgbClr val="FDCD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94" name="Shape 206"/>
          <p:cNvSpPr/>
          <p:nvPr/>
        </p:nvSpPr>
        <p:spPr>
          <a:xfrm>
            <a:off x="1691640" y="3326760"/>
            <a:ext cx="35640" cy="36468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95" name="Text 271"/>
          <p:cNvSpPr/>
          <p:nvPr/>
        </p:nvSpPr>
        <p:spPr>
          <a:xfrm>
            <a:off x="1755720" y="332676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ED4E33"/>
                </a:solidFill>
                <a:latin typeface="Calibri"/>
                <a:ea typeface="Calibri"/>
              </a:rPr>
              <a:t>Yes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6" name="Shape 207"/>
          <p:cNvSpPr/>
          <p:nvPr/>
        </p:nvSpPr>
        <p:spPr>
          <a:xfrm>
            <a:off x="2971800" y="3326760"/>
            <a:ext cx="1279080" cy="364680"/>
          </a:xfrm>
          <a:prstGeom prst="rect">
            <a:avLst/>
          </a:prstGeom>
          <a:solidFill>
            <a:srgbClr val="F3F4F6"/>
          </a:solidFill>
          <a:ln w="648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97" name="Text 272"/>
          <p:cNvSpPr/>
          <p:nvPr/>
        </p:nvSpPr>
        <p:spPr>
          <a:xfrm>
            <a:off x="3017520" y="332676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Enterprise only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8" name="Shape 208"/>
          <p:cNvSpPr/>
          <p:nvPr/>
        </p:nvSpPr>
        <p:spPr>
          <a:xfrm>
            <a:off x="4251960" y="3326760"/>
            <a:ext cx="1279080" cy="364680"/>
          </a:xfrm>
          <a:prstGeom prst="rect">
            <a:avLst/>
          </a:prstGeom>
          <a:solidFill>
            <a:srgbClr val="F3F4F6"/>
          </a:solidFill>
          <a:ln w="648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99" name="Text 273"/>
          <p:cNvSpPr/>
          <p:nvPr/>
        </p:nvSpPr>
        <p:spPr>
          <a:xfrm>
            <a:off x="4297680" y="332676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Enterprise only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0" name="Shape 209"/>
          <p:cNvSpPr/>
          <p:nvPr/>
        </p:nvSpPr>
        <p:spPr>
          <a:xfrm>
            <a:off x="5532120" y="3326760"/>
            <a:ext cx="1279080" cy="364680"/>
          </a:xfrm>
          <a:prstGeom prst="rect">
            <a:avLst/>
          </a:prstGeom>
          <a:solidFill>
            <a:srgbClr val="F3F4F6"/>
          </a:solidFill>
          <a:ln w="648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01" name="Text 274"/>
          <p:cNvSpPr/>
          <p:nvPr/>
        </p:nvSpPr>
        <p:spPr>
          <a:xfrm>
            <a:off x="5577840" y="332676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Enterprise only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2" name="Shape 210"/>
          <p:cNvSpPr/>
          <p:nvPr/>
        </p:nvSpPr>
        <p:spPr>
          <a:xfrm>
            <a:off x="274320" y="3692520"/>
            <a:ext cx="1416240" cy="364680"/>
          </a:xfrm>
          <a:prstGeom prst="rect">
            <a:avLst/>
          </a:prstGeom>
          <a:solidFill>
            <a:srgbClr val="2A2A2A"/>
          </a:solidFill>
          <a:ln w="396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03" name="Text 275"/>
          <p:cNvSpPr/>
          <p:nvPr/>
        </p:nvSpPr>
        <p:spPr>
          <a:xfrm>
            <a:off x="365760" y="3692520"/>
            <a:ext cx="12880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CCCCCC"/>
                </a:solidFill>
                <a:latin typeface="Calibri"/>
                <a:ea typeface="Calibri"/>
              </a:rPr>
              <a:t>Local language alerts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4" name="Shape 211"/>
          <p:cNvSpPr/>
          <p:nvPr/>
        </p:nvSpPr>
        <p:spPr>
          <a:xfrm>
            <a:off x="1691640" y="3692520"/>
            <a:ext cx="1279080" cy="364680"/>
          </a:xfrm>
          <a:prstGeom prst="rect">
            <a:avLst/>
          </a:prstGeom>
          <a:solidFill>
            <a:srgbClr val="FFF7F5"/>
          </a:solidFill>
          <a:ln w="6480">
            <a:solidFill>
              <a:srgbClr val="FDCD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05" name="Shape 212"/>
          <p:cNvSpPr/>
          <p:nvPr/>
        </p:nvSpPr>
        <p:spPr>
          <a:xfrm>
            <a:off x="1691640" y="3692520"/>
            <a:ext cx="35640" cy="36468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06" name="Text 276"/>
          <p:cNvSpPr/>
          <p:nvPr/>
        </p:nvSpPr>
        <p:spPr>
          <a:xfrm>
            <a:off x="1755720" y="369252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ED4E33"/>
                </a:solidFill>
                <a:latin typeface="Calibri"/>
                <a:ea typeface="Calibri"/>
              </a:rPr>
              <a:t>Any language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7" name="Shape 213"/>
          <p:cNvSpPr/>
          <p:nvPr/>
        </p:nvSpPr>
        <p:spPr>
          <a:xfrm>
            <a:off x="2971800" y="3692520"/>
            <a:ext cx="1279080" cy="364680"/>
          </a:xfrm>
          <a:prstGeom prst="rect">
            <a:avLst/>
          </a:prstGeom>
          <a:solidFill>
            <a:srgbClr val="FFFFFF"/>
          </a:solidFill>
          <a:ln w="648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08" name="Text 277"/>
          <p:cNvSpPr/>
          <p:nvPr/>
        </p:nvSpPr>
        <p:spPr>
          <a:xfrm>
            <a:off x="3017520" y="369252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English only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9" name="Shape 214"/>
          <p:cNvSpPr/>
          <p:nvPr/>
        </p:nvSpPr>
        <p:spPr>
          <a:xfrm>
            <a:off x="4251960" y="3692520"/>
            <a:ext cx="1279080" cy="364680"/>
          </a:xfrm>
          <a:prstGeom prst="rect">
            <a:avLst/>
          </a:prstGeom>
          <a:solidFill>
            <a:srgbClr val="FFFFFF"/>
          </a:solidFill>
          <a:ln w="648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10" name="Text 278"/>
          <p:cNvSpPr/>
          <p:nvPr/>
        </p:nvSpPr>
        <p:spPr>
          <a:xfrm>
            <a:off x="4297680" y="369252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English only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1" name="Shape 215"/>
          <p:cNvSpPr/>
          <p:nvPr/>
        </p:nvSpPr>
        <p:spPr>
          <a:xfrm>
            <a:off x="5532120" y="3692520"/>
            <a:ext cx="1279080" cy="364680"/>
          </a:xfrm>
          <a:prstGeom prst="rect">
            <a:avLst/>
          </a:prstGeom>
          <a:solidFill>
            <a:srgbClr val="FFFFFF"/>
          </a:solidFill>
          <a:ln w="648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12" name="Text 279"/>
          <p:cNvSpPr/>
          <p:nvPr/>
        </p:nvSpPr>
        <p:spPr>
          <a:xfrm>
            <a:off x="5577840" y="369252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English only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3" name="Shape 216"/>
          <p:cNvSpPr/>
          <p:nvPr/>
        </p:nvSpPr>
        <p:spPr>
          <a:xfrm>
            <a:off x="274320" y="4058280"/>
            <a:ext cx="1416240" cy="364680"/>
          </a:xfrm>
          <a:prstGeom prst="rect">
            <a:avLst/>
          </a:prstGeom>
          <a:solidFill>
            <a:srgbClr val="222222"/>
          </a:solidFill>
          <a:ln w="396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14" name="Text 280"/>
          <p:cNvSpPr/>
          <p:nvPr/>
        </p:nvSpPr>
        <p:spPr>
          <a:xfrm>
            <a:off x="365760" y="4058280"/>
            <a:ext cx="12880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CCCCCC"/>
                </a:solidFill>
                <a:latin typeface="Calibri"/>
                <a:ea typeface="Calibri"/>
              </a:rPr>
              <a:t>Target market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5" name="Shape 217"/>
          <p:cNvSpPr/>
          <p:nvPr/>
        </p:nvSpPr>
        <p:spPr>
          <a:xfrm>
            <a:off x="1691640" y="4058280"/>
            <a:ext cx="1279080" cy="364680"/>
          </a:xfrm>
          <a:prstGeom prst="rect">
            <a:avLst/>
          </a:prstGeom>
          <a:solidFill>
            <a:srgbClr val="FFF2EE"/>
          </a:solidFill>
          <a:ln w="6480">
            <a:solidFill>
              <a:srgbClr val="FDCDC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16" name="Shape 218"/>
          <p:cNvSpPr/>
          <p:nvPr/>
        </p:nvSpPr>
        <p:spPr>
          <a:xfrm>
            <a:off x="1691640" y="4058280"/>
            <a:ext cx="35640" cy="36468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17" name="Text 281"/>
          <p:cNvSpPr/>
          <p:nvPr/>
        </p:nvSpPr>
        <p:spPr>
          <a:xfrm>
            <a:off x="1755720" y="405828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ED4E33"/>
                </a:solidFill>
                <a:latin typeface="Calibri"/>
                <a:ea typeface="Calibri"/>
              </a:rPr>
              <a:t>SME India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8" name="Shape 219"/>
          <p:cNvSpPr/>
          <p:nvPr/>
        </p:nvSpPr>
        <p:spPr>
          <a:xfrm>
            <a:off x="2971800" y="4058280"/>
            <a:ext cx="1279080" cy="364680"/>
          </a:xfrm>
          <a:prstGeom prst="rect">
            <a:avLst/>
          </a:prstGeom>
          <a:solidFill>
            <a:srgbClr val="F3F4F6"/>
          </a:solidFill>
          <a:ln w="648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19" name="Text 282"/>
          <p:cNvSpPr/>
          <p:nvPr/>
        </p:nvSpPr>
        <p:spPr>
          <a:xfrm>
            <a:off x="3017520" y="405828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Enterprise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0" name="Shape 220"/>
          <p:cNvSpPr/>
          <p:nvPr/>
        </p:nvSpPr>
        <p:spPr>
          <a:xfrm>
            <a:off x="4251960" y="4058280"/>
            <a:ext cx="1279080" cy="364680"/>
          </a:xfrm>
          <a:prstGeom prst="rect">
            <a:avLst/>
          </a:prstGeom>
          <a:solidFill>
            <a:srgbClr val="F3F4F6"/>
          </a:solidFill>
          <a:ln w="648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21" name="Text 283"/>
          <p:cNvSpPr/>
          <p:nvPr/>
        </p:nvSpPr>
        <p:spPr>
          <a:xfrm>
            <a:off x="4297680" y="405828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Enterprise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2" name="Shape 221"/>
          <p:cNvSpPr/>
          <p:nvPr/>
        </p:nvSpPr>
        <p:spPr>
          <a:xfrm>
            <a:off x="5532120" y="4058280"/>
            <a:ext cx="1279080" cy="364680"/>
          </a:xfrm>
          <a:prstGeom prst="rect">
            <a:avLst/>
          </a:prstGeom>
          <a:solidFill>
            <a:srgbClr val="F3F4F6"/>
          </a:solidFill>
          <a:ln w="648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23" name="Text 284"/>
          <p:cNvSpPr/>
          <p:nvPr/>
        </p:nvSpPr>
        <p:spPr>
          <a:xfrm>
            <a:off x="5577840" y="4058280"/>
            <a:ext cx="1187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B7280"/>
                </a:solidFill>
                <a:latin typeface="Calibri"/>
                <a:ea typeface="Calibri"/>
              </a:rPr>
              <a:t>Enterprise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4" name="Shape 222"/>
          <p:cNvSpPr/>
          <p:nvPr/>
        </p:nvSpPr>
        <p:spPr>
          <a:xfrm>
            <a:off x="274320" y="4424040"/>
            <a:ext cx="6536880" cy="15480"/>
          </a:xfrm>
          <a:prstGeom prst="rect">
            <a:avLst/>
          </a:prstGeom>
          <a:solidFill>
            <a:srgbClr val="D1D5DB"/>
          </a:solidFill>
          <a:ln w="12600">
            <a:solidFill>
              <a:srgbClr val="D1D5D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440" rIns="90000" bIns="-2844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25" name="Shape 223"/>
          <p:cNvSpPr/>
          <p:nvPr/>
        </p:nvSpPr>
        <p:spPr>
          <a:xfrm>
            <a:off x="0" y="4479120"/>
            <a:ext cx="9142920" cy="327960"/>
          </a:xfrm>
          <a:prstGeom prst="rect">
            <a:avLst/>
          </a:prstGeom>
          <a:solidFill>
            <a:srgbClr val="1A1A1A"/>
          </a:solidFill>
          <a:ln w="12600">
            <a:solidFill>
              <a:srgbClr val="1A1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26" name="Shape 224"/>
          <p:cNvSpPr/>
          <p:nvPr/>
        </p:nvSpPr>
        <p:spPr>
          <a:xfrm>
            <a:off x="274320" y="4542840"/>
            <a:ext cx="35640" cy="20016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27" name="Text 285"/>
          <p:cNvSpPr/>
          <p:nvPr/>
        </p:nvSpPr>
        <p:spPr>
          <a:xfrm>
            <a:off x="402480" y="4524840"/>
            <a:ext cx="841140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ED4E33"/>
                </a:solidFill>
                <a:latin typeface="Calibri"/>
                <a:ea typeface="Calibri"/>
              </a:rPr>
              <a:t>Resonance does not compete with incumbents</a:t>
            </a:r>
            <a:r>
              <a:rPr lang="en-US" sz="950" b="0" strike="noStrike" spc="-1">
                <a:solidFill>
                  <a:srgbClr val="CCCCCC"/>
                </a:solidFill>
                <a:latin typeface="Calibri"/>
                <a:ea typeface="Calibri"/>
              </a:rPr>
              <a:t> — it serves the manufacturers </a:t>
            </a:r>
            <a:r>
              <a:rPr lang="en-US" sz="950" b="1" strike="noStrike" spc="-1">
                <a:solidFill>
                  <a:srgbClr val="FFFFFF"/>
                </a:solidFill>
                <a:latin typeface="Calibri"/>
                <a:ea typeface="Calibri"/>
              </a:rPr>
              <a:t>they cannot reach.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8" name="Shape 225"/>
          <p:cNvSpPr/>
          <p:nvPr/>
        </p:nvSpPr>
        <p:spPr>
          <a:xfrm>
            <a:off x="6976800" y="1168920"/>
            <a:ext cx="1910160" cy="3254040"/>
          </a:xfrm>
          <a:prstGeom prst="rect">
            <a:avLst/>
          </a:prstGeom>
          <a:solidFill>
            <a:srgbClr val="1A1A1A"/>
          </a:solidFill>
          <a:ln w="19080">
            <a:solidFill>
              <a:srgbClr val="ED4E33"/>
            </a:solidFill>
            <a:round/>
          </a:ln>
          <a:effectLst>
            <a:outerShdw blurRad="177840" dist="37674" dir="8100000" rotWithShape="0">
              <a:srgbClr val="000000">
                <a:alpha val="1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29" name="Shape 226"/>
          <p:cNvSpPr/>
          <p:nvPr/>
        </p:nvSpPr>
        <p:spPr>
          <a:xfrm>
            <a:off x="6976800" y="1168920"/>
            <a:ext cx="1910160" cy="3564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30" name="Text 286"/>
          <p:cNvSpPr/>
          <p:nvPr/>
        </p:nvSpPr>
        <p:spPr>
          <a:xfrm>
            <a:off x="6976800" y="1260360"/>
            <a:ext cx="1910160" cy="1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194">
                <a:solidFill>
                  <a:srgbClr val="888888"/>
                </a:solidFill>
                <a:latin typeface="Courier New"/>
                <a:ea typeface="Courier New"/>
              </a:rPr>
              <a:t>MARKET GAP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1" name="Text 287"/>
          <p:cNvSpPr/>
          <p:nvPr/>
        </p:nvSpPr>
        <p:spPr>
          <a:xfrm>
            <a:off x="6976800" y="1470600"/>
            <a:ext cx="1910160" cy="29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ED4E33"/>
                </a:solidFill>
                <a:latin typeface="Courier New"/>
                <a:ea typeface="Courier New"/>
              </a:rPr>
              <a:t>500,000+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2" name="Text 288"/>
          <p:cNvSpPr/>
          <p:nvPr/>
        </p:nvSpPr>
        <p:spPr>
          <a:xfrm>
            <a:off x="6976800" y="1753920"/>
            <a:ext cx="1910160" cy="14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AAAAAA"/>
                </a:solidFill>
                <a:latin typeface="Courier New"/>
                <a:ea typeface="Courier New"/>
              </a:rPr>
              <a:t>Indian SME factories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3" name="Shape 227"/>
          <p:cNvSpPr/>
          <p:nvPr/>
        </p:nvSpPr>
        <p:spPr>
          <a:xfrm>
            <a:off x="7159680" y="1936800"/>
            <a:ext cx="1544400" cy="9720"/>
          </a:xfrm>
          <a:prstGeom prst="rect">
            <a:avLst/>
          </a:prstGeom>
          <a:solidFill>
            <a:srgbClr val="333333"/>
          </a:solidFill>
          <a:ln w="1260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34" name="Text 289"/>
          <p:cNvSpPr/>
          <p:nvPr/>
        </p:nvSpPr>
        <p:spPr>
          <a:xfrm>
            <a:off x="6976800" y="1991880"/>
            <a:ext cx="191016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16A34A"/>
                </a:solidFill>
                <a:latin typeface="Courier New"/>
                <a:ea typeface="Courier New"/>
              </a:rPr>
              <a:t>&lt;3%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5" name="Text 290"/>
          <p:cNvSpPr/>
          <p:nvPr/>
        </p:nvSpPr>
        <p:spPr>
          <a:xfrm>
            <a:off x="6976800" y="2256840"/>
            <a:ext cx="1910160" cy="13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AAAAAA"/>
                </a:solidFill>
                <a:latin typeface="Courier New"/>
                <a:ea typeface="Courier New"/>
              </a:rPr>
              <a:t>using predictive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6" name="Text 291"/>
          <p:cNvSpPr/>
          <p:nvPr/>
        </p:nvSpPr>
        <p:spPr>
          <a:xfrm>
            <a:off x="6976800" y="2385000"/>
            <a:ext cx="1910160" cy="13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AAAAAA"/>
                </a:solidFill>
                <a:latin typeface="Courier New"/>
                <a:ea typeface="Courier New"/>
              </a:rPr>
              <a:t>maintenance today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7" name="Shape 228"/>
          <p:cNvSpPr/>
          <p:nvPr/>
        </p:nvSpPr>
        <p:spPr>
          <a:xfrm>
            <a:off x="7159680" y="2567880"/>
            <a:ext cx="1544400" cy="9720"/>
          </a:xfrm>
          <a:prstGeom prst="rect">
            <a:avLst/>
          </a:prstGeom>
          <a:solidFill>
            <a:srgbClr val="333333"/>
          </a:solidFill>
          <a:ln w="1260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38" name="Text 292"/>
          <p:cNvSpPr/>
          <p:nvPr/>
        </p:nvSpPr>
        <p:spPr>
          <a:xfrm>
            <a:off x="6976800" y="2631960"/>
            <a:ext cx="1910160" cy="25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2563EB"/>
                </a:solidFill>
                <a:latin typeface="Courier New"/>
                <a:ea typeface="Courier New"/>
              </a:rPr>
              <a:t>97%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9" name="Text 293"/>
          <p:cNvSpPr/>
          <p:nvPr/>
        </p:nvSpPr>
        <p:spPr>
          <a:xfrm>
            <a:off x="6976800" y="2878920"/>
            <a:ext cx="1910160" cy="13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AAAAAA"/>
                </a:solidFill>
                <a:latin typeface="Courier New"/>
                <a:ea typeface="Courier New"/>
              </a:rPr>
              <a:t>addressable market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0" name="Text 294"/>
          <p:cNvSpPr/>
          <p:nvPr/>
        </p:nvSpPr>
        <p:spPr>
          <a:xfrm>
            <a:off x="6976800" y="3006720"/>
            <a:ext cx="1910160" cy="13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AAAAAA"/>
                </a:solidFill>
                <a:latin typeface="Courier New"/>
                <a:ea typeface="Courier New"/>
              </a:rPr>
              <a:t>gap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1" name="Shape 229"/>
          <p:cNvSpPr/>
          <p:nvPr/>
        </p:nvSpPr>
        <p:spPr>
          <a:xfrm>
            <a:off x="7159680" y="3180600"/>
            <a:ext cx="1544400" cy="9720"/>
          </a:xfrm>
          <a:prstGeom prst="rect">
            <a:avLst/>
          </a:prstGeom>
          <a:solidFill>
            <a:srgbClr val="333333"/>
          </a:solidFill>
          <a:ln w="1260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4200" rIns="90000" bIns="-342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42" name="Text 295"/>
          <p:cNvSpPr/>
          <p:nvPr/>
        </p:nvSpPr>
        <p:spPr>
          <a:xfrm>
            <a:off x="6976800" y="3253680"/>
            <a:ext cx="1910160" cy="14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777777"/>
                </a:solidFill>
                <a:latin typeface="Courier New"/>
                <a:ea typeface="Courier New"/>
              </a:rPr>
              <a:t>Incumbents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3" name="Text 296"/>
          <p:cNvSpPr/>
          <p:nvPr/>
        </p:nvSpPr>
        <p:spPr>
          <a:xfrm>
            <a:off x="6976800" y="3381840"/>
            <a:ext cx="1910160" cy="14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777777"/>
                </a:solidFill>
                <a:latin typeface="Courier New"/>
                <a:ea typeface="Courier New"/>
              </a:rPr>
              <a:t>target enterprise.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4" name="Text 297"/>
          <p:cNvSpPr/>
          <p:nvPr/>
        </p:nvSpPr>
        <p:spPr>
          <a:xfrm>
            <a:off x="6976800" y="3546360"/>
            <a:ext cx="1910160" cy="14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strike="noStrike" spc="-1">
                <a:solidFill>
                  <a:srgbClr val="CCCCCC"/>
                </a:solidFill>
                <a:latin typeface="Courier New"/>
                <a:ea typeface="Courier New"/>
              </a:rPr>
              <a:t>We target the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5" name="Text 298"/>
          <p:cNvSpPr/>
          <p:nvPr/>
        </p:nvSpPr>
        <p:spPr>
          <a:xfrm>
            <a:off x="6976800" y="3674160"/>
            <a:ext cx="1910160" cy="18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ED4E33"/>
                </a:solidFill>
                <a:latin typeface="Calibri"/>
                <a:ea typeface="Calibri"/>
              </a:rPr>
              <a:t>other 97%.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6" name="Shape 230"/>
          <p:cNvSpPr/>
          <p:nvPr/>
        </p:nvSpPr>
        <p:spPr>
          <a:xfrm>
            <a:off x="0" y="5097960"/>
            <a:ext cx="9142920" cy="4464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1247" name="Google Shape;130;p22"/>
          <p:cNvPicPr/>
          <p:nvPr/>
        </p:nvPicPr>
        <p:blipFill>
          <a:blip r:embed="rId3"/>
          <a:srcRect b="89083"/>
          <a:stretch/>
        </p:blipFill>
        <p:spPr>
          <a:xfrm>
            <a:off x="-9000" y="-28440"/>
            <a:ext cx="9142200" cy="559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Text 30"/>
          <p:cNvSpPr/>
          <p:nvPr/>
        </p:nvSpPr>
        <p:spPr>
          <a:xfrm>
            <a:off x="73080" y="684027"/>
            <a:ext cx="658296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>
                <a:solidFill>
                  <a:srgbClr val="FFFFFF"/>
                </a:solidFill>
                <a:latin typeface="Calibri"/>
                <a:ea typeface="Calibri"/>
              </a:rPr>
              <a:t>Product Roadmap  —  Resonance Fault Detection Platform</a:t>
            </a:r>
            <a:endParaRPr lang="en-US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4" name="Shape 51"/>
          <p:cNvSpPr/>
          <p:nvPr/>
        </p:nvSpPr>
        <p:spPr>
          <a:xfrm>
            <a:off x="73080" y="931347"/>
            <a:ext cx="2180160" cy="3602160"/>
          </a:xfrm>
          <a:prstGeom prst="rect">
            <a:avLst/>
          </a:prstGeom>
          <a:solidFill>
            <a:srgbClr val="0A0B10"/>
          </a:solidFill>
          <a:ln w="1908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55" name="Shape 62"/>
          <p:cNvSpPr/>
          <p:nvPr/>
        </p:nvSpPr>
        <p:spPr>
          <a:xfrm>
            <a:off x="73080" y="931347"/>
            <a:ext cx="2180160" cy="5400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56" name="Shape 65"/>
          <p:cNvSpPr/>
          <p:nvPr/>
        </p:nvSpPr>
        <p:spPr>
          <a:xfrm>
            <a:off x="73080" y="986427"/>
            <a:ext cx="2180160" cy="200520"/>
          </a:xfrm>
          <a:prstGeom prst="rect">
            <a:avLst/>
          </a:prstGeom>
          <a:solidFill>
            <a:srgbClr val="7A1E0A"/>
          </a:solidFill>
          <a:ln w="12600">
            <a:solidFill>
              <a:srgbClr val="7A1E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57" name="Text 52"/>
          <p:cNvSpPr/>
          <p:nvPr/>
        </p:nvSpPr>
        <p:spPr>
          <a:xfrm>
            <a:off x="164520" y="995427"/>
            <a:ext cx="1997280" cy="16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46">
                <a:solidFill>
                  <a:srgbClr val="ED4E33"/>
                </a:solidFill>
                <a:latin typeface="Calibri"/>
                <a:ea typeface="Calibri"/>
              </a:rPr>
              <a:t>NOW  ·  Q1 2026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8" name="Shape 86"/>
          <p:cNvSpPr/>
          <p:nvPr/>
        </p:nvSpPr>
        <p:spPr>
          <a:xfrm>
            <a:off x="1686960" y="1004787"/>
            <a:ext cx="493200" cy="163800"/>
          </a:xfrm>
          <a:prstGeom prst="roundRect">
            <a:avLst>
              <a:gd name="adj" fmla="val 22222"/>
            </a:avLst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59" name="Text 60"/>
          <p:cNvSpPr/>
          <p:nvPr/>
        </p:nvSpPr>
        <p:spPr>
          <a:xfrm>
            <a:off x="1686960" y="1004787"/>
            <a:ext cx="493200" cy="16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strike="noStrike" spc="-1">
                <a:solidFill>
                  <a:srgbClr val="FFFFFF"/>
                </a:solidFill>
                <a:latin typeface="Calibri"/>
                <a:ea typeface="Calibri"/>
              </a:rPr>
              <a:t>LIVE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0" name="Shape 88"/>
          <p:cNvSpPr/>
          <p:nvPr/>
        </p:nvSpPr>
        <p:spPr>
          <a:xfrm>
            <a:off x="73080" y="1187667"/>
            <a:ext cx="2180160" cy="493200"/>
          </a:xfrm>
          <a:prstGeom prst="rect">
            <a:avLst/>
          </a:prstGeom>
          <a:solidFill>
            <a:srgbClr val="1A0A04"/>
          </a:solidFill>
          <a:ln w="12600">
            <a:solidFill>
              <a:srgbClr val="1A0A0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61" name="Text 63"/>
          <p:cNvSpPr/>
          <p:nvPr/>
        </p:nvSpPr>
        <p:spPr>
          <a:xfrm>
            <a:off x="164520" y="1205667"/>
            <a:ext cx="201564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alibri"/>
                <a:ea typeface="Calibri"/>
              </a:rPr>
              <a:t>Batch Inference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alibri"/>
                <a:ea typeface="Calibri"/>
              </a:rPr>
              <a:t>&amp; SME Launch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2" name="Shape 92"/>
          <p:cNvSpPr/>
          <p:nvPr/>
        </p:nvSpPr>
        <p:spPr>
          <a:xfrm>
            <a:off x="73080" y="1681227"/>
            <a:ext cx="2180160" cy="200520"/>
          </a:xfrm>
          <a:prstGeom prst="rect">
            <a:avLst/>
          </a:prstGeom>
          <a:solidFill>
            <a:srgbClr val="0F0F16"/>
          </a:solidFill>
          <a:ln w="3960">
            <a:solidFill>
              <a:srgbClr val="1E22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63" name="Text 64"/>
          <p:cNvSpPr/>
          <p:nvPr/>
        </p:nvSpPr>
        <p:spPr>
          <a:xfrm>
            <a:off x="164520" y="1699587"/>
            <a:ext cx="2015640" cy="16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i="1" strike="noStrike" spc="-1">
                <a:solidFill>
                  <a:srgbClr val="ED4E33"/>
                </a:solidFill>
                <a:latin typeface="Calibri"/>
                <a:ea typeface="Calibri"/>
              </a:rPr>
              <a:t>"Is there a fault?"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4" name="Shape 94"/>
          <p:cNvSpPr/>
          <p:nvPr/>
        </p:nvSpPr>
        <p:spPr>
          <a:xfrm>
            <a:off x="73080" y="1882467"/>
            <a:ext cx="2180160" cy="182160"/>
          </a:xfrm>
          <a:prstGeom prst="rect">
            <a:avLst/>
          </a:prstGeom>
          <a:solidFill>
            <a:srgbClr val="0C0C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65" name="Text 67"/>
          <p:cNvSpPr/>
          <p:nvPr/>
        </p:nvSpPr>
        <p:spPr>
          <a:xfrm>
            <a:off x="164520" y="1900827"/>
            <a:ext cx="2015640" cy="14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strike="noStrike" spc="26">
                <a:solidFill>
                  <a:srgbClr val="ED4E33"/>
                </a:solidFill>
                <a:latin typeface="Calibri"/>
                <a:ea typeface="Calibri"/>
              </a:rPr>
              <a:t>MODEL  ·  ConvAutoencoder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6" name="Shape 95"/>
          <p:cNvSpPr/>
          <p:nvPr/>
        </p:nvSpPr>
        <p:spPr>
          <a:xfrm>
            <a:off x="164520" y="2083707"/>
            <a:ext cx="1997280" cy="163800"/>
          </a:xfrm>
          <a:prstGeom prst="roundRect">
            <a:avLst>
              <a:gd name="adj" fmla="val 22222"/>
            </a:avLst>
          </a:prstGeom>
          <a:solidFill>
            <a:srgbClr val="111118"/>
          </a:solidFill>
          <a:ln w="756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67" name="Text 76"/>
          <p:cNvSpPr/>
          <p:nvPr/>
        </p:nvSpPr>
        <p:spPr>
          <a:xfrm>
            <a:off x="219600" y="2092707"/>
            <a:ext cx="1905840" cy="14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strike="noStrike" spc="26">
                <a:solidFill>
                  <a:srgbClr val="FCD34D"/>
                </a:solidFill>
                <a:latin typeface="Calibri"/>
                <a:ea typeface="Calibri"/>
              </a:rPr>
              <a:t>NPU LOAD  ·  ~20–30% NPU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8" name="Shape 99"/>
          <p:cNvSpPr/>
          <p:nvPr/>
        </p:nvSpPr>
        <p:spPr>
          <a:xfrm>
            <a:off x="73080" y="2284947"/>
            <a:ext cx="2180160" cy="36864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69" name="Shape 102"/>
          <p:cNvSpPr/>
          <p:nvPr/>
        </p:nvSpPr>
        <p:spPr>
          <a:xfrm>
            <a:off x="73080" y="2284947"/>
            <a:ext cx="26640" cy="36864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70" name="Text 78"/>
          <p:cNvSpPr/>
          <p:nvPr/>
        </p:nvSpPr>
        <p:spPr>
          <a:xfrm>
            <a:off x="146160" y="2321307"/>
            <a:ext cx="205200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strike="noStrike" spc="-1">
                <a:solidFill>
                  <a:srgbClr val="FFFFFF"/>
                </a:solidFill>
                <a:latin typeface="Calibri"/>
                <a:ea typeface="Calibri"/>
              </a:rPr>
              <a:t>⚡ Batched NPU inference</a:t>
            </a:r>
            <a:endParaRPr lang="en-US" sz="6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1" name="Text 91"/>
          <p:cNvSpPr/>
          <p:nvPr/>
        </p:nvSpPr>
        <p:spPr>
          <a:xfrm>
            <a:off x="146160" y="2449467"/>
            <a:ext cx="205200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6B7280"/>
                </a:solidFill>
                <a:latin typeface="Calibri"/>
                <a:ea typeface="Calibri"/>
              </a:rPr>
              <a:t>50 sensors/zone · 5Hz simultaneous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2" name="Shape 103"/>
          <p:cNvSpPr/>
          <p:nvPr/>
        </p:nvSpPr>
        <p:spPr>
          <a:xfrm>
            <a:off x="73080" y="2654307"/>
            <a:ext cx="2180160" cy="368640"/>
          </a:xfrm>
          <a:prstGeom prst="rect">
            <a:avLst/>
          </a:prstGeom>
          <a:solidFill>
            <a:srgbClr val="0A0B11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73" name="Shape 114"/>
          <p:cNvSpPr/>
          <p:nvPr/>
        </p:nvSpPr>
        <p:spPr>
          <a:xfrm>
            <a:off x="73080" y="2654307"/>
            <a:ext cx="26640" cy="36864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74" name="Text 97"/>
          <p:cNvSpPr/>
          <p:nvPr/>
        </p:nvSpPr>
        <p:spPr>
          <a:xfrm>
            <a:off x="146160" y="2690667"/>
            <a:ext cx="205200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strike="noStrike" spc="-1">
                <a:solidFill>
                  <a:srgbClr val="FFFFFF"/>
                </a:solidFill>
                <a:latin typeface="Calibri"/>
                <a:ea typeface="Calibri"/>
              </a:rPr>
              <a:t>🔍 ConvAutoencoder</a:t>
            </a:r>
            <a:endParaRPr lang="en-US" sz="6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5" name="Text 120"/>
          <p:cNvSpPr/>
          <p:nvPr/>
        </p:nvSpPr>
        <p:spPr>
          <a:xfrm>
            <a:off x="146160" y="2818827"/>
            <a:ext cx="205200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6B7280"/>
                </a:solidFill>
                <a:latin typeface="Calibri"/>
                <a:ea typeface="Calibri"/>
              </a:rPr>
              <a:t>Trained on healthy data · MSE threshold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6" name="Shape 117"/>
          <p:cNvSpPr/>
          <p:nvPr/>
        </p:nvSpPr>
        <p:spPr>
          <a:xfrm>
            <a:off x="73080" y="3023667"/>
            <a:ext cx="2180160" cy="36864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77" name="Shape 119"/>
          <p:cNvSpPr/>
          <p:nvPr/>
        </p:nvSpPr>
        <p:spPr>
          <a:xfrm>
            <a:off x="73080" y="3023667"/>
            <a:ext cx="26640" cy="36864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78" name="Text 126"/>
          <p:cNvSpPr/>
          <p:nvPr/>
        </p:nvSpPr>
        <p:spPr>
          <a:xfrm>
            <a:off x="146160" y="3060387"/>
            <a:ext cx="205200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strike="noStrike" spc="-1">
                <a:solidFill>
                  <a:srgbClr val="FFFFFF"/>
                </a:solidFill>
                <a:latin typeface="Calibri"/>
                <a:ea typeface="Calibri"/>
              </a:rPr>
              <a:t>📊 Harmonic analysis</a:t>
            </a:r>
            <a:endParaRPr lang="en-US" sz="6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9" name="Text 128"/>
          <p:cNvSpPr/>
          <p:nvPr/>
        </p:nvSpPr>
        <p:spPr>
          <a:xfrm>
            <a:off x="146160" y="3188187"/>
            <a:ext cx="205200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6B7280"/>
                </a:solidFill>
                <a:latin typeface="Calibri"/>
                <a:ea typeface="Calibri"/>
              </a:rPr>
              <a:t>1× 2× 3× shaft freq · ISO 10816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0" name="Shape 123"/>
          <p:cNvSpPr/>
          <p:nvPr/>
        </p:nvSpPr>
        <p:spPr>
          <a:xfrm>
            <a:off x="73080" y="3393027"/>
            <a:ext cx="2180160" cy="368640"/>
          </a:xfrm>
          <a:prstGeom prst="rect">
            <a:avLst/>
          </a:prstGeom>
          <a:solidFill>
            <a:srgbClr val="0A0B11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81" name="Shape 125"/>
          <p:cNvSpPr/>
          <p:nvPr/>
        </p:nvSpPr>
        <p:spPr>
          <a:xfrm>
            <a:off x="73080" y="3393027"/>
            <a:ext cx="26640" cy="36864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82" name="Text 130"/>
          <p:cNvSpPr/>
          <p:nvPr/>
        </p:nvSpPr>
        <p:spPr>
          <a:xfrm>
            <a:off x="146160" y="3429747"/>
            <a:ext cx="205200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strike="noStrike" spc="-1">
                <a:solidFill>
                  <a:srgbClr val="FFFFFF"/>
                </a:solidFill>
                <a:latin typeface="Calibri"/>
                <a:ea typeface="Calibri"/>
              </a:rPr>
              <a:t>🌐 Ollama LLM alerts</a:t>
            </a:r>
            <a:endParaRPr lang="en-US" sz="6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3" name="Text 134"/>
          <p:cNvSpPr/>
          <p:nvPr/>
        </p:nvSpPr>
        <p:spPr>
          <a:xfrm>
            <a:off x="146160" y="3557547"/>
            <a:ext cx="205200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6B7280"/>
                </a:solidFill>
                <a:latin typeface="Calibri"/>
                <a:ea typeface="Calibri"/>
              </a:rPr>
              <a:t>Any language · offline · no cloud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4" name="Shape 127"/>
          <p:cNvSpPr/>
          <p:nvPr/>
        </p:nvSpPr>
        <p:spPr>
          <a:xfrm>
            <a:off x="73080" y="3762387"/>
            <a:ext cx="2180160" cy="36864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85" name="Shape 129"/>
          <p:cNvSpPr/>
          <p:nvPr/>
        </p:nvSpPr>
        <p:spPr>
          <a:xfrm>
            <a:off x="73080" y="3762387"/>
            <a:ext cx="26640" cy="36864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86" name="Text 146"/>
          <p:cNvSpPr/>
          <p:nvPr/>
        </p:nvSpPr>
        <p:spPr>
          <a:xfrm>
            <a:off x="146160" y="3799107"/>
            <a:ext cx="205200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strike="noStrike" spc="-1">
                <a:solidFill>
                  <a:srgbClr val="FFFFFF"/>
                </a:solidFill>
                <a:latin typeface="Calibri"/>
                <a:ea typeface="Calibri"/>
              </a:rPr>
              <a:t>💰 SME commercial launch</a:t>
            </a:r>
            <a:endParaRPr lang="en-US" sz="6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7" name="Text 149"/>
          <p:cNvSpPr/>
          <p:nvPr/>
        </p:nvSpPr>
        <p:spPr>
          <a:xfrm>
            <a:off x="146160" y="3926907"/>
            <a:ext cx="205200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6B7280"/>
                </a:solidFill>
                <a:latin typeface="Calibri"/>
                <a:ea typeface="Calibri"/>
              </a:rPr>
              <a:t>₹3,499/node · ₹499/machine/month SaaS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8" name="Shape 131"/>
          <p:cNvSpPr/>
          <p:nvPr/>
        </p:nvSpPr>
        <p:spPr>
          <a:xfrm>
            <a:off x="73080" y="4131747"/>
            <a:ext cx="2180160" cy="401760"/>
          </a:xfrm>
          <a:prstGeom prst="rect">
            <a:avLst/>
          </a:prstGeom>
          <a:solidFill>
            <a:srgbClr val="0A2015"/>
          </a:solidFill>
          <a:ln w="1008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89" name="Text 152"/>
          <p:cNvSpPr/>
          <p:nvPr/>
        </p:nvSpPr>
        <p:spPr>
          <a:xfrm>
            <a:off x="164520" y="4186827"/>
            <a:ext cx="2015640" cy="14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86EFAC"/>
                </a:solidFill>
                <a:latin typeface="Calibri"/>
                <a:ea typeface="Calibri"/>
              </a:rPr>
              <a:t>HW  ·  Tier 3: Ryzen 5 Edge Mini PC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0" name="Text 162"/>
          <p:cNvSpPr/>
          <p:nvPr/>
        </p:nvSpPr>
        <p:spPr>
          <a:xfrm>
            <a:off x="164520" y="4342347"/>
            <a:ext cx="201564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6B7280"/>
                </a:solidFill>
                <a:latin typeface="Calibri"/>
                <a:ea typeface="Calibri"/>
              </a:rPr>
              <a:t>Dashboard + aggregation only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1" name="Shape 143"/>
          <p:cNvSpPr/>
          <p:nvPr/>
        </p:nvSpPr>
        <p:spPr>
          <a:xfrm>
            <a:off x="2345400" y="931347"/>
            <a:ext cx="2180160" cy="3602160"/>
          </a:xfrm>
          <a:prstGeom prst="rect">
            <a:avLst/>
          </a:prstGeom>
          <a:solidFill>
            <a:srgbClr val="0A0B10"/>
          </a:solidFill>
          <a:ln w="1008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92" name="Shape 494"/>
          <p:cNvSpPr/>
          <p:nvPr/>
        </p:nvSpPr>
        <p:spPr>
          <a:xfrm>
            <a:off x="2345400" y="931347"/>
            <a:ext cx="2180160" cy="54000"/>
          </a:xfrm>
          <a:prstGeom prst="rect">
            <a:avLst/>
          </a:prstGeom>
          <a:solidFill>
            <a:srgbClr val="2563EB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93" name="Shape 495"/>
          <p:cNvSpPr/>
          <p:nvPr/>
        </p:nvSpPr>
        <p:spPr>
          <a:xfrm>
            <a:off x="2345400" y="986427"/>
            <a:ext cx="2180160" cy="200520"/>
          </a:xfrm>
          <a:prstGeom prst="rect">
            <a:avLst/>
          </a:prstGeom>
          <a:solidFill>
            <a:srgbClr val="0F1D42"/>
          </a:solidFill>
          <a:ln w="12600">
            <a:solidFill>
              <a:srgbClr val="0F1D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94" name="Text 163"/>
          <p:cNvSpPr/>
          <p:nvPr/>
        </p:nvSpPr>
        <p:spPr>
          <a:xfrm>
            <a:off x="2436840" y="995427"/>
            <a:ext cx="1997280" cy="16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46">
                <a:solidFill>
                  <a:srgbClr val="93C5FD"/>
                </a:solidFill>
                <a:latin typeface="Calibri"/>
                <a:ea typeface="Calibri"/>
              </a:rPr>
              <a:t>Q2 2026  ·  3 MONTHS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5" name="Shape 496"/>
          <p:cNvSpPr/>
          <p:nvPr/>
        </p:nvSpPr>
        <p:spPr>
          <a:xfrm>
            <a:off x="3959280" y="1004787"/>
            <a:ext cx="493200" cy="163800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96" name="Text 165"/>
          <p:cNvSpPr/>
          <p:nvPr/>
        </p:nvSpPr>
        <p:spPr>
          <a:xfrm>
            <a:off x="3959280" y="1004787"/>
            <a:ext cx="493200" cy="16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strike="noStrike" spc="-1">
                <a:solidFill>
                  <a:srgbClr val="FFFFFF"/>
                </a:solidFill>
                <a:latin typeface="Calibri"/>
                <a:ea typeface="Calibri"/>
              </a:rPr>
              <a:t>NEXT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7" name="Shape 497"/>
          <p:cNvSpPr/>
          <p:nvPr/>
        </p:nvSpPr>
        <p:spPr>
          <a:xfrm>
            <a:off x="2345400" y="1187667"/>
            <a:ext cx="2180160" cy="493200"/>
          </a:xfrm>
          <a:prstGeom prst="rect">
            <a:avLst/>
          </a:prstGeom>
          <a:solidFill>
            <a:srgbClr val="080E1C"/>
          </a:solidFill>
          <a:ln w="12600">
            <a:solidFill>
              <a:srgbClr val="080E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98" name="Text 166"/>
          <p:cNvSpPr/>
          <p:nvPr/>
        </p:nvSpPr>
        <p:spPr>
          <a:xfrm>
            <a:off x="2436840" y="1205667"/>
            <a:ext cx="201564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alibri"/>
                <a:ea typeface="Calibri"/>
              </a:rPr>
              <a:t>Fault Type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alibri"/>
                <a:ea typeface="Calibri"/>
              </a:rPr>
              <a:t>Classifier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9" name="Shape 498"/>
          <p:cNvSpPr/>
          <p:nvPr/>
        </p:nvSpPr>
        <p:spPr>
          <a:xfrm>
            <a:off x="2345400" y="1681227"/>
            <a:ext cx="2180160" cy="200520"/>
          </a:xfrm>
          <a:prstGeom prst="rect">
            <a:avLst/>
          </a:prstGeom>
          <a:solidFill>
            <a:srgbClr val="0F0F16"/>
          </a:solidFill>
          <a:ln w="3960">
            <a:solidFill>
              <a:srgbClr val="1E22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00" name="Text 168"/>
          <p:cNvSpPr/>
          <p:nvPr/>
        </p:nvSpPr>
        <p:spPr>
          <a:xfrm>
            <a:off x="2436840" y="1699587"/>
            <a:ext cx="2015640" cy="16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i="1" strike="noStrike" spc="-1">
                <a:solidFill>
                  <a:srgbClr val="93C5FD"/>
                </a:solidFill>
                <a:latin typeface="Calibri"/>
                <a:ea typeface="Calibri"/>
              </a:rPr>
              <a:t>"What kind of fault?"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1" name="Shape 499"/>
          <p:cNvSpPr/>
          <p:nvPr/>
        </p:nvSpPr>
        <p:spPr>
          <a:xfrm>
            <a:off x="2345400" y="1882467"/>
            <a:ext cx="2180160" cy="182160"/>
          </a:xfrm>
          <a:prstGeom prst="rect">
            <a:avLst/>
          </a:prstGeom>
          <a:solidFill>
            <a:srgbClr val="0C0C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02" name="Text 169"/>
          <p:cNvSpPr/>
          <p:nvPr/>
        </p:nvSpPr>
        <p:spPr>
          <a:xfrm>
            <a:off x="2436840" y="1900827"/>
            <a:ext cx="2015640" cy="14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strike="noStrike" spc="26">
                <a:solidFill>
                  <a:srgbClr val="93C5FD"/>
                </a:solidFill>
                <a:latin typeface="Calibri"/>
                <a:ea typeface="Calibri"/>
              </a:rPr>
              <a:t>MODEL  ·  Supervised CNN Classifier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3" name="Shape 500"/>
          <p:cNvSpPr/>
          <p:nvPr/>
        </p:nvSpPr>
        <p:spPr>
          <a:xfrm>
            <a:off x="2436840" y="2083707"/>
            <a:ext cx="1997280" cy="163800"/>
          </a:xfrm>
          <a:prstGeom prst="roundRect">
            <a:avLst>
              <a:gd name="adj" fmla="val 22222"/>
            </a:avLst>
          </a:prstGeom>
          <a:solidFill>
            <a:srgbClr val="111118"/>
          </a:solidFill>
          <a:ln w="756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04" name="Text 171"/>
          <p:cNvSpPr/>
          <p:nvPr/>
        </p:nvSpPr>
        <p:spPr>
          <a:xfrm>
            <a:off x="2491920" y="2092707"/>
            <a:ext cx="1905840" cy="14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strike="noStrike" spc="26">
                <a:solidFill>
                  <a:srgbClr val="93C5FD"/>
                </a:solidFill>
                <a:latin typeface="Calibri"/>
                <a:ea typeface="Calibri"/>
              </a:rPr>
              <a:t>NPU LOAD  ·  ~50–60% NPU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5" name="Shape 501"/>
          <p:cNvSpPr/>
          <p:nvPr/>
        </p:nvSpPr>
        <p:spPr>
          <a:xfrm>
            <a:off x="2345400" y="2284947"/>
            <a:ext cx="2180160" cy="36864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06" name="Shape 502"/>
          <p:cNvSpPr/>
          <p:nvPr/>
        </p:nvSpPr>
        <p:spPr>
          <a:xfrm>
            <a:off x="2345400" y="2284947"/>
            <a:ext cx="26640" cy="368640"/>
          </a:xfrm>
          <a:prstGeom prst="rect">
            <a:avLst/>
          </a:prstGeom>
          <a:solidFill>
            <a:srgbClr val="2563EB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07" name="Text 172"/>
          <p:cNvSpPr/>
          <p:nvPr/>
        </p:nvSpPr>
        <p:spPr>
          <a:xfrm>
            <a:off x="2418480" y="2321307"/>
            <a:ext cx="205200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strike="noStrike" spc="-1">
                <a:solidFill>
                  <a:srgbClr val="FFFFFF"/>
                </a:solidFill>
                <a:latin typeface="Calibri"/>
                <a:ea typeface="Calibri"/>
              </a:rPr>
              <a:t>🎯 Multi-class fault labels</a:t>
            </a:r>
            <a:endParaRPr lang="en-US" sz="6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8" name="Text 173"/>
          <p:cNvSpPr/>
          <p:nvPr/>
        </p:nvSpPr>
        <p:spPr>
          <a:xfrm>
            <a:off x="2418480" y="2449467"/>
            <a:ext cx="205200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6B7280"/>
                </a:solidFill>
                <a:latin typeface="Calibri"/>
                <a:ea typeface="Calibri"/>
              </a:rPr>
              <a:t>Bearing wear · imbalance · looseness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9" name="Shape 503"/>
          <p:cNvSpPr/>
          <p:nvPr/>
        </p:nvSpPr>
        <p:spPr>
          <a:xfrm>
            <a:off x="2345400" y="2654307"/>
            <a:ext cx="2180160" cy="368640"/>
          </a:xfrm>
          <a:prstGeom prst="rect">
            <a:avLst/>
          </a:prstGeom>
          <a:solidFill>
            <a:srgbClr val="0A0B11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10" name="Shape 504"/>
          <p:cNvSpPr/>
          <p:nvPr/>
        </p:nvSpPr>
        <p:spPr>
          <a:xfrm>
            <a:off x="2345400" y="2654307"/>
            <a:ext cx="26640" cy="368640"/>
          </a:xfrm>
          <a:prstGeom prst="rect">
            <a:avLst/>
          </a:prstGeom>
          <a:solidFill>
            <a:srgbClr val="2563EB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11" name="Text 174"/>
          <p:cNvSpPr/>
          <p:nvPr/>
        </p:nvSpPr>
        <p:spPr>
          <a:xfrm>
            <a:off x="2418480" y="2690667"/>
            <a:ext cx="205200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strike="noStrike" spc="-1">
                <a:solidFill>
                  <a:srgbClr val="FFFFFF"/>
                </a:solidFill>
                <a:latin typeface="Calibri"/>
                <a:ea typeface="Calibri"/>
              </a:rPr>
              <a:t>🔬 Lab-simulated faults</a:t>
            </a:r>
            <a:endParaRPr lang="en-US" sz="6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2" name="Text 175"/>
          <p:cNvSpPr/>
          <p:nvPr/>
        </p:nvSpPr>
        <p:spPr>
          <a:xfrm>
            <a:off x="2418480" y="2818827"/>
            <a:ext cx="205200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6B7280"/>
                </a:solidFill>
                <a:latin typeface="Calibri"/>
                <a:ea typeface="Calibri"/>
              </a:rPr>
              <a:t>Controlled motor obstruction dataset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3" name="Shape 505"/>
          <p:cNvSpPr/>
          <p:nvPr/>
        </p:nvSpPr>
        <p:spPr>
          <a:xfrm>
            <a:off x="2345400" y="3023667"/>
            <a:ext cx="2180160" cy="36864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14" name="Shape 506"/>
          <p:cNvSpPr/>
          <p:nvPr/>
        </p:nvSpPr>
        <p:spPr>
          <a:xfrm>
            <a:off x="2345400" y="3023667"/>
            <a:ext cx="26640" cy="368640"/>
          </a:xfrm>
          <a:prstGeom prst="rect">
            <a:avLst/>
          </a:prstGeom>
          <a:solidFill>
            <a:srgbClr val="2563EB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15" name="Text 176"/>
          <p:cNvSpPr/>
          <p:nvPr/>
        </p:nvSpPr>
        <p:spPr>
          <a:xfrm>
            <a:off x="2418480" y="3060387"/>
            <a:ext cx="205200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strike="noStrike" spc="-1">
                <a:solidFill>
                  <a:srgbClr val="FFFFFF"/>
                </a:solidFill>
                <a:latin typeface="Calibri"/>
                <a:ea typeface="Calibri"/>
              </a:rPr>
              <a:t>🧠 2nd model on same NPU</a:t>
            </a:r>
            <a:endParaRPr lang="en-US" sz="6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6" name="Text 177"/>
          <p:cNvSpPr/>
          <p:nvPr/>
        </p:nvSpPr>
        <p:spPr>
          <a:xfrm>
            <a:off x="2418480" y="3188187"/>
            <a:ext cx="205200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6B7280"/>
                </a:solidFill>
                <a:latin typeface="Calibri"/>
                <a:ea typeface="Calibri"/>
              </a:rPr>
              <a:t>Autoencoder + Classifier in parallel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7" name="Shape 507"/>
          <p:cNvSpPr/>
          <p:nvPr/>
        </p:nvSpPr>
        <p:spPr>
          <a:xfrm>
            <a:off x="2345400" y="3393027"/>
            <a:ext cx="2180160" cy="368640"/>
          </a:xfrm>
          <a:prstGeom prst="rect">
            <a:avLst/>
          </a:prstGeom>
          <a:solidFill>
            <a:srgbClr val="0A0B11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18" name="Shape 508"/>
          <p:cNvSpPr/>
          <p:nvPr/>
        </p:nvSpPr>
        <p:spPr>
          <a:xfrm>
            <a:off x="2345400" y="3393027"/>
            <a:ext cx="26640" cy="368640"/>
          </a:xfrm>
          <a:prstGeom prst="rect">
            <a:avLst/>
          </a:prstGeom>
          <a:solidFill>
            <a:srgbClr val="2563EB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19" name="Text 178"/>
          <p:cNvSpPr/>
          <p:nvPr/>
        </p:nvSpPr>
        <p:spPr>
          <a:xfrm>
            <a:off x="2418480" y="3429747"/>
            <a:ext cx="205200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strike="noStrike" spc="-1">
                <a:solidFill>
                  <a:srgbClr val="FFFFFF"/>
                </a:solidFill>
                <a:latin typeface="Calibri"/>
                <a:ea typeface="Calibri"/>
              </a:rPr>
              <a:t>📈 Severity grading</a:t>
            </a:r>
            <a:endParaRPr lang="en-US" sz="6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0" name="Text 658"/>
          <p:cNvSpPr/>
          <p:nvPr/>
        </p:nvSpPr>
        <p:spPr>
          <a:xfrm>
            <a:off x="2418480" y="3557547"/>
            <a:ext cx="205200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6B7280"/>
                </a:solidFill>
                <a:latin typeface="Calibri"/>
                <a:ea typeface="Calibri"/>
              </a:rPr>
              <a:t>LOW · MEDIUM · HIGH · CRITICAL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1" name="Shape 509"/>
          <p:cNvSpPr/>
          <p:nvPr/>
        </p:nvSpPr>
        <p:spPr>
          <a:xfrm>
            <a:off x="2345400" y="3762387"/>
            <a:ext cx="2180160" cy="36864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22" name="Shape 510"/>
          <p:cNvSpPr/>
          <p:nvPr/>
        </p:nvSpPr>
        <p:spPr>
          <a:xfrm>
            <a:off x="2345400" y="3762387"/>
            <a:ext cx="26640" cy="368640"/>
          </a:xfrm>
          <a:prstGeom prst="rect">
            <a:avLst/>
          </a:prstGeom>
          <a:solidFill>
            <a:srgbClr val="2563EB"/>
          </a:solidFill>
          <a:ln w="126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23" name="Text 659"/>
          <p:cNvSpPr/>
          <p:nvPr/>
        </p:nvSpPr>
        <p:spPr>
          <a:xfrm>
            <a:off x="2418480" y="3799107"/>
            <a:ext cx="205200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strike="noStrike" spc="-1">
                <a:solidFill>
                  <a:srgbClr val="FFFFFF"/>
                </a:solidFill>
                <a:latin typeface="Calibri"/>
                <a:ea typeface="Calibri"/>
              </a:rPr>
              <a:t>🏭 Mid-market expansion</a:t>
            </a:r>
            <a:endParaRPr lang="en-US" sz="6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4" name="Text 660"/>
          <p:cNvSpPr/>
          <p:nvPr/>
        </p:nvSpPr>
        <p:spPr>
          <a:xfrm>
            <a:off x="2418480" y="3926907"/>
            <a:ext cx="205200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6B7280"/>
                </a:solidFill>
                <a:latin typeface="Calibri"/>
                <a:ea typeface="Calibri"/>
              </a:rPr>
              <a:t>Up to 100 nodes/zone · larger factories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5" name="Shape 511"/>
          <p:cNvSpPr/>
          <p:nvPr/>
        </p:nvSpPr>
        <p:spPr>
          <a:xfrm>
            <a:off x="2345400" y="4131747"/>
            <a:ext cx="2180160" cy="401760"/>
          </a:xfrm>
          <a:prstGeom prst="rect">
            <a:avLst/>
          </a:prstGeom>
          <a:solidFill>
            <a:srgbClr val="7A1E0A"/>
          </a:solidFill>
          <a:ln w="1008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26" name="Text 661"/>
          <p:cNvSpPr/>
          <p:nvPr/>
        </p:nvSpPr>
        <p:spPr>
          <a:xfrm>
            <a:off x="2436840" y="4186827"/>
            <a:ext cx="2015640" cy="14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ED4E33"/>
                </a:solidFill>
                <a:latin typeface="Calibri"/>
                <a:ea typeface="Calibri"/>
              </a:rPr>
              <a:t>HW  ·  Tier 2: Same Ryzen AI NPU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7" name="Text 662"/>
          <p:cNvSpPr/>
          <p:nvPr/>
        </p:nvSpPr>
        <p:spPr>
          <a:xfrm>
            <a:off x="2436840" y="4342347"/>
            <a:ext cx="201564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6B7280"/>
                </a:solidFill>
                <a:latin typeface="Calibri"/>
                <a:ea typeface="Calibri"/>
              </a:rPr>
              <a:t>No hardware change · software update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8" name="Shape 512"/>
          <p:cNvSpPr/>
          <p:nvPr/>
        </p:nvSpPr>
        <p:spPr>
          <a:xfrm>
            <a:off x="4617720" y="931347"/>
            <a:ext cx="2180160" cy="3602160"/>
          </a:xfrm>
          <a:prstGeom prst="rect">
            <a:avLst/>
          </a:prstGeom>
          <a:solidFill>
            <a:srgbClr val="0A0B10"/>
          </a:solidFill>
          <a:ln w="1008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29" name="Shape 513"/>
          <p:cNvSpPr/>
          <p:nvPr/>
        </p:nvSpPr>
        <p:spPr>
          <a:xfrm>
            <a:off x="4617720" y="931347"/>
            <a:ext cx="2180160" cy="54000"/>
          </a:xfrm>
          <a:prstGeom prst="rect">
            <a:avLst/>
          </a:prstGeom>
          <a:solidFill>
            <a:srgbClr val="7C3AED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30" name="Shape 514"/>
          <p:cNvSpPr/>
          <p:nvPr/>
        </p:nvSpPr>
        <p:spPr>
          <a:xfrm>
            <a:off x="4617720" y="986427"/>
            <a:ext cx="2180160" cy="200520"/>
          </a:xfrm>
          <a:prstGeom prst="rect">
            <a:avLst/>
          </a:prstGeom>
          <a:solidFill>
            <a:srgbClr val="140E28"/>
          </a:solidFill>
          <a:ln w="12600">
            <a:solidFill>
              <a:srgbClr val="140E2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31" name="Text 663"/>
          <p:cNvSpPr/>
          <p:nvPr/>
        </p:nvSpPr>
        <p:spPr>
          <a:xfrm>
            <a:off x="4709160" y="995427"/>
            <a:ext cx="1997280" cy="16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46">
                <a:solidFill>
                  <a:srgbClr val="C4B5FD"/>
                </a:solidFill>
                <a:latin typeface="Calibri"/>
                <a:ea typeface="Calibri"/>
              </a:rPr>
              <a:t>Q3 2026  ·  6 MONTHS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2" name="Shape 515"/>
          <p:cNvSpPr/>
          <p:nvPr/>
        </p:nvSpPr>
        <p:spPr>
          <a:xfrm>
            <a:off x="6231600" y="1004787"/>
            <a:ext cx="493200" cy="163800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33" name="Text 664"/>
          <p:cNvSpPr/>
          <p:nvPr/>
        </p:nvSpPr>
        <p:spPr>
          <a:xfrm>
            <a:off x="6231600" y="1004787"/>
            <a:ext cx="493200" cy="16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strike="noStrike" spc="-1">
                <a:solidFill>
                  <a:srgbClr val="FFFFFF"/>
                </a:solidFill>
                <a:latin typeface="Calibri"/>
                <a:ea typeface="Calibri"/>
              </a:rPr>
              <a:t>PREMIUM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4" name="Shape 516"/>
          <p:cNvSpPr/>
          <p:nvPr/>
        </p:nvSpPr>
        <p:spPr>
          <a:xfrm>
            <a:off x="4617720" y="1187667"/>
            <a:ext cx="2180160" cy="493200"/>
          </a:xfrm>
          <a:prstGeom prst="rect">
            <a:avLst/>
          </a:prstGeom>
          <a:solidFill>
            <a:srgbClr val="0C0814"/>
          </a:solidFill>
          <a:ln w="12600">
            <a:solidFill>
              <a:srgbClr val="0C08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35" name="Text 665"/>
          <p:cNvSpPr/>
          <p:nvPr/>
        </p:nvSpPr>
        <p:spPr>
          <a:xfrm>
            <a:off x="4709160" y="1205667"/>
            <a:ext cx="201564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alibri"/>
                <a:ea typeface="Calibri"/>
              </a:rPr>
              <a:t>Remaining Useful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alibri"/>
                <a:ea typeface="Calibri"/>
              </a:rPr>
              <a:t>Life Estimator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6" name="Shape 517"/>
          <p:cNvSpPr/>
          <p:nvPr/>
        </p:nvSpPr>
        <p:spPr>
          <a:xfrm>
            <a:off x="4617720" y="1681227"/>
            <a:ext cx="2180160" cy="200520"/>
          </a:xfrm>
          <a:prstGeom prst="rect">
            <a:avLst/>
          </a:prstGeom>
          <a:solidFill>
            <a:srgbClr val="0F0F16"/>
          </a:solidFill>
          <a:ln w="3960">
            <a:solidFill>
              <a:srgbClr val="1E22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37" name="Text 666"/>
          <p:cNvSpPr/>
          <p:nvPr/>
        </p:nvSpPr>
        <p:spPr>
          <a:xfrm>
            <a:off x="4709160" y="1699587"/>
            <a:ext cx="2015640" cy="16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i="1" strike="noStrike" spc="-1">
                <a:solidFill>
                  <a:srgbClr val="C4B5FD"/>
                </a:solidFill>
                <a:latin typeface="Calibri"/>
                <a:ea typeface="Calibri"/>
              </a:rPr>
              <a:t>"How long until failure?"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8" name="Shape 518"/>
          <p:cNvSpPr/>
          <p:nvPr/>
        </p:nvSpPr>
        <p:spPr>
          <a:xfrm>
            <a:off x="4617720" y="1882467"/>
            <a:ext cx="2180160" cy="182160"/>
          </a:xfrm>
          <a:prstGeom prst="rect">
            <a:avLst/>
          </a:prstGeom>
          <a:solidFill>
            <a:srgbClr val="0C0C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39" name="Text 667"/>
          <p:cNvSpPr/>
          <p:nvPr/>
        </p:nvSpPr>
        <p:spPr>
          <a:xfrm>
            <a:off x="4709160" y="1900827"/>
            <a:ext cx="2015640" cy="14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strike="noStrike" spc="26">
                <a:solidFill>
                  <a:srgbClr val="C4B5FD"/>
                </a:solidFill>
                <a:latin typeface="Calibri"/>
                <a:ea typeface="Calibri"/>
              </a:rPr>
              <a:t>MODEL  ·  LSTM on MSE Trend History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0" name="Shape 519"/>
          <p:cNvSpPr/>
          <p:nvPr/>
        </p:nvSpPr>
        <p:spPr>
          <a:xfrm>
            <a:off x="4709160" y="2083707"/>
            <a:ext cx="1997280" cy="163800"/>
          </a:xfrm>
          <a:prstGeom prst="roundRect">
            <a:avLst>
              <a:gd name="adj" fmla="val 22222"/>
            </a:avLst>
          </a:prstGeom>
          <a:solidFill>
            <a:srgbClr val="111118"/>
          </a:solidFill>
          <a:ln w="756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41" name="Text 668"/>
          <p:cNvSpPr/>
          <p:nvPr/>
        </p:nvSpPr>
        <p:spPr>
          <a:xfrm>
            <a:off x="4763880" y="2092707"/>
            <a:ext cx="1905840" cy="14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strike="noStrike" spc="26">
                <a:solidFill>
                  <a:srgbClr val="C4B5FD"/>
                </a:solidFill>
                <a:latin typeface="Calibri"/>
                <a:ea typeface="Calibri"/>
              </a:rPr>
              <a:t>NPU LOAD  ·  ~70–80% NPU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2" name="Shape 520"/>
          <p:cNvSpPr/>
          <p:nvPr/>
        </p:nvSpPr>
        <p:spPr>
          <a:xfrm>
            <a:off x="4617720" y="2284947"/>
            <a:ext cx="2180160" cy="36864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43" name="Shape 521"/>
          <p:cNvSpPr/>
          <p:nvPr/>
        </p:nvSpPr>
        <p:spPr>
          <a:xfrm>
            <a:off x="4617720" y="2284947"/>
            <a:ext cx="26640" cy="368640"/>
          </a:xfrm>
          <a:prstGeom prst="rect">
            <a:avLst/>
          </a:prstGeom>
          <a:solidFill>
            <a:srgbClr val="7C3AED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44" name="Text 669"/>
          <p:cNvSpPr/>
          <p:nvPr/>
        </p:nvSpPr>
        <p:spPr>
          <a:xfrm>
            <a:off x="4690800" y="2321307"/>
            <a:ext cx="205200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strike="noStrike" spc="-1">
                <a:solidFill>
                  <a:srgbClr val="FFFFFF"/>
                </a:solidFill>
                <a:latin typeface="Calibri"/>
                <a:ea typeface="Calibri"/>
              </a:rPr>
              <a:t>⏱ Time-to-failure prediction</a:t>
            </a:r>
            <a:endParaRPr lang="en-US" sz="6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5" name="Text 670"/>
          <p:cNvSpPr/>
          <p:nvPr/>
        </p:nvSpPr>
        <p:spPr>
          <a:xfrm>
            <a:off x="4690800" y="2449467"/>
            <a:ext cx="205200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6B7280"/>
                </a:solidFill>
                <a:latin typeface="Calibri"/>
                <a:ea typeface="Calibri"/>
              </a:rPr>
              <a:t>"Bearing failure in ~72 hours"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6" name="Shape 522"/>
          <p:cNvSpPr/>
          <p:nvPr/>
        </p:nvSpPr>
        <p:spPr>
          <a:xfrm>
            <a:off x="4617720" y="2654307"/>
            <a:ext cx="2180160" cy="368640"/>
          </a:xfrm>
          <a:prstGeom prst="rect">
            <a:avLst/>
          </a:prstGeom>
          <a:solidFill>
            <a:srgbClr val="0A0B11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47" name="Shape 523"/>
          <p:cNvSpPr/>
          <p:nvPr/>
        </p:nvSpPr>
        <p:spPr>
          <a:xfrm>
            <a:off x="4617720" y="2654307"/>
            <a:ext cx="26640" cy="368640"/>
          </a:xfrm>
          <a:prstGeom prst="rect">
            <a:avLst/>
          </a:prstGeom>
          <a:solidFill>
            <a:srgbClr val="7C3AED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48" name="Text 671"/>
          <p:cNvSpPr/>
          <p:nvPr/>
        </p:nvSpPr>
        <p:spPr>
          <a:xfrm>
            <a:off x="4690800" y="2690667"/>
            <a:ext cx="205200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strike="noStrike" spc="-1">
                <a:solidFill>
                  <a:srgbClr val="FFFFFF"/>
                </a:solidFill>
                <a:latin typeface="Calibri"/>
                <a:ea typeface="Calibri"/>
              </a:rPr>
              <a:t>📉 MSE drift tracking</a:t>
            </a:r>
            <a:endParaRPr lang="en-US" sz="6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9" name="Text 672"/>
          <p:cNvSpPr/>
          <p:nvPr/>
        </p:nvSpPr>
        <p:spPr>
          <a:xfrm>
            <a:off x="4690800" y="2818827"/>
            <a:ext cx="205200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6B7280"/>
                </a:solidFill>
                <a:latin typeface="Calibri"/>
                <a:ea typeface="Calibri"/>
              </a:rPr>
              <a:t>Weeks of trend data → LSTM input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0" name="Shape 524"/>
          <p:cNvSpPr/>
          <p:nvPr/>
        </p:nvSpPr>
        <p:spPr>
          <a:xfrm>
            <a:off x="4617720" y="3023667"/>
            <a:ext cx="2180160" cy="36864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51" name="Shape 525"/>
          <p:cNvSpPr/>
          <p:nvPr/>
        </p:nvSpPr>
        <p:spPr>
          <a:xfrm>
            <a:off x="4617720" y="3023667"/>
            <a:ext cx="26640" cy="368640"/>
          </a:xfrm>
          <a:prstGeom prst="rect">
            <a:avLst/>
          </a:prstGeom>
          <a:solidFill>
            <a:srgbClr val="7C3AED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52" name="Text 673"/>
          <p:cNvSpPr/>
          <p:nvPr/>
        </p:nvSpPr>
        <p:spPr>
          <a:xfrm>
            <a:off x="4690800" y="3060387"/>
            <a:ext cx="205200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strike="noStrike" spc="-1">
                <a:solidFill>
                  <a:srgbClr val="FFFFFF"/>
                </a:solidFill>
                <a:latin typeface="Calibri"/>
                <a:ea typeface="Calibri"/>
              </a:rPr>
              <a:t>🗓 Maintenance scheduling</a:t>
            </a:r>
            <a:endParaRPr lang="en-US" sz="6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3" name="Text 674"/>
          <p:cNvSpPr/>
          <p:nvPr/>
        </p:nvSpPr>
        <p:spPr>
          <a:xfrm>
            <a:off x="4690800" y="3188187"/>
            <a:ext cx="205200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6B7280"/>
                </a:solidFill>
                <a:latin typeface="Calibri"/>
                <a:ea typeface="Calibri"/>
              </a:rPr>
              <a:t>Plan downtime before emergency shutdown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4" name="Shape 526"/>
          <p:cNvSpPr/>
          <p:nvPr/>
        </p:nvSpPr>
        <p:spPr>
          <a:xfrm>
            <a:off x="4617720" y="3393027"/>
            <a:ext cx="2180160" cy="368640"/>
          </a:xfrm>
          <a:prstGeom prst="rect">
            <a:avLst/>
          </a:prstGeom>
          <a:solidFill>
            <a:srgbClr val="0A0B11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55" name="Shape 527"/>
          <p:cNvSpPr/>
          <p:nvPr/>
        </p:nvSpPr>
        <p:spPr>
          <a:xfrm>
            <a:off x="4617720" y="3393027"/>
            <a:ext cx="26640" cy="368640"/>
          </a:xfrm>
          <a:prstGeom prst="rect">
            <a:avLst/>
          </a:prstGeom>
          <a:solidFill>
            <a:srgbClr val="7C3AED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56" name="Text 675"/>
          <p:cNvSpPr/>
          <p:nvPr/>
        </p:nvSpPr>
        <p:spPr>
          <a:xfrm>
            <a:off x="4690800" y="3429747"/>
            <a:ext cx="205200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strike="noStrike" spc="-1">
                <a:solidFill>
                  <a:srgbClr val="FFFFFF"/>
                </a:solidFill>
                <a:latin typeface="Calibri"/>
                <a:ea typeface="Calibri"/>
              </a:rPr>
              <a:t>💎 Premium SaaS tier</a:t>
            </a:r>
            <a:endParaRPr lang="en-US" sz="6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7" name="Text 676"/>
          <p:cNvSpPr/>
          <p:nvPr/>
        </p:nvSpPr>
        <p:spPr>
          <a:xfrm>
            <a:off x="4690800" y="3557547"/>
            <a:ext cx="205200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6B7280"/>
                </a:solidFill>
                <a:latin typeface="Calibri"/>
                <a:ea typeface="Calibri"/>
              </a:rPr>
              <a:t>₹999/machine/month · enterprise pricing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8" name="Shape 528"/>
          <p:cNvSpPr/>
          <p:nvPr/>
        </p:nvSpPr>
        <p:spPr>
          <a:xfrm>
            <a:off x="4617720" y="3762387"/>
            <a:ext cx="2180160" cy="36864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59" name="Shape 529"/>
          <p:cNvSpPr/>
          <p:nvPr/>
        </p:nvSpPr>
        <p:spPr>
          <a:xfrm>
            <a:off x="4617720" y="3762387"/>
            <a:ext cx="26640" cy="368640"/>
          </a:xfrm>
          <a:prstGeom prst="rect">
            <a:avLst/>
          </a:prstGeom>
          <a:solidFill>
            <a:srgbClr val="7C3AED"/>
          </a:solidFill>
          <a:ln w="12600">
            <a:solidFill>
              <a:srgbClr val="7C3AE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60" name="Text 677"/>
          <p:cNvSpPr/>
          <p:nvPr/>
        </p:nvSpPr>
        <p:spPr>
          <a:xfrm>
            <a:off x="4690800" y="3799107"/>
            <a:ext cx="205200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strike="noStrike" spc="-1">
                <a:solidFill>
                  <a:srgbClr val="FFFFFF"/>
                </a:solidFill>
                <a:latin typeface="Calibri"/>
                <a:ea typeface="Calibri"/>
              </a:rPr>
              <a:t>🏢 Enterprise Tier 3 upgrade</a:t>
            </a:r>
            <a:endParaRPr lang="en-US" sz="6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1" name="Text 678"/>
          <p:cNvSpPr/>
          <p:nvPr/>
        </p:nvSpPr>
        <p:spPr>
          <a:xfrm>
            <a:off x="4690800" y="3926907"/>
            <a:ext cx="205200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6B7280"/>
                </a:solidFill>
                <a:latin typeface="Calibri"/>
                <a:ea typeface="Calibri"/>
              </a:rPr>
              <a:t>AMD EPYC 9004 · 50+ zones · ROCm batch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2" name="Shape 530"/>
          <p:cNvSpPr/>
          <p:nvPr/>
        </p:nvSpPr>
        <p:spPr>
          <a:xfrm>
            <a:off x="4617720" y="4131747"/>
            <a:ext cx="2180160" cy="401760"/>
          </a:xfrm>
          <a:prstGeom prst="rect">
            <a:avLst/>
          </a:prstGeom>
          <a:solidFill>
            <a:srgbClr val="0D1A0D"/>
          </a:solidFill>
          <a:ln w="10080">
            <a:solidFill>
              <a:srgbClr val="16A3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63" name="Text 679"/>
          <p:cNvSpPr/>
          <p:nvPr/>
        </p:nvSpPr>
        <p:spPr>
          <a:xfrm>
            <a:off x="4709160" y="4186827"/>
            <a:ext cx="2015640" cy="14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86EFAC"/>
                </a:solidFill>
                <a:latin typeface="Calibri"/>
                <a:ea typeface="Calibri"/>
              </a:rPr>
              <a:t>HW  ·  Tier 3 Enterprise: AMD EPYC 9004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4" name="Text 680"/>
          <p:cNvSpPr/>
          <p:nvPr/>
        </p:nvSpPr>
        <p:spPr>
          <a:xfrm>
            <a:off x="4709160" y="4342347"/>
            <a:ext cx="201564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6B7280"/>
                </a:solidFill>
                <a:latin typeface="Calibri"/>
                <a:ea typeface="Calibri"/>
              </a:rPr>
              <a:t>Multi-factory · batch ROCm analytics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5" name="Shape 531"/>
          <p:cNvSpPr/>
          <p:nvPr/>
        </p:nvSpPr>
        <p:spPr>
          <a:xfrm>
            <a:off x="6890040" y="931347"/>
            <a:ext cx="2180160" cy="3602160"/>
          </a:xfrm>
          <a:prstGeom prst="rect">
            <a:avLst/>
          </a:prstGeom>
          <a:solidFill>
            <a:srgbClr val="0A0B10"/>
          </a:solidFill>
          <a:ln w="1008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66" name="Shape 532"/>
          <p:cNvSpPr/>
          <p:nvPr/>
        </p:nvSpPr>
        <p:spPr>
          <a:xfrm>
            <a:off x="6890040" y="931347"/>
            <a:ext cx="2180160" cy="54000"/>
          </a:xfrm>
          <a:prstGeom prst="rect">
            <a:avLst/>
          </a:prstGeom>
          <a:solidFill>
            <a:srgbClr val="374151"/>
          </a:solidFill>
          <a:ln w="1260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67" name="Shape 533"/>
          <p:cNvSpPr/>
          <p:nvPr/>
        </p:nvSpPr>
        <p:spPr>
          <a:xfrm>
            <a:off x="6890040" y="986427"/>
            <a:ext cx="2180160" cy="200520"/>
          </a:xfrm>
          <a:prstGeom prst="rect">
            <a:avLst/>
          </a:prstGeom>
          <a:solidFill>
            <a:srgbClr val="141414"/>
          </a:solidFill>
          <a:ln w="12600">
            <a:solidFill>
              <a:srgbClr val="1414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68" name="Text 681"/>
          <p:cNvSpPr/>
          <p:nvPr/>
        </p:nvSpPr>
        <p:spPr>
          <a:xfrm>
            <a:off x="6981480" y="995427"/>
            <a:ext cx="1997280" cy="16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46">
                <a:solidFill>
                  <a:srgbClr val="6B7280"/>
                </a:solidFill>
                <a:latin typeface="Calibri"/>
                <a:ea typeface="Calibri"/>
              </a:rPr>
              <a:t>Q4 2026+  ·  SCALE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9" name="Shape 534"/>
          <p:cNvSpPr/>
          <p:nvPr/>
        </p:nvSpPr>
        <p:spPr>
          <a:xfrm>
            <a:off x="8503920" y="1004787"/>
            <a:ext cx="493200" cy="163800"/>
          </a:xfrm>
          <a:prstGeom prst="roundRect">
            <a:avLst>
              <a:gd name="adj" fmla="val 22222"/>
            </a:avLst>
          </a:prstGeom>
          <a:solidFill>
            <a:srgbClr val="374151"/>
          </a:solidFill>
          <a:ln w="1260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70" name="Text 682"/>
          <p:cNvSpPr/>
          <p:nvPr/>
        </p:nvSpPr>
        <p:spPr>
          <a:xfrm>
            <a:off x="8503920" y="1004787"/>
            <a:ext cx="493200" cy="16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strike="noStrike" spc="-1">
                <a:solidFill>
                  <a:srgbClr val="FFFFFF"/>
                </a:solidFill>
                <a:latin typeface="Calibri"/>
                <a:ea typeface="Calibri"/>
              </a:rPr>
              <a:t>VISION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1" name="Shape 535"/>
          <p:cNvSpPr/>
          <p:nvPr/>
        </p:nvSpPr>
        <p:spPr>
          <a:xfrm>
            <a:off x="6890040" y="1187667"/>
            <a:ext cx="2180160" cy="493200"/>
          </a:xfrm>
          <a:prstGeom prst="rect">
            <a:avLst/>
          </a:prstGeom>
          <a:solidFill>
            <a:srgbClr val="0C0C0C"/>
          </a:solidFill>
          <a:ln w="12600">
            <a:solidFill>
              <a:srgbClr val="0C0C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72" name="Text 683"/>
          <p:cNvSpPr/>
          <p:nvPr/>
        </p:nvSpPr>
        <p:spPr>
          <a:xfrm>
            <a:off x="6981480" y="1205667"/>
            <a:ext cx="201564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alibri"/>
                <a:ea typeface="Calibri"/>
              </a:rPr>
              <a:t>Multi-Factory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FFFFFF"/>
                </a:solidFill>
                <a:latin typeface="Calibri"/>
                <a:ea typeface="Calibri"/>
              </a:rPr>
              <a:t>Enterprise Platform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3" name="Shape 536"/>
          <p:cNvSpPr/>
          <p:nvPr/>
        </p:nvSpPr>
        <p:spPr>
          <a:xfrm>
            <a:off x="6890040" y="1681227"/>
            <a:ext cx="2180160" cy="200520"/>
          </a:xfrm>
          <a:prstGeom prst="rect">
            <a:avLst/>
          </a:prstGeom>
          <a:solidFill>
            <a:srgbClr val="0F0F16"/>
          </a:solidFill>
          <a:ln w="3960">
            <a:solidFill>
              <a:srgbClr val="1E22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74" name="Text 684"/>
          <p:cNvSpPr/>
          <p:nvPr/>
        </p:nvSpPr>
        <p:spPr>
          <a:xfrm>
            <a:off x="6981480" y="1699587"/>
            <a:ext cx="2015640" cy="16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i="1" strike="noStrike" spc="-1">
                <a:solidFill>
                  <a:srgbClr val="6B7280"/>
                </a:solidFill>
                <a:latin typeface="Calibri"/>
                <a:ea typeface="Calibri"/>
              </a:rPr>
              <a:t>"Which plant needs attention?"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5" name="Shape 537"/>
          <p:cNvSpPr/>
          <p:nvPr/>
        </p:nvSpPr>
        <p:spPr>
          <a:xfrm>
            <a:off x="6890040" y="1882467"/>
            <a:ext cx="2180160" cy="182160"/>
          </a:xfrm>
          <a:prstGeom prst="rect">
            <a:avLst/>
          </a:prstGeom>
          <a:solidFill>
            <a:srgbClr val="0C0C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76" name="Text 685"/>
          <p:cNvSpPr/>
          <p:nvPr/>
        </p:nvSpPr>
        <p:spPr>
          <a:xfrm>
            <a:off x="6981480" y="1900827"/>
            <a:ext cx="2015640" cy="14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strike="noStrike" spc="26">
                <a:solidFill>
                  <a:srgbClr val="6B7280"/>
                </a:solidFill>
                <a:latin typeface="Calibri"/>
                <a:ea typeface="Calibri"/>
              </a:rPr>
              <a:t>MODEL  ·  Fleet-level Anomaly Network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7" name="Shape 538"/>
          <p:cNvSpPr/>
          <p:nvPr/>
        </p:nvSpPr>
        <p:spPr>
          <a:xfrm>
            <a:off x="6981480" y="2083707"/>
            <a:ext cx="1997280" cy="163800"/>
          </a:xfrm>
          <a:prstGeom prst="roundRect">
            <a:avLst>
              <a:gd name="adj" fmla="val 22222"/>
            </a:avLst>
          </a:prstGeom>
          <a:solidFill>
            <a:srgbClr val="111118"/>
          </a:solidFill>
          <a:ln w="756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78" name="Text 686"/>
          <p:cNvSpPr/>
          <p:nvPr/>
        </p:nvSpPr>
        <p:spPr>
          <a:xfrm>
            <a:off x="7036200" y="2092707"/>
            <a:ext cx="1905840" cy="14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1" strike="noStrike" spc="26">
                <a:solidFill>
                  <a:srgbClr val="6B7280"/>
                </a:solidFill>
                <a:latin typeface="Calibri"/>
                <a:ea typeface="Calibri"/>
              </a:rPr>
              <a:t>NPU LOAD  ·  Full NPU fleet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9" name="Shape 539"/>
          <p:cNvSpPr/>
          <p:nvPr/>
        </p:nvSpPr>
        <p:spPr>
          <a:xfrm>
            <a:off x="6890040" y="2284947"/>
            <a:ext cx="2180160" cy="36864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80" name="Shape 540"/>
          <p:cNvSpPr/>
          <p:nvPr/>
        </p:nvSpPr>
        <p:spPr>
          <a:xfrm>
            <a:off x="6890040" y="2284947"/>
            <a:ext cx="26640" cy="368640"/>
          </a:xfrm>
          <a:prstGeom prst="rect">
            <a:avLst/>
          </a:prstGeom>
          <a:solidFill>
            <a:srgbClr val="374151"/>
          </a:solidFill>
          <a:ln w="1260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81" name="Text 687"/>
          <p:cNvSpPr/>
          <p:nvPr/>
        </p:nvSpPr>
        <p:spPr>
          <a:xfrm>
            <a:off x="6963120" y="2321307"/>
            <a:ext cx="205200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strike="noStrike" spc="-1">
                <a:solidFill>
                  <a:srgbClr val="FFFFFF"/>
                </a:solidFill>
                <a:latin typeface="Calibri"/>
                <a:ea typeface="Calibri"/>
              </a:rPr>
              <a:t>🌍 Cross-factory dashboard</a:t>
            </a:r>
            <a:endParaRPr lang="en-US" sz="6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2" name="Text 688"/>
          <p:cNvSpPr/>
          <p:nvPr/>
        </p:nvSpPr>
        <p:spPr>
          <a:xfrm>
            <a:off x="6963120" y="2449467"/>
            <a:ext cx="205200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6B7280"/>
                </a:solidFill>
                <a:latin typeface="Calibri"/>
                <a:ea typeface="Calibri"/>
              </a:rPr>
              <a:t>Plant A vs B vs C · central command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3" name="Shape 541"/>
          <p:cNvSpPr/>
          <p:nvPr/>
        </p:nvSpPr>
        <p:spPr>
          <a:xfrm>
            <a:off x="6890040" y="2654307"/>
            <a:ext cx="2180160" cy="368640"/>
          </a:xfrm>
          <a:prstGeom prst="rect">
            <a:avLst/>
          </a:prstGeom>
          <a:solidFill>
            <a:srgbClr val="0A0B11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84" name="Shape 542"/>
          <p:cNvSpPr/>
          <p:nvPr/>
        </p:nvSpPr>
        <p:spPr>
          <a:xfrm>
            <a:off x="6890040" y="2654307"/>
            <a:ext cx="26640" cy="368640"/>
          </a:xfrm>
          <a:prstGeom prst="rect">
            <a:avLst/>
          </a:prstGeom>
          <a:solidFill>
            <a:srgbClr val="374151"/>
          </a:solidFill>
          <a:ln w="1260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85" name="Text 689"/>
          <p:cNvSpPr/>
          <p:nvPr/>
        </p:nvSpPr>
        <p:spPr>
          <a:xfrm>
            <a:off x="6963120" y="2690667"/>
            <a:ext cx="205200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strike="noStrike" spc="-1">
                <a:solidFill>
                  <a:srgbClr val="FFFFFF"/>
                </a:solidFill>
                <a:latin typeface="Calibri"/>
                <a:ea typeface="Calibri"/>
              </a:rPr>
              <a:t>🤖 AutoML retraining</a:t>
            </a:r>
            <a:endParaRPr lang="en-US" sz="6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6" name="Text 690"/>
          <p:cNvSpPr/>
          <p:nvPr/>
        </p:nvSpPr>
        <p:spPr>
          <a:xfrm>
            <a:off x="6963120" y="2818827"/>
            <a:ext cx="205200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6B7280"/>
                </a:solidFill>
                <a:latin typeface="Calibri"/>
                <a:ea typeface="Calibri"/>
              </a:rPr>
              <a:t>Models self-update from field data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7" name="Shape 543"/>
          <p:cNvSpPr/>
          <p:nvPr/>
        </p:nvSpPr>
        <p:spPr>
          <a:xfrm>
            <a:off x="6890040" y="3023667"/>
            <a:ext cx="2180160" cy="36864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88" name="Shape 544"/>
          <p:cNvSpPr/>
          <p:nvPr/>
        </p:nvSpPr>
        <p:spPr>
          <a:xfrm>
            <a:off x="6890040" y="3023667"/>
            <a:ext cx="26640" cy="368640"/>
          </a:xfrm>
          <a:prstGeom prst="rect">
            <a:avLst/>
          </a:prstGeom>
          <a:solidFill>
            <a:srgbClr val="374151"/>
          </a:solidFill>
          <a:ln w="1260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89" name="Text 691"/>
          <p:cNvSpPr/>
          <p:nvPr/>
        </p:nvSpPr>
        <p:spPr>
          <a:xfrm>
            <a:off x="6963120" y="3060387"/>
            <a:ext cx="205200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strike="noStrike" spc="-1">
                <a:solidFill>
                  <a:srgbClr val="FFFFFF"/>
                </a:solidFill>
                <a:latin typeface="Calibri"/>
                <a:ea typeface="Calibri"/>
              </a:rPr>
              <a:t>🔗 ERP / SCADA integration</a:t>
            </a:r>
            <a:endParaRPr lang="en-US" sz="6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0" name="Text 692"/>
          <p:cNvSpPr/>
          <p:nvPr/>
        </p:nvSpPr>
        <p:spPr>
          <a:xfrm>
            <a:off x="6963120" y="3188187"/>
            <a:ext cx="205200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6B7280"/>
                </a:solidFill>
                <a:latin typeface="Calibri"/>
                <a:ea typeface="Calibri"/>
              </a:rPr>
              <a:t>SAP · Siemens · Honeywell connectors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1" name="Shape 545"/>
          <p:cNvSpPr/>
          <p:nvPr/>
        </p:nvSpPr>
        <p:spPr>
          <a:xfrm>
            <a:off x="6890040" y="3393027"/>
            <a:ext cx="2180160" cy="368640"/>
          </a:xfrm>
          <a:prstGeom prst="rect">
            <a:avLst/>
          </a:prstGeom>
          <a:solidFill>
            <a:srgbClr val="0A0B11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92" name="Shape 546"/>
          <p:cNvSpPr/>
          <p:nvPr/>
        </p:nvSpPr>
        <p:spPr>
          <a:xfrm>
            <a:off x="6890040" y="3393027"/>
            <a:ext cx="26640" cy="368640"/>
          </a:xfrm>
          <a:prstGeom prst="rect">
            <a:avLst/>
          </a:prstGeom>
          <a:solidFill>
            <a:srgbClr val="374151"/>
          </a:solidFill>
          <a:ln w="1260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93" name="Text 693"/>
          <p:cNvSpPr/>
          <p:nvPr/>
        </p:nvSpPr>
        <p:spPr>
          <a:xfrm>
            <a:off x="6963120" y="3429747"/>
            <a:ext cx="205200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strike="noStrike" spc="-1">
                <a:solidFill>
                  <a:srgbClr val="FFFFFF"/>
                </a:solidFill>
                <a:latin typeface="Calibri"/>
                <a:ea typeface="Calibri"/>
              </a:rPr>
              <a:t>☁ Optional cloud hybrid</a:t>
            </a:r>
            <a:endParaRPr lang="en-US" sz="6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4" name="Text 694"/>
          <p:cNvSpPr/>
          <p:nvPr/>
        </p:nvSpPr>
        <p:spPr>
          <a:xfrm>
            <a:off x="6963120" y="3557547"/>
            <a:ext cx="205200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6B7280"/>
                </a:solidFill>
                <a:latin typeface="Calibri"/>
                <a:ea typeface="Calibri"/>
              </a:rPr>
              <a:t>Air-gapped by default · opt-in sync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5" name="Shape 547"/>
          <p:cNvSpPr/>
          <p:nvPr/>
        </p:nvSpPr>
        <p:spPr>
          <a:xfrm>
            <a:off x="6890040" y="3762387"/>
            <a:ext cx="2180160" cy="368640"/>
          </a:xfrm>
          <a:prstGeom prst="rect">
            <a:avLst/>
          </a:prstGeom>
          <a:solidFill>
            <a:srgbClr val="0C0D14"/>
          </a:solidFill>
          <a:ln w="3960">
            <a:solidFill>
              <a:srgbClr val="1A1B2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96" name="Shape 548"/>
          <p:cNvSpPr/>
          <p:nvPr/>
        </p:nvSpPr>
        <p:spPr>
          <a:xfrm>
            <a:off x="6890040" y="3762387"/>
            <a:ext cx="26640" cy="368640"/>
          </a:xfrm>
          <a:prstGeom prst="rect">
            <a:avLst/>
          </a:prstGeom>
          <a:solidFill>
            <a:srgbClr val="374151"/>
          </a:solidFill>
          <a:ln w="1260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397" name="Text 695"/>
          <p:cNvSpPr/>
          <p:nvPr/>
        </p:nvSpPr>
        <p:spPr>
          <a:xfrm>
            <a:off x="6963120" y="3799107"/>
            <a:ext cx="205200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1" strike="noStrike" spc="-1">
                <a:solidFill>
                  <a:srgbClr val="FFFFFF"/>
                </a:solidFill>
                <a:latin typeface="Calibri"/>
                <a:ea typeface="Calibri"/>
              </a:rPr>
              <a:t>📊 Industry 4.0 compliance</a:t>
            </a:r>
            <a:endParaRPr lang="en-US" sz="68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8" name="Text 696"/>
          <p:cNvSpPr/>
          <p:nvPr/>
        </p:nvSpPr>
        <p:spPr>
          <a:xfrm>
            <a:off x="6963120" y="3926907"/>
            <a:ext cx="2052000" cy="1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6B7280"/>
                </a:solidFill>
                <a:latin typeface="Calibri"/>
                <a:ea typeface="Calibri"/>
              </a:rPr>
              <a:t>ISO 13373 · IEC 61511 · OPC-UA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9" name="Shape 549"/>
          <p:cNvSpPr/>
          <p:nvPr/>
        </p:nvSpPr>
        <p:spPr>
          <a:xfrm>
            <a:off x="6890040" y="4131747"/>
            <a:ext cx="2180160" cy="401760"/>
          </a:xfrm>
          <a:prstGeom prst="rect">
            <a:avLst/>
          </a:prstGeom>
          <a:solidFill>
            <a:srgbClr val="7A1E0A"/>
          </a:solidFill>
          <a:ln w="1008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00" name="Text 697"/>
          <p:cNvSpPr/>
          <p:nvPr/>
        </p:nvSpPr>
        <p:spPr>
          <a:xfrm>
            <a:off x="6981480" y="4186827"/>
            <a:ext cx="2015640" cy="14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strike="noStrike" spc="-1">
                <a:solidFill>
                  <a:srgbClr val="ED4E33"/>
                </a:solidFill>
                <a:latin typeface="Calibri"/>
                <a:ea typeface="Calibri"/>
              </a:rPr>
              <a:t>HW  ·  AMD EPYC + Ryzen AI Fleet</a:t>
            </a:r>
            <a:endParaRPr lang="en-US" sz="6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1" name="Text 698"/>
          <p:cNvSpPr/>
          <p:nvPr/>
        </p:nvSpPr>
        <p:spPr>
          <a:xfrm>
            <a:off x="6981480" y="4342347"/>
            <a:ext cx="2015640" cy="1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" b="0" strike="noStrike" spc="-1">
                <a:solidFill>
                  <a:srgbClr val="6B7280"/>
                </a:solidFill>
                <a:latin typeface="Calibri"/>
                <a:ea typeface="Calibri"/>
              </a:rPr>
              <a:t>Full AMD silicon stack at scale</a:t>
            </a:r>
            <a:endParaRPr lang="en-US" sz="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2" name="Shape 550"/>
          <p:cNvSpPr/>
          <p:nvPr/>
        </p:nvSpPr>
        <p:spPr>
          <a:xfrm>
            <a:off x="2262960" y="1443267"/>
            <a:ext cx="82440" cy="360"/>
          </a:xfrm>
          <a:prstGeom prst="line">
            <a:avLst/>
          </a:prstGeom>
          <a:ln w="12600">
            <a:solidFill>
              <a:srgbClr val="6B72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03" name="Shape 551"/>
          <p:cNvSpPr/>
          <p:nvPr/>
        </p:nvSpPr>
        <p:spPr>
          <a:xfrm>
            <a:off x="2290680" y="1406907"/>
            <a:ext cx="54000" cy="72360"/>
          </a:xfrm>
          <a:prstGeom prst="rect">
            <a:avLst/>
          </a:prstGeom>
          <a:solidFill>
            <a:srgbClr val="6B7280"/>
          </a:solidFill>
          <a:ln w="12600">
            <a:solidFill>
              <a:srgbClr val="6B72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04" name="Shape 552"/>
          <p:cNvSpPr/>
          <p:nvPr/>
        </p:nvSpPr>
        <p:spPr>
          <a:xfrm>
            <a:off x="4535280" y="1443267"/>
            <a:ext cx="82440" cy="360"/>
          </a:xfrm>
          <a:prstGeom prst="line">
            <a:avLst/>
          </a:prstGeom>
          <a:ln w="12600">
            <a:solidFill>
              <a:srgbClr val="6B72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05" name="Shape 553"/>
          <p:cNvSpPr/>
          <p:nvPr/>
        </p:nvSpPr>
        <p:spPr>
          <a:xfrm>
            <a:off x="4563000" y="1406907"/>
            <a:ext cx="54000" cy="72360"/>
          </a:xfrm>
          <a:prstGeom prst="rect">
            <a:avLst/>
          </a:prstGeom>
          <a:solidFill>
            <a:srgbClr val="6B7280"/>
          </a:solidFill>
          <a:ln w="12600">
            <a:solidFill>
              <a:srgbClr val="6B72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06" name="Shape 555"/>
          <p:cNvSpPr/>
          <p:nvPr/>
        </p:nvSpPr>
        <p:spPr>
          <a:xfrm>
            <a:off x="6807600" y="1443267"/>
            <a:ext cx="82080" cy="360"/>
          </a:xfrm>
          <a:prstGeom prst="line">
            <a:avLst/>
          </a:prstGeom>
          <a:ln w="12600">
            <a:solidFill>
              <a:srgbClr val="6B72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07" name="Shape 556"/>
          <p:cNvSpPr/>
          <p:nvPr/>
        </p:nvSpPr>
        <p:spPr>
          <a:xfrm>
            <a:off x="6835320" y="1406907"/>
            <a:ext cx="54000" cy="72360"/>
          </a:xfrm>
          <a:prstGeom prst="rect">
            <a:avLst/>
          </a:prstGeom>
          <a:solidFill>
            <a:srgbClr val="6B7280"/>
          </a:solidFill>
          <a:ln w="12600">
            <a:solidFill>
              <a:srgbClr val="6B72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08" name="Shape 557"/>
          <p:cNvSpPr/>
          <p:nvPr/>
        </p:nvSpPr>
        <p:spPr>
          <a:xfrm>
            <a:off x="0" y="4588947"/>
            <a:ext cx="9143280" cy="474840"/>
          </a:xfrm>
          <a:prstGeom prst="rect">
            <a:avLst/>
          </a:prstGeom>
          <a:solidFill>
            <a:srgbClr val="0A0A0A"/>
          </a:solidFill>
          <a:ln w="12600">
            <a:solidFill>
              <a:srgbClr val="0A0A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09" name="Shape 558"/>
          <p:cNvSpPr/>
          <p:nvPr/>
        </p:nvSpPr>
        <p:spPr>
          <a:xfrm>
            <a:off x="0" y="4588947"/>
            <a:ext cx="9144000" cy="360"/>
          </a:xfrm>
          <a:prstGeom prst="line">
            <a:avLst/>
          </a:prstGeom>
          <a:ln w="1512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10" name="Text 699"/>
          <p:cNvSpPr/>
          <p:nvPr/>
        </p:nvSpPr>
        <p:spPr>
          <a:xfrm>
            <a:off x="0" y="4625667"/>
            <a:ext cx="152316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Q1 2026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1" name="Text 700"/>
          <p:cNvSpPr/>
          <p:nvPr/>
        </p:nvSpPr>
        <p:spPr>
          <a:xfrm>
            <a:off x="0" y="4863267"/>
            <a:ext cx="1523160" cy="13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46">
                <a:solidFill>
                  <a:srgbClr val="6B7280"/>
                </a:solidFill>
                <a:latin typeface="Calibri"/>
                <a:ea typeface="Calibri"/>
              </a:rPr>
              <a:t>SME LAUNCH · LIVE NOW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2" name="Shape 559"/>
          <p:cNvSpPr/>
          <p:nvPr/>
        </p:nvSpPr>
        <p:spPr>
          <a:xfrm>
            <a:off x="1523880" y="4634667"/>
            <a:ext cx="360" cy="365760"/>
          </a:xfrm>
          <a:prstGeom prst="line">
            <a:avLst/>
          </a:prstGeom>
          <a:ln w="504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13" name="Text 701"/>
          <p:cNvSpPr/>
          <p:nvPr/>
        </p:nvSpPr>
        <p:spPr>
          <a:xfrm>
            <a:off x="1523880" y="4625667"/>
            <a:ext cx="152316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50/zone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4" name="Text 702"/>
          <p:cNvSpPr/>
          <p:nvPr/>
        </p:nvSpPr>
        <p:spPr>
          <a:xfrm>
            <a:off x="1523880" y="4863267"/>
            <a:ext cx="1523160" cy="13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46">
                <a:solidFill>
                  <a:srgbClr val="6B7280"/>
                </a:solidFill>
                <a:latin typeface="Calibri"/>
                <a:ea typeface="Calibri"/>
              </a:rPr>
              <a:t>SENSORS BATCHED (NOW)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5" name="Shape 560"/>
          <p:cNvSpPr/>
          <p:nvPr/>
        </p:nvSpPr>
        <p:spPr>
          <a:xfrm>
            <a:off x="3047760" y="4634667"/>
            <a:ext cx="360" cy="365760"/>
          </a:xfrm>
          <a:prstGeom prst="line">
            <a:avLst/>
          </a:prstGeom>
          <a:ln w="504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16" name="Text 703"/>
          <p:cNvSpPr/>
          <p:nvPr/>
        </p:nvSpPr>
        <p:spPr>
          <a:xfrm>
            <a:off x="3048120" y="4625667"/>
            <a:ext cx="152316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~80%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7" name="Text 704"/>
          <p:cNvSpPr/>
          <p:nvPr/>
        </p:nvSpPr>
        <p:spPr>
          <a:xfrm>
            <a:off x="3048120" y="4863267"/>
            <a:ext cx="1523160" cy="13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46">
                <a:solidFill>
                  <a:srgbClr val="6B7280"/>
                </a:solidFill>
                <a:latin typeface="Calibri"/>
                <a:ea typeface="Calibri"/>
              </a:rPr>
              <a:t>NPU LOAD AT ROADMAP END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8" name="Shape 561"/>
          <p:cNvSpPr/>
          <p:nvPr/>
        </p:nvSpPr>
        <p:spPr>
          <a:xfrm>
            <a:off x="4572000" y="4634667"/>
            <a:ext cx="360" cy="365760"/>
          </a:xfrm>
          <a:prstGeom prst="line">
            <a:avLst/>
          </a:prstGeom>
          <a:ln w="504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19" name="Text 705"/>
          <p:cNvSpPr/>
          <p:nvPr/>
        </p:nvSpPr>
        <p:spPr>
          <a:xfrm>
            <a:off x="4572000" y="4625667"/>
            <a:ext cx="152316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3 Models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0" name="Text 706"/>
          <p:cNvSpPr/>
          <p:nvPr/>
        </p:nvSpPr>
        <p:spPr>
          <a:xfrm>
            <a:off x="4572000" y="4863267"/>
            <a:ext cx="1523160" cy="13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46">
                <a:solidFill>
                  <a:srgbClr val="6B7280"/>
                </a:solidFill>
                <a:latin typeface="Calibri"/>
                <a:ea typeface="Calibri"/>
              </a:rPr>
              <a:t>FAULT DETECTION STACK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1" name="Shape 562"/>
          <p:cNvSpPr/>
          <p:nvPr/>
        </p:nvSpPr>
        <p:spPr>
          <a:xfrm>
            <a:off x="6095880" y="4634667"/>
            <a:ext cx="360" cy="365760"/>
          </a:xfrm>
          <a:prstGeom prst="line">
            <a:avLst/>
          </a:prstGeom>
          <a:ln w="504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22" name="Text 707"/>
          <p:cNvSpPr/>
          <p:nvPr/>
        </p:nvSpPr>
        <p:spPr>
          <a:xfrm>
            <a:off x="6095880" y="4625667"/>
            <a:ext cx="152316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₹999/mo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3" name="Text 708"/>
          <p:cNvSpPr/>
          <p:nvPr/>
        </p:nvSpPr>
        <p:spPr>
          <a:xfrm>
            <a:off x="6095880" y="4863267"/>
            <a:ext cx="1523160" cy="13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46">
                <a:solidFill>
                  <a:srgbClr val="6B7280"/>
                </a:solidFill>
                <a:latin typeface="Calibri"/>
                <a:ea typeface="Calibri"/>
              </a:rPr>
              <a:t>PREMIUM SAAS TIER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4" name="Shape 563"/>
          <p:cNvSpPr/>
          <p:nvPr/>
        </p:nvSpPr>
        <p:spPr>
          <a:xfrm>
            <a:off x="7619760" y="4634667"/>
            <a:ext cx="360" cy="365760"/>
          </a:xfrm>
          <a:prstGeom prst="line">
            <a:avLst/>
          </a:prstGeom>
          <a:ln w="5040">
            <a:solidFill>
              <a:srgbClr val="37415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425" name="Text 709"/>
          <p:cNvSpPr/>
          <p:nvPr/>
        </p:nvSpPr>
        <p:spPr>
          <a:xfrm>
            <a:off x="7620120" y="4625667"/>
            <a:ext cx="152316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ED4E33"/>
                </a:solidFill>
                <a:latin typeface="Calibri"/>
                <a:ea typeface="Calibri"/>
              </a:rPr>
              <a:t>EPYC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6" name="Text 710"/>
          <p:cNvSpPr/>
          <p:nvPr/>
        </p:nvSpPr>
        <p:spPr>
          <a:xfrm>
            <a:off x="7620120" y="4863267"/>
            <a:ext cx="1523160" cy="13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strike="noStrike" spc="46">
                <a:solidFill>
                  <a:srgbClr val="6B7280"/>
                </a:solidFill>
                <a:latin typeface="Calibri"/>
                <a:ea typeface="Calibri"/>
              </a:rPr>
              <a:t>ENTERPRISE UPGRADE PATH</a:t>
            </a:r>
            <a:endParaRPr lang="en-US" sz="5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7" name="Shape 564"/>
          <p:cNvSpPr/>
          <p:nvPr/>
        </p:nvSpPr>
        <p:spPr>
          <a:xfrm>
            <a:off x="0" y="5119425"/>
            <a:ext cx="9143280" cy="45000"/>
          </a:xfrm>
          <a:prstGeom prst="rect">
            <a:avLst/>
          </a:prstGeom>
          <a:solidFill>
            <a:srgbClr val="ED4E33"/>
          </a:solidFill>
          <a:ln w="12600">
            <a:solidFill>
              <a:srgbClr val="ED4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2" name="Google Shape;82;p 2">
            <a:extLst>
              <a:ext uri="{FF2B5EF4-FFF2-40B4-BE49-F238E27FC236}">
                <a16:creationId xmlns:a16="http://schemas.microsoft.com/office/drawing/2014/main" id="{D2E22F96-E5C6-7290-B78F-BE37AF237A0C}"/>
              </a:ext>
            </a:extLst>
          </p:cNvPr>
          <p:cNvPicPr/>
          <p:nvPr/>
        </p:nvPicPr>
        <p:blipFill>
          <a:blip r:embed="rId3"/>
          <a:srcRect b="89083"/>
          <a:stretch/>
        </p:blipFill>
        <p:spPr>
          <a:xfrm>
            <a:off x="0" y="0"/>
            <a:ext cx="9142200" cy="559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8680" cy="205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9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18680" cy="79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30" name="Google Shape;167;p27"/>
          <p:cNvPicPr/>
          <p:nvPr/>
        </p:nvPicPr>
        <p:blipFill>
          <a:blip r:embed="rId2"/>
          <a:stretch/>
        </p:blipFill>
        <p:spPr>
          <a:xfrm>
            <a:off x="0" y="0"/>
            <a:ext cx="9142200" cy="51418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</TotalTime>
  <Words>3658</Words>
  <Application>Microsoft Office PowerPoint</Application>
  <PresentationFormat>On-screen Show (16:9)</PresentationFormat>
  <Paragraphs>852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15</vt:i4>
      </vt:variant>
    </vt:vector>
  </HeadingPairs>
  <TitlesOfParts>
    <vt:vector size="29" baseType="lpstr">
      <vt:lpstr>Arial</vt:lpstr>
      <vt:lpstr>Calibri</vt:lpstr>
      <vt:lpstr>Courier New</vt:lpstr>
      <vt:lpstr>Georgia</vt:lpstr>
      <vt:lpstr>Poppins</vt:lpstr>
      <vt:lpstr>Symbol</vt:lpstr>
      <vt:lpstr>Times New Roman</vt:lpstr>
      <vt:lpstr>Wingdings</vt:lpstr>
      <vt:lpstr>Simple Light</vt:lpstr>
      <vt:lpstr>Simple Light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Wireframes/Mock diagrams of the proposed solution.</vt:lpstr>
      <vt:lpstr>PowerPoint Presentation</vt:lpstr>
      <vt:lpstr>PowerPoint Presentation</vt:lpstr>
      <vt:lpstr>PowerPoint Presentation</vt:lpstr>
      <vt:lpstr>PowerPoint Presentation</vt:lpstr>
      <vt:lpstr>Prototype Assets (Optional)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tanmay bhole</dc:creator>
  <dc:description/>
  <cp:lastModifiedBy>tanmay bhole</cp:lastModifiedBy>
  <cp:revision>22</cp:revision>
  <dcterms:modified xsi:type="dcterms:W3CDTF">2026-03-01T16:23:22Z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8</vt:r8>
  </property>
  <property fmtid="{D5CDD505-2E9C-101B-9397-08002B2CF9AE}" pid="3" name="PresentationFormat">
    <vt:lpwstr>On-screen Show (16:9)</vt:lpwstr>
  </property>
  <property fmtid="{D5CDD505-2E9C-101B-9397-08002B2CF9AE}" pid="4" name="Slides">
    <vt:r8>17</vt:r8>
  </property>
</Properties>
</file>